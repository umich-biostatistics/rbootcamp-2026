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52" r:id="rId2"/>
    <p:sldMasterId id="2147483654" r:id="rId3"/>
    <p:sldMasterId id="2147483656" r:id="rId4"/>
    <p:sldMasterId id="2147483662" r:id="rId5"/>
    <p:sldMasterId id="2147483664" r:id="rId6"/>
    <p:sldMasterId id="2147483666" r:id="rId7"/>
    <p:sldMasterId id="2147483668" r:id="rId8"/>
    <p:sldMasterId id="2147483658" r:id="rId9"/>
    <p:sldMasterId id="2147483660" r:id="rId10"/>
  </p:sldMasterIdLst>
  <p:notesMasterIdLst>
    <p:notesMasterId r:id="rId83"/>
  </p:notesMasterIdLst>
  <p:sldIdLst>
    <p:sldId id="260" r:id="rId11"/>
    <p:sldId id="267" r:id="rId12"/>
    <p:sldId id="268" r:id="rId13"/>
    <p:sldId id="329" r:id="rId14"/>
    <p:sldId id="330" r:id="rId15"/>
    <p:sldId id="342" r:id="rId16"/>
    <p:sldId id="346" r:id="rId17"/>
    <p:sldId id="273" r:id="rId18"/>
    <p:sldId id="274" r:id="rId19"/>
    <p:sldId id="331" r:id="rId20"/>
    <p:sldId id="275" r:id="rId21"/>
    <p:sldId id="276" r:id="rId22"/>
    <p:sldId id="277" r:id="rId23"/>
    <p:sldId id="278" r:id="rId24"/>
    <p:sldId id="345" r:id="rId25"/>
    <p:sldId id="279" r:id="rId26"/>
    <p:sldId id="282" r:id="rId27"/>
    <p:sldId id="343" r:id="rId28"/>
    <p:sldId id="283" r:id="rId29"/>
    <p:sldId id="337" r:id="rId30"/>
    <p:sldId id="284" r:id="rId31"/>
    <p:sldId id="285" r:id="rId32"/>
    <p:sldId id="286" r:id="rId33"/>
    <p:sldId id="288" r:id="rId34"/>
    <p:sldId id="338" r:id="rId35"/>
    <p:sldId id="289" r:id="rId36"/>
    <p:sldId id="290" r:id="rId37"/>
    <p:sldId id="291" r:id="rId38"/>
    <p:sldId id="292" r:id="rId39"/>
    <p:sldId id="293" r:id="rId40"/>
    <p:sldId id="294" r:id="rId41"/>
    <p:sldId id="339" r:id="rId42"/>
    <p:sldId id="295" r:id="rId43"/>
    <p:sldId id="340" r:id="rId44"/>
    <p:sldId id="296" r:id="rId45"/>
    <p:sldId id="297" r:id="rId46"/>
    <p:sldId id="341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1" r:id="rId60"/>
    <p:sldId id="310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3" r:id="rId72"/>
    <p:sldId id="324" r:id="rId73"/>
    <p:sldId id="325" r:id="rId74"/>
    <p:sldId id="326" r:id="rId75"/>
    <p:sldId id="327" r:id="rId76"/>
    <p:sldId id="328" r:id="rId77"/>
    <p:sldId id="332" r:id="rId78"/>
    <p:sldId id="333" r:id="rId79"/>
    <p:sldId id="334" r:id="rId80"/>
    <p:sldId id="335" r:id="rId81"/>
    <p:sldId id="336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776"/>
    <a:srgbClr val="DEC80F"/>
    <a:srgbClr val="05CBF5"/>
    <a:srgbClr val="BBEFEE"/>
    <a:srgbClr val="0027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207"/>
    <p:restoredTop sz="95680"/>
  </p:normalViewPr>
  <p:slideViewPr>
    <p:cSldViewPr snapToGrid="0" snapToObjects="1">
      <p:cViewPr varScale="1">
        <p:scale>
          <a:sx n="80" d="100"/>
          <a:sy n="80" d="100"/>
        </p:scale>
        <p:origin x="200" y="6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3" d="100"/>
          <a:sy n="93" d="100"/>
        </p:scale>
        <p:origin x="3624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63" Type="http://schemas.openxmlformats.org/officeDocument/2006/relationships/slide" Target="slides/slide53.xml"/><Relationship Id="rId68" Type="http://schemas.openxmlformats.org/officeDocument/2006/relationships/slide" Target="slides/slide58.xml"/><Relationship Id="rId84" Type="http://schemas.openxmlformats.org/officeDocument/2006/relationships/presProps" Target="presProps.xml"/><Relationship Id="rId16" Type="http://schemas.openxmlformats.org/officeDocument/2006/relationships/slide" Target="slides/slide6.xml"/><Relationship Id="rId11" Type="http://schemas.openxmlformats.org/officeDocument/2006/relationships/slide" Target="slides/slide1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74" Type="http://schemas.openxmlformats.org/officeDocument/2006/relationships/slide" Target="slides/slide64.xml"/><Relationship Id="rId79" Type="http://schemas.openxmlformats.org/officeDocument/2006/relationships/slide" Target="slides/slide69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openxmlformats.org/officeDocument/2006/relationships/slide" Target="slides/slide46.xml"/><Relationship Id="rId64" Type="http://schemas.openxmlformats.org/officeDocument/2006/relationships/slide" Target="slides/slide54.xml"/><Relationship Id="rId69" Type="http://schemas.openxmlformats.org/officeDocument/2006/relationships/slide" Target="slides/slide59.xml"/><Relationship Id="rId77" Type="http://schemas.openxmlformats.org/officeDocument/2006/relationships/slide" Target="slides/slide67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1.xml"/><Relationship Id="rId72" Type="http://schemas.openxmlformats.org/officeDocument/2006/relationships/slide" Target="slides/slide62.xml"/><Relationship Id="rId80" Type="http://schemas.openxmlformats.org/officeDocument/2006/relationships/slide" Target="slides/slide70.xml"/><Relationship Id="rId85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59" Type="http://schemas.openxmlformats.org/officeDocument/2006/relationships/slide" Target="slides/slide49.xml"/><Relationship Id="rId67" Type="http://schemas.openxmlformats.org/officeDocument/2006/relationships/slide" Target="slides/slide57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slide" Target="slides/slide44.xml"/><Relationship Id="rId62" Type="http://schemas.openxmlformats.org/officeDocument/2006/relationships/slide" Target="slides/slide52.xml"/><Relationship Id="rId70" Type="http://schemas.openxmlformats.org/officeDocument/2006/relationships/slide" Target="slides/slide60.xml"/><Relationship Id="rId75" Type="http://schemas.openxmlformats.org/officeDocument/2006/relationships/slide" Target="slides/slide65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slide" Target="slides/slide47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slide" Target="slides/slide50.xml"/><Relationship Id="rId65" Type="http://schemas.openxmlformats.org/officeDocument/2006/relationships/slide" Target="slides/slide55.xml"/><Relationship Id="rId73" Type="http://schemas.openxmlformats.org/officeDocument/2006/relationships/slide" Target="slides/slide63.xml"/><Relationship Id="rId78" Type="http://schemas.openxmlformats.org/officeDocument/2006/relationships/slide" Target="slides/slide68.xml"/><Relationship Id="rId81" Type="http://schemas.openxmlformats.org/officeDocument/2006/relationships/slide" Target="slides/slide71.xml"/><Relationship Id="rId86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9" Type="http://schemas.openxmlformats.org/officeDocument/2006/relationships/slide" Target="slides/slide29.xml"/><Relationship Id="rId34" Type="http://schemas.openxmlformats.org/officeDocument/2006/relationships/slide" Target="slides/slide24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6" Type="http://schemas.openxmlformats.org/officeDocument/2006/relationships/slide" Target="slides/slide66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24" Type="http://schemas.openxmlformats.org/officeDocument/2006/relationships/slide" Target="slides/slide14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66" Type="http://schemas.openxmlformats.org/officeDocument/2006/relationships/slide" Target="slides/slide56.xml"/><Relationship Id="rId87" Type="http://schemas.openxmlformats.org/officeDocument/2006/relationships/tableStyles" Target="tableStyles.xml"/><Relationship Id="rId61" Type="http://schemas.openxmlformats.org/officeDocument/2006/relationships/slide" Target="slides/slide51.xml"/><Relationship Id="rId82" Type="http://schemas.openxmlformats.org/officeDocument/2006/relationships/slide" Target="slides/slide7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A161-7CB4-2742-87C2-0F3FCF2918B0}" type="datetimeFigureOut">
              <a:rPr lang="en-US" smtClean="0"/>
              <a:t>6/10/25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42D4E-72CC-1C4F-8054-828B7F2DF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48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104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219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09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377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07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57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2F59A-1CBF-9CC6-C41D-C9B5E3984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29F0FB-E1A0-69FA-8066-E6B9093A2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B2620E-A244-C5EB-5C5D-D6542EF97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6E6C0-E0AF-AECE-4FB8-684675534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72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816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483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8096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4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81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239D1-55F5-B545-B3C1-D2779C975C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3005958"/>
            <a:ext cx="12192000" cy="1407894"/>
          </a:xfrm>
          <a:prstGeom prst="rect">
            <a:avLst/>
          </a:prstGeom>
        </p:spPr>
        <p:txBody>
          <a:bodyPr anchor="b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Slide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83E85C-23C4-9D49-A616-F1EFF90A3B2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4989403"/>
            <a:ext cx="12192000" cy="9909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SUBTITLE/TAGLINE</a:t>
            </a:r>
          </a:p>
        </p:txBody>
      </p:sp>
    </p:spTree>
    <p:extLst>
      <p:ext uri="{BB962C8B-B14F-4D97-AF65-F5344CB8AC3E}">
        <p14:creationId xmlns:p14="http://schemas.microsoft.com/office/powerpoint/2010/main" val="2255427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8AC0B3B-0651-0941-A1FA-9888F8C21B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3005958"/>
            <a:ext cx="12192000" cy="1407894"/>
          </a:xfrm>
          <a:prstGeom prst="rect">
            <a:avLst/>
          </a:prstGeom>
        </p:spPr>
        <p:txBody>
          <a:bodyPr anchor="b"/>
          <a:lstStyle>
            <a:lvl1pPr algn="ctr">
              <a:defRPr sz="48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Title Slide 3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9C69A87-9049-B547-A73E-B8B4DF77F5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4989403"/>
            <a:ext cx="12192000" cy="9909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SUBTITLE/TAGLINE</a:t>
            </a:r>
          </a:p>
        </p:txBody>
      </p:sp>
    </p:spTree>
    <p:extLst>
      <p:ext uri="{BB962C8B-B14F-4D97-AF65-F5344CB8AC3E}">
        <p14:creationId xmlns:p14="http://schemas.microsoft.com/office/powerpoint/2010/main" val="2559752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7920D87-571D-CC4B-B389-D3610F6FE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665522"/>
            <a:ext cx="12191999" cy="1736944"/>
          </a:xfrm>
          <a:prstGeom prst="rect">
            <a:avLst/>
          </a:prstGeom>
        </p:spPr>
        <p:txBody>
          <a:bodyPr anchor="b"/>
          <a:lstStyle>
            <a:lvl1pPr algn="ctr">
              <a:defRPr sz="4800" b="1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Title Slide 4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A97885D-6546-714E-B343-8B08B239D2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4989403"/>
            <a:ext cx="12192000" cy="9909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SUBTITLE/TAGLINE</a:t>
            </a:r>
          </a:p>
        </p:txBody>
      </p:sp>
    </p:spTree>
    <p:extLst>
      <p:ext uri="{BB962C8B-B14F-4D97-AF65-F5344CB8AC3E}">
        <p14:creationId xmlns:p14="http://schemas.microsoft.com/office/powerpoint/2010/main" val="2516807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6B6FD4-9028-7F40-BB72-29574A6E69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3005958"/>
            <a:ext cx="12192000" cy="1407894"/>
          </a:xfrm>
          <a:prstGeom prst="rect">
            <a:avLst/>
          </a:prstGeom>
        </p:spPr>
        <p:txBody>
          <a:bodyPr anchor="b"/>
          <a:lstStyle>
            <a:lvl1pPr algn="ctr">
              <a:defRPr sz="48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Title Slide 5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68E8998-340B-5044-BF2F-35289E5DDA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4989403"/>
            <a:ext cx="12192000" cy="9909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rgbClr val="00274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SUBTITLE/TAGLINE</a:t>
            </a:r>
          </a:p>
        </p:txBody>
      </p:sp>
    </p:spTree>
    <p:extLst>
      <p:ext uri="{BB962C8B-B14F-4D97-AF65-F5344CB8AC3E}">
        <p14:creationId xmlns:p14="http://schemas.microsoft.com/office/powerpoint/2010/main" val="490143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9032E25-2363-5343-A306-954E3827CE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55108"/>
            <a:ext cx="9144000" cy="864092"/>
          </a:xfrm>
          <a:prstGeom prst="rect">
            <a:avLst/>
          </a:prstGeom>
        </p:spPr>
        <p:txBody>
          <a:bodyPr anchor="b"/>
          <a:lstStyle>
            <a:lvl1pPr algn="l">
              <a:defRPr sz="4800" b="1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573A1B3-25CF-C244-9A9F-F0AD140606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542009"/>
            <a:ext cx="9144000" cy="459603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4135158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1FECBE-7F2E-A244-8F06-AF3BB9BB36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55108"/>
            <a:ext cx="9144000" cy="864092"/>
          </a:xfrm>
          <a:prstGeom prst="rect">
            <a:avLst/>
          </a:prstGeom>
        </p:spPr>
        <p:txBody>
          <a:bodyPr anchor="b"/>
          <a:lstStyle>
            <a:lvl1pPr algn="l">
              <a:defRPr sz="4800" b="1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4E4369A-837A-B34E-AB83-109EFB99D8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542009"/>
            <a:ext cx="9144000" cy="459603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C186C50-8FFD-7347-8887-535491AC5A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3166" y="6474372"/>
            <a:ext cx="974834" cy="24710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1E98028-C120-C94E-94C2-6A0D2C6AE1BF}" type="datetimeFigureOut">
              <a:rPr lang="en-US" smtClean="0"/>
              <a:pPr/>
              <a:t>6/10/25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E9C16E7-4A5A-4B4E-BA20-0C4254836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474372"/>
            <a:ext cx="7819697" cy="24710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77279D-D2B1-9448-9829-8902CDD5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474372"/>
            <a:ext cx="1135117" cy="24710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72E91CA-9B22-2844-8E94-2A762C5288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698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D98944-5FB2-7641-BA8C-3BC8B879FB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55108"/>
            <a:ext cx="9144000" cy="864092"/>
          </a:xfrm>
          <a:prstGeom prst="rect">
            <a:avLst/>
          </a:prstGeom>
        </p:spPr>
        <p:txBody>
          <a:bodyPr anchor="b"/>
          <a:lstStyle>
            <a:lvl1pPr algn="l">
              <a:defRPr sz="4800" b="1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A2AF28D-B86D-764D-8A6F-60792F83E6E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542009"/>
            <a:ext cx="9144000" cy="459603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23C805C-5779-B140-967F-711AD0F23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3166" y="6474372"/>
            <a:ext cx="974834" cy="24710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1E98028-C120-C94E-94C2-6A0D2C6AE1BF}" type="datetimeFigureOut">
              <a:rPr lang="en-US" smtClean="0"/>
              <a:pPr/>
              <a:t>6/10/25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62160A3-3C78-164A-80CF-088B67773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474372"/>
            <a:ext cx="7819697" cy="24710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F522088-8007-C54F-BAFD-E38F1BC5C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474372"/>
            <a:ext cx="1135117" cy="24710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72E91CA-9B22-2844-8E94-2A762C5288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662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0B368A2-AC66-FE4A-8EC8-E3E30573A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75522"/>
            <a:ext cx="9144000" cy="864092"/>
          </a:xfrm>
          <a:prstGeom prst="rect">
            <a:avLst/>
          </a:prstGeom>
        </p:spPr>
        <p:txBody>
          <a:bodyPr anchor="b"/>
          <a:lstStyle>
            <a:lvl1pPr algn="l">
              <a:defRPr sz="4800" b="1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A72228A-5E29-C145-80EF-434C7B772C9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870841"/>
            <a:ext cx="9144000" cy="426719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9E35023-709E-1C4A-8278-01DEE80549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14841" y="6474372"/>
            <a:ext cx="974834" cy="24710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00274C"/>
                </a:solidFill>
              </a:defRPr>
            </a:lvl1pPr>
          </a:lstStyle>
          <a:p>
            <a:fld id="{C1E98028-C120-C94E-94C2-6A0D2C6AE1BF}" type="datetimeFigureOut">
              <a:rPr lang="en-US" smtClean="0"/>
              <a:pPr/>
              <a:t>6/10/25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0177154-BAF0-BD41-9F12-EA6B5F88B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474372"/>
            <a:ext cx="9144000" cy="24710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350143E-FE8D-7C42-8AED-C584C1C21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8883" y="6474372"/>
            <a:ext cx="1135117" cy="247103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rgbClr val="00274C"/>
                </a:solidFill>
              </a:defRPr>
            </a:lvl1pPr>
          </a:lstStyle>
          <a:p>
            <a:fld id="{B72E91CA-9B22-2844-8E94-2A762C5288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844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0B570-A22B-364A-BC03-3BB3B78D64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55108"/>
            <a:ext cx="9144000" cy="864092"/>
          </a:xfrm>
          <a:prstGeom prst="rect">
            <a:avLst/>
          </a:prstGeom>
        </p:spPr>
        <p:txBody>
          <a:bodyPr anchor="b"/>
          <a:lstStyle>
            <a:lvl1pPr algn="l">
              <a:defRPr sz="4800" b="1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154EEC-7753-244F-8D3C-769C76331F4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542009"/>
            <a:ext cx="9144000" cy="459603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91996-96B2-6641-9C3A-19B599FBC5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14841" y="6474372"/>
            <a:ext cx="974834" cy="24710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00274C"/>
                </a:solidFill>
              </a:defRPr>
            </a:lvl1pPr>
          </a:lstStyle>
          <a:p>
            <a:fld id="{C1E98028-C120-C94E-94C2-6A0D2C6AE1BF}" type="datetimeFigureOut">
              <a:rPr lang="en-US" smtClean="0"/>
              <a:pPr/>
              <a:t>6/10/25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DD7E6-BDAB-834D-90A8-C8840717F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474372"/>
            <a:ext cx="9144000" cy="24710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24FE1-7233-704B-B440-C106C8BD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74372"/>
            <a:ext cx="1135117" cy="2471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B72E91CA-9B22-2844-8E94-2A762C5288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479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006319C-FB51-7D4F-9010-D3E341FD93E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55108"/>
            <a:ext cx="9144000" cy="864092"/>
          </a:xfrm>
          <a:prstGeom prst="rect">
            <a:avLst/>
          </a:prstGeom>
        </p:spPr>
        <p:txBody>
          <a:bodyPr anchor="b"/>
          <a:lstStyle>
            <a:lvl1pPr algn="l">
              <a:defRPr sz="4800" b="1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EB4F3FB-316E-BF42-B96D-CD437FB415A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542009"/>
            <a:ext cx="9144000" cy="459603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C2B277D-F96E-B345-902E-21599F3E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3166" y="6474372"/>
            <a:ext cx="974834" cy="24710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00274C"/>
                </a:solidFill>
              </a:defRPr>
            </a:lvl1pPr>
          </a:lstStyle>
          <a:p>
            <a:fld id="{C1E98028-C120-C94E-94C2-6A0D2C6AE1BF}" type="datetimeFigureOut">
              <a:rPr lang="en-US" smtClean="0"/>
              <a:pPr/>
              <a:t>6/10/25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2F86664-394E-F64E-B476-E1615CC0D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474372"/>
            <a:ext cx="7819697" cy="24710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9409317-4804-114E-BBC9-749ADE2A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474372"/>
            <a:ext cx="1135117" cy="24710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00274C"/>
                </a:solidFill>
              </a:defRPr>
            </a:lvl1pPr>
          </a:lstStyle>
          <a:p>
            <a:fld id="{B72E91CA-9B22-2844-8E94-2A762C5288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874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5755742-0700-034C-B4AE-306C657BF8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076D48-578B-E44B-A42E-714FD8BD89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30800" y="720890"/>
            <a:ext cx="19304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864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26AE793-216F-9043-A865-4A7387AA81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6860" b="47968"/>
          <a:stretch/>
        </p:blipFill>
        <p:spPr>
          <a:xfrm>
            <a:off x="0" y="4445876"/>
            <a:ext cx="12192000" cy="24121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A1A8D0-A3C8-B248-8599-C115BE86BCE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30800" y="720890"/>
            <a:ext cx="1930400" cy="20574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C2826E-A3E5-7747-897A-4D24F311CB33}"/>
              </a:ext>
            </a:extLst>
          </p:cNvPr>
          <p:cNvCxnSpPr>
            <a:cxnSpLocks/>
          </p:cNvCxnSpPr>
          <p:nvPr userDrawn="1"/>
        </p:nvCxnSpPr>
        <p:spPr>
          <a:xfrm>
            <a:off x="0" y="4445876"/>
            <a:ext cx="121920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F62719F2-9F25-264A-A7EB-37BBAC79DE4E}"/>
              </a:ext>
            </a:extLst>
          </p:cNvPr>
          <p:cNvSpPr txBox="1">
            <a:spLocks/>
          </p:cNvSpPr>
          <p:nvPr userDrawn="1"/>
        </p:nvSpPr>
        <p:spPr>
          <a:xfrm>
            <a:off x="1524000" y="3005958"/>
            <a:ext cx="9144000" cy="1407894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Slide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594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D28CFBB-05A1-0D4C-BAEF-C1396714FC35}"/>
              </a:ext>
            </a:extLst>
          </p:cNvPr>
          <p:cNvSpPr/>
          <p:nvPr userDrawn="1"/>
        </p:nvSpPr>
        <p:spPr>
          <a:xfrm>
            <a:off x="0" y="4445876"/>
            <a:ext cx="12192000" cy="2412124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B21C43-EF3E-6740-B05D-A420238469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30800" y="720890"/>
            <a:ext cx="1930400" cy="20574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14D7EA-B9D7-E440-914A-16FF19E03683}"/>
              </a:ext>
            </a:extLst>
          </p:cNvPr>
          <p:cNvCxnSpPr>
            <a:cxnSpLocks/>
          </p:cNvCxnSpPr>
          <p:nvPr userDrawn="1"/>
        </p:nvCxnSpPr>
        <p:spPr>
          <a:xfrm>
            <a:off x="0" y="4445876"/>
            <a:ext cx="121920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644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64DC30-33F2-914A-85DA-D78716190C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30800" y="720890"/>
            <a:ext cx="1930400" cy="20574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90F6DA-EA76-C84A-B8B9-B99EFAAB62A9}"/>
              </a:ext>
            </a:extLst>
          </p:cNvPr>
          <p:cNvCxnSpPr>
            <a:cxnSpLocks/>
          </p:cNvCxnSpPr>
          <p:nvPr userDrawn="1"/>
        </p:nvCxnSpPr>
        <p:spPr>
          <a:xfrm>
            <a:off x="0" y="4445876"/>
            <a:ext cx="121920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232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7A444A1-CF09-3B4A-BCB2-1DA487F87C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365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CDAB1EC-0489-EA49-8E53-4995A99E3C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982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99E5877-559A-F243-8967-3F1F8DC826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12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AD707EE-9733-844D-B774-2267A7C3D8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CF7407B-BDEC-6E4B-A6EE-D9480A01E2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153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A5AFCB-4427-7648-906B-B22FE1ABE7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998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7B3DE-BCDC-CC42-9CA3-B3170B929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59955"/>
            <a:ext cx="12192000" cy="895952"/>
          </a:xfrm>
        </p:spPr>
        <p:txBody>
          <a:bodyPr/>
          <a:lstStyle/>
          <a:p>
            <a:r>
              <a:rPr lang="en-US" dirty="0"/>
              <a:t>Data manipulation with </a:t>
            </a:r>
            <a:r>
              <a:rPr lang="en-US" dirty="0" err="1"/>
              <a:t>dplyr</a:t>
            </a:r>
            <a:br>
              <a:rPr lang="en-US" dirty="0"/>
            </a:br>
            <a:r>
              <a:rPr lang="en-US" sz="2400" dirty="0"/>
              <a:t>Documentation with Quarto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137B0-A601-E349-89E4-17EF7BEDC4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Mike Kleinsasser</a:t>
            </a:r>
          </a:p>
          <a:p>
            <a:r>
              <a:rPr lang="en-US" dirty="0"/>
              <a:t>BDSI 2025</a:t>
            </a:r>
          </a:p>
        </p:txBody>
      </p:sp>
      <p:pic>
        <p:nvPicPr>
          <p:cNvPr id="1026" name="Picture 2" descr="A Grammar of Data Manipulation • dplyr">
            <a:extLst>
              <a:ext uri="{FF2B5EF4-FFF2-40B4-BE49-F238E27FC236}">
                <a16:creationId xmlns:a16="http://schemas.microsoft.com/office/drawing/2014/main" id="{5CA2F6A6-A1E5-BEF3-AD0B-A9B330704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558514"/>
            <a:ext cx="2331708" cy="2691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hexagon with white text&#10;&#10;AI-generated content may be incorrect.">
            <a:extLst>
              <a:ext uri="{FF2B5EF4-FFF2-40B4-BE49-F238E27FC236}">
                <a16:creationId xmlns:a16="http://schemas.microsoft.com/office/drawing/2014/main" id="{4E60912B-3C4F-0F0B-AC62-D09255EED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7837" y="631230"/>
            <a:ext cx="2204564" cy="254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90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385E6-7666-BA47-99F8-1DBCFB897A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pPr marL="342900" indent="-342900">
              <a:buFont typeface="System Font Regular"/>
              <a:buChar char="→"/>
            </a:pPr>
            <a:r>
              <a:rPr lang="en-US" dirty="0"/>
              <a:t>Mike Kleinsasser (please call me Mike)</a:t>
            </a:r>
          </a:p>
          <a:p>
            <a:pPr marL="342900" indent="-342900">
              <a:buFont typeface="System Font Regular"/>
              <a:buChar char="→"/>
            </a:pPr>
            <a:endParaRPr lang="en-US" dirty="0"/>
          </a:p>
          <a:p>
            <a:pPr marL="342900" indent="-342900">
              <a:buFont typeface="System Font Regular"/>
              <a:buChar char="→"/>
            </a:pPr>
            <a:r>
              <a:rPr lang="en-US" dirty="0"/>
              <a:t>Joined Biostatistics in 2019</a:t>
            </a:r>
          </a:p>
          <a:p>
            <a:pPr marL="342900" indent="-342900">
              <a:buFont typeface="System Font Regular"/>
              <a:buChar char="→"/>
            </a:pPr>
            <a:endParaRPr lang="en-US" dirty="0"/>
          </a:p>
          <a:p>
            <a:pPr marL="342900" indent="-342900">
              <a:buFont typeface="System Font Regular"/>
              <a:buChar char="→"/>
            </a:pPr>
            <a:r>
              <a:rPr lang="en-US" dirty="0"/>
              <a:t>Applications programmer/analyst senior</a:t>
            </a:r>
          </a:p>
          <a:p>
            <a:pPr marL="342900" indent="-342900">
              <a:buFont typeface="System Font Regular"/>
              <a:buChar char="→"/>
            </a:pPr>
            <a:endParaRPr lang="en-US" dirty="0"/>
          </a:p>
          <a:p>
            <a:pPr marL="342900" indent="-342900">
              <a:buFont typeface="System Font Regular"/>
              <a:buChar char="→"/>
            </a:pPr>
            <a:r>
              <a:rPr lang="en-US" dirty="0"/>
              <a:t>Support students and faculty in R package </a:t>
            </a:r>
            <a:r>
              <a:rPr lang="en-US" dirty="0" err="1"/>
              <a:t>devel</a:t>
            </a:r>
            <a:r>
              <a:rPr lang="en-US" dirty="0"/>
              <a:t>./maintenance</a:t>
            </a:r>
          </a:p>
        </p:txBody>
      </p:sp>
    </p:spTree>
    <p:extLst>
      <p:ext uri="{BB962C8B-B14F-4D97-AF65-F5344CB8AC3E}">
        <p14:creationId xmlns:p14="http://schemas.microsoft.com/office/powerpoint/2010/main" val="2731734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 workshop setup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385E6-7666-BA47-99F8-1DBCFB897A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pPr marL="342900" indent="-342900">
              <a:buFont typeface="System Font Regular"/>
              <a:buChar char="→"/>
            </a:pPr>
            <a:r>
              <a:rPr lang="en-US" dirty="0"/>
              <a:t>Help! Place sticky note on corner of screen</a:t>
            </a:r>
          </a:p>
          <a:p>
            <a:pPr marL="342900" indent="-342900">
              <a:buFont typeface="System Font Regular"/>
              <a:buChar char="→"/>
            </a:pPr>
            <a:endParaRPr lang="en-US" dirty="0"/>
          </a:p>
          <a:p>
            <a:pPr marL="342900" indent="-342900">
              <a:buFont typeface="System Font Regular"/>
              <a:buChar char="→"/>
            </a:pPr>
            <a:r>
              <a:rPr lang="en-US" dirty="0"/>
              <a:t>Need our attention? Raise your hand</a:t>
            </a:r>
          </a:p>
          <a:p>
            <a:pPr marL="342900" indent="-342900">
              <a:buFont typeface="System Font Regular"/>
              <a:buChar char="→"/>
            </a:pPr>
            <a:endParaRPr lang="en-US" dirty="0"/>
          </a:p>
          <a:p>
            <a:pPr marL="342900" indent="-342900">
              <a:buFont typeface="System Font Regular"/>
              <a:buChar char="→"/>
            </a:pPr>
            <a:r>
              <a:rPr lang="en-US" dirty="0"/>
              <a:t>Helpers will be walking around to help you with questions</a:t>
            </a:r>
          </a:p>
          <a:p>
            <a:pPr marL="342900" indent="-342900">
              <a:buFont typeface="System Font Regular"/>
              <a:buChar char="→"/>
            </a:pPr>
            <a:endParaRPr lang="en-US" dirty="0"/>
          </a:p>
          <a:p>
            <a:pPr marL="342900" indent="-342900">
              <a:buFont typeface="System Font Regular"/>
              <a:buChar char="→"/>
            </a:pPr>
            <a:r>
              <a:rPr lang="en-US" dirty="0"/>
              <a:t>Type the code along with me! (Have RStudio open + a script)</a:t>
            </a:r>
          </a:p>
          <a:p>
            <a:pPr marL="342900" indent="-342900">
              <a:buFont typeface="System Font Regular"/>
              <a:buChar char="→"/>
            </a:pPr>
            <a:endParaRPr lang="en-US" dirty="0"/>
          </a:p>
          <a:p>
            <a:pPr marL="342900" indent="-342900">
              <a:buFont typeface="System Font Regular"/>
              <a:buChar char="→"/>
            </a:pPr>
            <a:r>
              <a:rPr lang="en-US" dirty="0"/>
              <a:t>Open the </a:t>
            </a:r>
            <a:r>
              <a:rPr lang="en-US" dirty="0" err="1"/>
              <a:t>powerpoint</a:t>
            </a:r>
            <a:r>
              <a:rPr lang="en-US" dirty="0"/>
              <a:t> to copy/paste code with me</a:t>
            </a:r>
          </a:p>
          <a:p>
            <a:pPr marL="342900" indent="-342900">
              <a:buFont typeface="System Font Regular"/>
              <a:buChar char="→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176FC451-E0F8-012B-D41C-5F6EA0718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2605388"/>
            <a:ext cx="901700" cy="1054100"/>
          </a:xfrm>
          <a:prstGeom prst="rect">
            <a:avLst/>
          </a:prstGeom>
        </p:spPr>
      </p:pic>
      <p:pic>
        <p:nvPicPr>
          <p:cNvPr id="7" name="Picture 6" descr="A picture containing text, envelope, stationary, businesscard&#10;&#10;Description automatically generated">
            <a:extLst>
              <a:ext uri="{FF2B5EF4-FFF2-40B4-BE49-F238E27FC236}">
                <a16:creationId xmlns:a16="http://schemas.microsoft.com/office/drawing/2014/main" id="{1605D2FE-298A-7C15-5A9E-772934193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975" y="1802714"/>
            <a:ext cx="966025" cy="802674"/>
          </a:xfrm>
          <a:prstGeom prst="rect">
            <a:avLst/>
          </a:prstGeom>
        </p:spPr>
      </p:pic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85E8CB51-5786-E50D-B178-5EDE40D1B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4403464"/>
            <a:ext cx="8255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413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E90F40F-0198-B5D2-2478-C0FB1DC01A04}"/>
              </a:ext>
            </a:extLst>
          </p:cNvPr>
          <p:cNvSpPr/>
          <p:nvPr/>
        </p:nvSpPr>
        <p:spPr>
          <a:xfrm>
            <a:off x="873468" y="4517496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069344-137C-02BE-E033-725423F14481}"/>
              </a:ext>
            </a:extLst>
          </p:cNvPr>
          <p:cNvSpPr/>
          <p:nvPr/>
        </p:nvSpPr>
        <p:spPr>
          <a:xfrm>
            <a:off x="8986893" y="395202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F49916-C3EA-821D-A363-5749A3AFB100}"/>
              </a:ext>
            </a:extLst>
          </p:cNvPr>
          <p:cNvSpPr/>
          <p:nvPr/>
        </p:nvSpPr>
        <p:spPr>
          <a:xfrm>
            <a:off x="8144358" y="206519"/>
            <a:ext cx="3924472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</a:t>
            </a:r>
          </a:p>
          <a:p>
            <a:pPr algn="ctr"/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manipulation</a:t>
            </a:r>
            <a:endParaRPr lang="en-US" sz="5400" b="0" cap="none" spc="0" dirty="0">
              <a:ln w="0"/>
              <a:solidFill>
                <a:srgbClr val="18177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385E6-7666-BA47-99F8-1DBCFB897A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0727B96A-8056-B250-884B-825D0698A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781" y="1183687"/>
            <a:ext cx="6156356" cy="4498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51F9507-5D73-E0B3-4D52-9B08CC9C7053}"/>
              </a:ext>
            </a:extLst>
          </p:cNvPr>
          <p:cNvSpPr/>
          <p:nvPr/>
        </p:nvSpPr>
        <p:spPr>
          <a:xfrm>
            <a:off x="7485680" y="2316024"/>
            <a:ext cx="1317356" cy="123308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B4422FF-8112-B388-E557-9CE220EC03EF}"/>
              </a:ext>
            </a:extLst>
          </p:cNvPr>
          <p:cNvSpPr/>
          <p:nvPr/>
        </p:nvSpPr>
        <p:spPr>
          <a:xfrm>
            <a:off x="3568011" y="4566583"/>
            <a:ext cx="1317356" cy="123308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8CDC88-024D-7E77-7C6A-03457C196C45}"/>
              </a:ext>
            </a:extLst>
          </p:cNvPr>
          <p:cNvSpPr/>
          <p:nvPr/>
        </p:nvSpPr>
        <p:spPr>
          <a:xfrm>
            <a:off x="308188" y="1372370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421DD8-AD01-C11D-BB4A-92E5337D088F}"/>
              </a:ext>
            </a:extLst>
          </p:cNvPr>
          <p:cNvSpPr/>
          <p:nvPr/>
        </p:nvSpPr>
        <p:spPr>
          <a:xfrm>
            <a:off x="308188" y="1196387"/>
            <a:ext cx="26882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Quarto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BFDAC1-F35B-2827-3C1E-0AB37150F3B2}"/>
              </a:ext>
            </a:extLst>
          </p:cNvPr>
          <p:cNvSpPr/>
          <p:nvPr/>
        </p:nvSpPr>
        <p:spPr>
          <a:xfrm>
            <a:off x="137989" y="4305964"/>
            <a:ext cx="3648499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</a:t>
            </a:r>
          </a:p>
          <a:p>
            <a:pPr algn="ctr"/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visualization</a:t>
            </a:r>
            <a:endParaRPr lang="en-US" sz="5400" b="0" cap="none" spc="0" dirty="0">
              <a:ln w="0"/>
              <a:solidFill>
                <a:srgbClr val="18177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3" name="Picture 12" descr="A hexagon with white text&#10;&#10;AI-generated content may be incorrect.">
            <a:extLst>
              <a:ext uri="{FF2B5EF4-FFF2-40B4-BE49-F238E27FC236}">
                <a16:creationId xmlns:a16="http://schemas.microsoft.com/office/drawing/2014/main" id="{9DBC4CD1-F16E-C41A-14C7-79A591499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196" y="2260456"/>
            <a:ext cx="721476" cy="83313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F9580648-5C01-CF80-3A1D-D29CFE4882BF}"/>
              </a:ext>
            </a:extLst>
          </p:cNvPr>
          <p:cNvSpPr/>
          <p:nvPr/>
        </p:nvSpPr>
        <p:spPr>
          <a:xfrm>
            <a:off x="1160256" y="2060479"/>
            <a:ext cx="1317356" cy="123308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3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E90F40F-0198-B5D2-2478-C0FB1DC01A04}"/>
              </a:ext>
            </a:extLst>
          </p:cNvPr>
          <p:cNvSpPr/>
          <p:nvPr/>
        </p:nvSpPr>
        <p:spPr>
          <a:xfrm>
            <a:off x="873468" y="4517496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069344-137C-02BE-E033-725423F14481}"/>
              </a:ext>
            </a:extLst>
          </p:cNvPr>
          <p:cNvSpPr/>
          <p:nvPr/>
        </p:nvSpPr>
        <p:spPr>
          <a:xfrm>
            <a:off x="8986893" y="395202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F49916-C3EA-821D-A363-5749A3AFB100}"/>
              </a:ext>
            </a:extLst>
          </p:cNvPr>
          <p:cNvSpPr/>
          <p:nvPr/>
        </p:nvSpPr>
        <p:spPr>
          <a:xfrm>
            <a:off x="8144358" y="206519"/>
            <a:ext cx="3924472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181776">
                    <a:alpha val="15266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en-US" sz="5400" b="0" cap="none" spc="0" dirty="0">
                <a:ln w="0"/>
                <a:solidFill>
                  <a:srgbClr val="181776">
                    <a:alpha val="15266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dirty="0">
                <a:ln w="0"/>
                <a:solidFill>
                  <a:srgbClr val="181776">
                    <a:alpha val="15266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</a:t>
            </a:r>
          </a:p>
          <a:p>
            <a:pPr algn="ctr"/>
            <a:r>
              <a:rPr lang="en-US" sz="5400" dirty="0">
                <a:ln w="0"/>
                <a:solidFill>
                  <a:srgbClr val="181776">
                    <a:alpha val="15266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manipulation</a:t>
            </a:r>
            <a:endParaRPr lang="en-US" sz="5400" b="0" cap="none" spc="0" dirty="0">
              <a:ln w="0"/>
              <a:solidFill>
                <a:srgbClr val="181776">
                  <a:alpha val="15266"/>
                </a:srgb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385E6-7666-BA47-99F8-1DBCFB897A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0727B96A-8056-B250-884B-825D0698A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781" y="1183687"/>
            <a:ext cx="6156356" cy="4498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51F9507-5D73-E0B3-4D52-9B08CC9C7053}"/>
              </a:ext>
            </a:extLst>
          </p:cNvPr>
          <p:cNvSpPr/>
          <p:nvPr/>
        </p:nvSpPr>
        <p:spPr>
          <a:xfrm>
            <a:off x="7485680" y="2316024"/>
            <a:ext cx="1317356" cy="123308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B4422FF-8112-B388-E557-9CE220EC03EF}"/>
              </a:ext>
            </a:extLst>
          </p:cNvPr>
          <p:cNvSpPr/>
          <p:nvPr/>
        </p:nvSpPr>
        <p:spPr>
          <a:xfrm>
            <a:off x="3568011" y="4566583"/>
            <a:ext cx="1317356" cy="123308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8CDC88-024D-7E77-7C6A-03457C196C45}"/>
              </a:ext>
            </a:extLst>
          </p:cNvPr>
          <p:cNvSpPr/>
          <p:nvPr/>
        </p:nvSpPr>
        <p:spPr>
          <a:xfrm>
            <a:off x="308188" y="1372370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421DD8-AD01-C11D-BB4A-92E5337D088F}"/>
              </a:ext>
            </a:extLst>
          </p:cNvPr>
          <p:cNvSpPr/>
          <p:nvPr/>
        </p:nvSpPr>
        <p:spPr>
          <a:xfrm>
            <a:off x="308188" y="1196387"/>
            <a:ext cx="26882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Quarto</a:t>
            </a:r>
            <a:endParaRPr lang="en-US" sz="5400" b="0" cap="none" spc="0" dirty="0">
              <a:ln w="0"/>
              <a:solidFill>
                <a:srgbClr val="18177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BFDAC1-F35B-2827-3C1E-0AB37150F3B2}"/>
              </a:ext>
            </a:extLst>
          </p:cNvPr>
          <p:cNvSpPr/>
          <p:nvPr/>
        </p:nvSpPr>
        <p:spPr>
          <a:xfrm>
            <a:off x="137989" y="4305964"/>
            <a:ext cx="3648499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181776">
                    <a:alpha val="15266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 </a:t>
            </a:r>
            <a:r>
              <a:rPr lang="en-US" sz="5400" dirty="0">
                <a:ln w="0"/>
                <a:solidFill>
                  <a:srgbClr val="181776">
                    <a:alpha val="15266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</a:t>
            </a:r>
          </a:p>
          <a:p>
            <a:pPr algn="ctr"/>
            <a:r>
              <a:rPr lang="en-US" sz="5400" dirty="0">
                <a:ln w="0"/>
                <a:solidFill>
                  <a:srgbClr val="181776">
                    <a:alpha val="15266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visualization</a:t>
            </a:r>
            <a:endParaRPr lang="en-US" sz="5400" b="0" cap="none" spc="0" dirty="0">
              <a:ln w="0"/>
              <a:solidFill>
                <a:srgbClr val="181776">
                  <a:alpha val="15266"/>
                </a:srgb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3" name="Picture 12" descr="A hexagon with white text&#10;&#10;AI-generated content may be incorrect.">
            <a:extLst>
              <a:ext uri="{FF2B5EF4-FFF2-40B4-BE49-F238E27FC236}">
                <a16:creationId xmlns:a16="http://schemas.microsoft.com/office/drawing/2014/main" id="{B79777E7-8EA7-216C-1EF2-3AA6D41A1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196" y="2260456"/>
            <a:ext cx="721476" cy="83313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BEEA42BF-CD75-6DD9-FC64-53139AE6B61A}"/>
              </a:ext>
            </a:extLst>
          </p:cNvPr>
          <p:cNvSpPr/>
          <p:nvPr/>
        </p:nvSpPr>
        <p:spPr>
          <a:xfrm>
            <a:off x="1160256" y="2060479"/>
            <a:ext cx="1317356" cy="123308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7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D3385E6-7666-BA47-99F8-1DBCFB897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3128" y="1130984"/>
            <a:ext cx="11825739" cy="4596031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Open-source scientific and technical publishing system.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Combine code, commentary, interactive plots, figures/tables into one document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Supports R, Python, Julia, and Observable JS.</a:t>
            </a:r>
          </a:p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8CDC88-024D-7E77-7C6A-03457C196C45}"/>
              </a:ext>
            </a:extLst>
          </p:cNvPr>
          <p:cNvSpPr/>
          <p:nvPr/>
        </p:nvSpPr>
        <p:spPr>
          <a:xfrm>
            <a:off x="622087" y="662686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421DD8-AD01-C11D-BB4A-92E5337D088F}"/>
              </a:ext>
            </a:extLst>
          </p:cNvPr>
          <p:cNvSpPr/>
          <p:nvPr/>
        </p:nvSpPr>
        <p:spPr>
          <a:xfrm>
            <a:off x="622087" y="495258"/>
            <a:ext cx="26882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Quarto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96A8C1-E409-1C28-07B3-F8C80B43C538}"/>
              </a:ext>
            </a:extLst>
          </p:cNvPr>
          <p:cNvSpPr txBox="1"/>
          <p:nvPr/>
        </p:nvSpPr>
        <p:spPr>
          <a:xfrm>
            <a:off x="533546" y="5836712"/>
            <a:ext cx="11124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bioinformatics.ccr.cancer.gov</a:t>
            </a:r>
            <a:r>
              <a:rPr lang="en-US" dirty="0"/>
              <a:t>/docs/</a:t>
            </a:r>
            <a:r>
              <a:rPr lang="en-US" dirty="0" err="1"/>
              <a:t>btep</a:t>
            </a:r>
            <a:r>
              <a:rPr lang="en-US" dirty="0"/>
              <a:t>-coding-club/CC2024/Quarto/</a:t>
            </a:r>
            <a:r>
              <a:rPr lang="en-US" dirty="0" err="1"/>
              <a:t>GettingStarted_with_Quarto_orig.html</a:t>
            </a:r>
            <a:endParaRPr lang="en-US" dirty="0"/>
          </a:p>
        </p:txBody>
      </p:sp>
      <p:pic>
        <p:nvPicPr>
          <p:cNvPr id="9" name="Picture 8" descr="A diagram of a paper with text&#10;&#10;AI-generated content may be incorrect.">
            <a:extLst>
              <a:ext uri="{FF2B5EF4-FFF2-40B4-BE49-F238E27FC236}">
                <a16:creationId xmlns:a16="http://schemas.microsoft.com/office/drawing/2014/main" id="{48CB82B1-D76A-1797-42AA-3476355C0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896" y="4238000"/>
            <a:ext cx="5786204" cy="159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570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2E088-BA82-882F-0ADA-CDBCF88BA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847463-9ED0-D3C1-5D77-D56EACB386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548" y="1586016"/>
            <a:ext cx="6096000" cy="4596031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In RStudio: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File -&gt; New File -&gt; Quarto Document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Choose: HTML, </a:t>
            </a:r>
            <a:r>
              <a:rPr lang="en-US" sz="2800" dirty="0" err="1"/>
              <a:t>Knitr</a:t>
            </a:r>
            <a:endParaRPr lang="en-US" sz="28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Save the file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Click “Render”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Edit, repeat.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78B02E-5031-A64E-7D0C-9E0A85AF1B37}"/>
              </a:ext>
            </a:extLst>
          </p:cNvPr>
          <p:cNvSpPr/>
          <p:nvPr/>
        </p:nvSpPr>
        <p:spPr>
          <a:xfrm>
            <a:off x="622087" y="662686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4D8216-FE5B-A254-41DD-89968D2B9DD3}"/>
              </a:ext>
            </a:extLst>
          </p:cNvPr>
          <p:cNvSpPr/>
          <p:nvPr/>
        </p:nvSpPr>
        <p:spPr>
          <a:xfrm>
            <a:off x="622087" y="495258"/>
            <a:ext cx="26882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Quarto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A3F218-BBBF-F9BB-2259-82B5B0A10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889" y="1642591"/>
            <a:ext cx="6339563" cy="414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003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 packages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385E6-7666-BA47-99F8-1DBCFB897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310" y="1397153"/>
            <a:ext cx="9144000" cy="4596031"/>
          </a:xfrm>
        </p:spPr>
        <p:txBody>
          <a:bodyPr/>
          <a:lstStyle/>
          <a:p>
            <a:r>
              <a:rPr lang="en-US" dirty="0"/>
              <a:t>Packages add new functions and data into 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E22D3A-33D0-1BDF-C325-20E3BE8404A8}"/>
              </a:ext>
            </a:extLst>
          </p:cNvPr>
          <p:cNvSpPr txBox="1"/>
          <p:nvPr/>
        </p:nvSpPr>
        <p:spPr>
          <a:xfrm>
            <a:off x="274620" y="1874067"/>
            <a:ext cx="51966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dplyr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endParaRPr lang="en-US" sz="2400" dirty="0"/>
          </a:p>
          <a:p>
            <a:r>
              <a:rPr lang="en-US" sz="2400" dirty="0"/>
              <a:t>Run once per machine </a:t>
            </a:r>
          </a:p>
          <a:p>
            <a:r>
              <a:rPr lang="en-US" sz="2400" dirty="0"/>
              <a:t>Downloads packages to your computer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35F80-4F1A-67D4-665E-17A86851BE67}"/>
              </a:ext>
            </a:extLst>
          </p:cNvPr>
          <p:cNvSpPr txBox="1"/>
          <p:nvPr/>
        </p:nvSpPr>
        <p:spPr>
          <a:xfrm>
            <a:off x="6033043" y="1859340"/>
            <a:ext cx="49852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dplyr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400" dirty="0"/>
          </a:p>
          <a:p>
            <a:r>
              <a:rPr lang="en-US" sz="2400" dirty="0"/>
              <a:t>Run each time you start R</a:t>
            </a:r>
          </a:p>
          <a:p>
            <a:r>
              <a:rPr lang="en-US" sz="2400" dirty="0"/>
              <a:t>Loads packages into current R session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94D29CD-984C-67D0-FE81-01D6804DD496}"/>
              </a:ext>
            </a:extLst>
          </p:cNvPr>
          <p:cNvCxnSpPr/>
          <p:nvPr/>
        </p:nvCxnSpPr>
        <p:spPr>
          <a:xfrm>
            <a:off x="5576935" y="1874067"/>
            <a:ext cx="0" cy="397447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YaRrr! The Pirate's Guide to R">
            <a:extLst>
              <a:ext uri="{FF2B5EF4-FFF2-40B4-BE49-F238E27FC236}">
                <a16:creationId xmlns:a16="http://schemas.microsoft.com/office/drawing/2014/main" id="{178CBF86-1527-F749-303D-2023C4E39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54" y="3518126"/>
            <a:ext cx="2270573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94F0680C-F4FC-1072-C031-D4E7E9657527}"/>
              </a:ext>
            </a:extLst>
          </p:cNvPr>
          <p:cNvSpPr/>
          <p:nvPr/>
        </p:nvSpPr>
        <p:spPr>
          <a:xfrm rot="2379234">
            <a:off x="3091855" y="4629358"/>
            <a:ext cx="1167897" cy="7333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8ACD15E0-ECB1-1C24-8A86-6EE09B4FB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594" y="5185340"/>
            <a:ext cx="1003016" cy="618527"/>
          </a:xfrm>
          <a:prstGeom prst="rect">
            <a:avLst/>
          </a:prstGeom>
        </p:spPr>
      </p:pic>
      <p:sp>
        <p:nvSpPr>
          <p:cNvPr id="16" name="Right Arrow 15">
            <a:extLst>
              <a:ext uri="{FF2B5EF4-FFF2-40B4-BE49-F238E27FC236}">
                <a16:creationId xmlns:a16="http://schemas.microsoft.com/office/drawing/2014/main" id="{B6FE1704-ED6B-C96F-7387-2356F32E7F54}"/>
              </a:ext>
            </a:extLst>
          </p:cNvPr>
          <p:cNvSpPr/>
          <p:nvPr/>
        </p:nvSpPr>
        <p:spPr>
          <a:xfrm rot="19588408">
            <a:off x="8133948" y="4439236"/>
            <a:ext cx="1167897" cy="7333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Icon&#10;&#10;Description automatically generated">
            <a:extLst>
              <a:ext uri="{FF2B5EF4-FFF2-40B4-BE49-F238E27FC236}">
                <a16:creationId xmlns:a16="http://schemas.microsoft.com/office/drawing/2014/main" id="{676E9418-3094-C8E7-2811-A659ACBCE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930" y="5185340"/>
            <a:ext cx="1003016" cy="618527"/>
          </a:xfrm>
          <a:prstGeom prst="rect">
            <a:avLst/>
          </a:prstGeom>
        </p:spPr>
      </p:pic>
      <p:pic>
        <p:nvPicPr>
          <p:cNvPr id="2056" name="Picture 8" descr="R: R Logo">
            <a:extLst>
              <a:ext uri="{FF2B5EF4-FFF2-40B4-BE49-F238E27FC236}">
                <a16:creationId xmlns:a16="http://schemas.microsoft.com/office/drawing/2014/main" id="{E5538733-0F24-0ACC-7702-F21D1738F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541" y="3556750"/>
            <a:ext cx="1143933" cy="888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8296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Tidyverse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E22D3A-33D0-1BDF-C325-20E3BE8404A8}"/>
              </a:ext>
            </a:extLst>
          </p:cNvPr>
          <p:cNvSpPr txBox="1"/>
          <p:nvPr/>
        </p:nvSpPr>
        <p:spPr>
          <a:xfrm>
            <a:off x="138821" y="1395407"/>
            <a:ext cx="926773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 run once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tidyverse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 run in new session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tidyverse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/>
              <a:t>Collection of R packages for reading data,</a:t>
            </a:r>
          </a:p>
          <a:p>
            <a:r>
              <a:rPr lang="en-US" sz="2400" dirty="0"/>
              <a:t>data wrangling, visualization, and programming</a:t>
            </a:r>
          </a:p>
          <a:p>
            <a:endParaRPr lang="en-US" sz="2400" dirty="0"/>
          </a:p>
          <a:p>
            <a:r>
              <a:rPr lang="en-US" sz="2400" dirty="0"/>
              <a:t>For now: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 run in new session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dplyr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4488B2-BD7A-04AC-896A-0A448A5D6648}"/>
              </a:ext>
            </a:extLst>
          </p:cNvPr>
          <p:cNvSpPr txBox="1"/>
          <p:nvPr/>
        </p:nvSpPr>
        <p:spPr>
          <a:xfrm>
            <a:off x="7179398" y="5827389"/>
            <a:ext cx="5278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credit: http://</a:t>
            </a:r>
            <a:r>
              <a:rPr lang="en-US" dirty="0" err="1"/>
              <a:t>www.seec.uct.ac.za</a:t>
            </a:r>
            <a:r>
              <a:rPr lang="en-US" dirty="0"/>
              <a:t>/r-</a:t>
            </a:r>
            <a:r>
              <a:rPr lang="en-US" dirty="0" err="1"/>
              <a:t>tidyverse</a:t>
            </a:r>
            <a:endParaRPr lang="en-US" dirty="0"/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5866036E-F645-7629-EE68-58B8029AD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6823" y="1135958"/>
            <a:ext cx="6156356" cy="4498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187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E90F40F-0198-B5D2-2478-C0FB1DC01A04}"/>
              </a:ext>
            </a:extLst>
          </p:cNvPr>
          <p:cNvSpPr/>
          <p:nvPr/>
        </p:nvSpPr>
        <p:spPr>
          <a:xfrm>
            <a:off x="873468" y="4517496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069344-137C-02BE-E033-725423F14481}"/>
              </a:ext>
            </a:extLst>
          </p:cNvPr>
          <p:cNvSpPr/>
          <p:nvPr/>
        </p:nvSpPr>
        <p:spPr>
          <a:xfrm>
            <a:off x="8986893" y="395202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F49916-C3EA-821D-A363-5749A3AFB100}"/>
              </a:ext>
            </a:extLst>
          </p:cNvPr>
          <p:cNvSpPr/>
          <p:nvPr/>
        </p:nvSpPr>
        <p:spPr>
          <a:xfrm>
            <a:off x="8144358" y="206519"/>
            <a:ext cx="3924472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</a:t>
            </a:r>
          </a:p>
          <a:p>
            <a:pPr algn="ctr"/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manipulation</a:t>
            </a:r>
            <a:endParaRPr lang="en-US" sz="5400" b="0" cap="none" spc="0" dirty="0">
              <a:ln w="0"/>
              <a:solidFill>
                <a:srgbClr val="18177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385E6-7666-BA47-99F8-1DBCFB897A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0727B96A-8056-B250-884B-825D0698A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781" y="1183687"/>
            <a:ext cx="6156356" cy="4498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51F9507-5D73-E0B3-4D52-9B08CC9C7053}"/>
              </a:ext>
            </a:extLst>
          </p:cNvPr>
          <p:cNvSpPr/>
          <p:nvPr/>
        </p:nvSpPr>
        <p:spPr>
          <a:xfrm>
            <a:off x="7485680" y="2316024"/>
            <a:ext cx="1317356" cy="123308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B4422FF-8112-B388-E557-9CE220EC03EF}"/>
              </a:ext>
            </a:extLst>
          </p:cNvPr>
          <p:cNvSpPr/>
          <p:nvPr/>
        </p:nvSpPr>
        <p:spPr>
          <a:xfrm>
            <a:off x="3568011" y="4566583"/>
            <a:ext cx="1317356" cy="123308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8CDC88-024D-7E77-7C6A-03457C196C45}"/>
              </a:ext>
            </a:extLst>
          </p:cNvPr>
          <p:cNvSpPr/>
          <p:nvPr/>
        </p:nvSpPr>
        <p:spPr>
          <a:xfrm>
            <a:off x="308188" y="1372370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421DD8-AD01-C11D-BB4A-92E5337D088F}"/>
              </a:ext>
            </a:extLst>
          </p:cNvPr>
          <p:cNvSpPr/>
          <p:nvPr/>
        </p:nvSpPr>
        <p:spPr>
          <a:xfrm>
            <a:off x="308188" y="1204942"/>
            <a:ext cx="28232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181776">
                    <a:alpha val="13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 Quick 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BFDAC1-F35B-2827-3C1E-0AB37150F3B2}"/>
              </a:ext>
            </a:extLst>
          </p:cNvPr>
          <p:cNvSpPr/>
          <p:nvPr/>
        </p:nvSpPr>
        <p:spPr>
          <a:xfrm>
            <a:off x="137989" y="4305964"/>
            <a:ext cx="3648499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181776">
                    <a:alpha val="13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 </a:t>
            </a:r>
            <a:r>
              <a:rPr lang="en-US" sz="5400" dirty="0">
                <a:ln w="0"/>
                <a:solidFill>
                  <a:srgbClr val="181776">
                    <a:alpha val="13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</a:t>
            </a:r>
          </a:p>
          <a:p>
            <a:pPr algn="ctr"/>
            <a:r>
              <a:rPr lang="en-US" sz="5400" dirty="0">
                <a:ln w="0"/>
                <a:solidFill>
                  <a:srgbClr val="181776">
                    <a:alpha val="13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visualization</a:t>
            </a:r>
            <a:endParaRPr lang="en-US" sz="5400" b="0" cap="none" spc="0" dirty="0">
              <a:ln w="0"/>
              <a:solidFill>
                <a:srgbClr val="181776">
                  <a:alpha val="13000"/>
                </a:srgb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35623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dplyr</a:t>
            </a:r>
            <a:r>
              <a:rPr lang="en-US" dirty="0"/>
              <a:t>: 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E22D3A-33D0-1BDF-C325-20E3BE8404A8}"/>
              </a:ext>
            </a:extLst>
          </p:cNvPr>
          <p:cNvSpPr txBox="1"/>
          <p:nvPr/>
        </p:nvSpPr>
        <p:spPr>
          <a:xfrm>
            <a:off x="1026057" y="1801639"/>
            <a:ext cx="1022571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Analysts spend a lot of time manipulating and summarizing data</a:t>
            </a:r>
          </a:p>
          <a:p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Base R provides many functions for this, but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/>
              <a:t>the syntax is sometimes overly verbose or ugly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/>
              <a:t>the functions can be slow for large data sets</a:t>
            </a:r>
          </a:p>
          <a:p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err="1"/>
              <a:t>dplyr</a:t>
            </a:r>
            <a:r>
              <a:rPr lang="en-US" sz="2800" dirty="0"/>
              <a:t> exists to make data manipulation code easier to read and faster</a:t>
            </a:r>
          </a:p>
        </p:txBody>
      </p:sp>
      <p:pic>
        <p:nvPicPr>
          <p:cNvPr id="5" name="Picture 2" descr="A Grammar of Data Manipulation • dplyr">
            <a:extLst>
              <a:ext uri="{FF2B5EF4-FFF2-40B4-BE49-F238E27FC236}">
                <a16:creationId xmlns:a16="http://schemas.microsoft.com/office/drawing/2014/main" id="{BF705B03-53AB-AE01-DCAC-74E17813B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6386" y="355108"/>
            <a:ext cx="1455382" cy="1679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390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load </a:t>
            </a:r>
            <a:r>
              <a:rPr lang="en-US" dirty="0" err="1"/>
              <a:t>dplyr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1BC9E-8F8E-AE8E-F930-1C377E7740B4}"/>
              </a:ext>
            </a:extLst>
          </p:cNvPr>
          <p:cNvSpPr txBox="1"/>
          <p:nvPr/>
        </p:nvSpPr>
        <p:spPr>
          <a:xfrm>
            <a:off x="1548143" y="1738265"/>
            <a:ext cx="782219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Either use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tidyverse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800" dirty="0"/>
          </a:p>
          <a:p>
            <a:r>
              <a:rPr lang="en-US" sz="2800" dirty="0"/>
              <a:t>Or, for now: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dplyr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/>
              <a:t>Let’s test it out with some data…</a:t>
            </a:r>
          </a:p>
        </p:txBody>
      </p:sp>
      <p:pic>
        <p:nvPicPr>
          <p:cNvPr id="4" name="Picture 2" descr="A Grammar of Data Manipulation • dplyr">
            <a:extLst>
              <a:ext uri="{FF2B5EF4-FFF2-40B4-BE49-F238E27FC236}">
                <a16:creationId xmlns:a16="http://schemas.microsoft.com/office/drawing/2014/main" id="{939C52D2-16C9-D310-B34C-7083885AF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6386" y="355108"/>
            <a:ext cx="1455382" cy="1679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109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Sample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1BC9E-8F8E-AE8E-F930-1C377E7740B4}"/>
              </a:ext>
            </a:extLst>
          </p:cNvPr>
          <p:cNvSpPr txBox="1"/>
          <p:nvPr/>
        </p:nvSpPr>
        <p:spPr>
          <a:xfrm>
            <a:off x="1548142" y="1738265"/>
            <a:ext cx="871173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We will be using a data set containing all out-bound flights from NYC in 2013</a:t>
            </a:r>
          </a:p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# Data come to us from an R package</a:t>
            </a:r>
          </a:p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(“nycflights13”)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library(nycflights13)</a:t>
            </a:r>
          </a:p>
        </p:txBody>
      </p:sp>
    </p:spTree>
    <p:extLst>
      <p:ext uri="{BB962C8B-B14F-4D97-AF65-F5344CB8AC3E}">
        <p14:creationId xmlns:p14="http://schemas.microsoft.com/office/powerpoint/2010/main" val="2259401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Sample data: flights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59C86A0-AA48-6DB9-0A38-31268D0B9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766" y="1219200"/>
            <a:ext cx="7371043" cy="458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7F3C08-F35B-3685-8072-7F37B9F445D0}"/>
              </a:ext>
            </a:extLst>
          </p:cNvPr>
          <p:cNvSpPr txBox="1"/>
          <p:nvPr/>
        </p:nvSpPr>
        <p:spPr>
          <a:xfrm>
            <a:off x="179294" y="1219200"/>
            <a:ext cx="43030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year, month, day </a:t>
            </a:r>
            <a:r>
              <a:rPr lang="en-US" sz="2400" dirty="0"/>
              <a:t>– time of departure</a:t>
            </a:r>
          </a:p>
          <a:p>
            <a:endParaRPr lang="en-US" sz="2400" dirty="0"/>
          </a:p>
          <a:p>
            <a:r>
              <a:rPr lang="en-US" sz="2400" b="1" dirty="0" err="1"/>
              <a:t>dep_time</a:t>
            </a:r>
            <a:r>
              <a:rPr lang="en-US" sz="2400" b="1" dirty="0"/>
              <a:t>, </a:t>
            </a:r>
            <a:r>
              <a:rPr lang="en-US" sz="2400" b="1" dirty="0" err="1"/>
              <a:t>arr_time</a:t>
            </a:r>
            <a:r>
              <a:rPr lang="en-US" sz="2400" b="1" dirty="0"/>
              <a:t> </a:t>
            </a:r>
            <a:r>
              <a:rPr lang="en-US" sz="2400" dirty="0"/>
              <a:t>– actual departures and arrivals</a:t>
            </a:r>
          </a:p>
          <a:p>
            <a:endParaRPr lang="en-US" sz="2400" dirty="0"/>
          </a:p>
          <a:p>
            <a:r>
              <a:rPr lang="en-US" sz="2400" b="1" dirty="0" err="1"/>
              <a:t>sched_dep_time</a:t>
            </a:r>
            <a:r>
              <a:rPr lang="en-US" sz="2400" b="1" dirty="0"/>
              <a:t>, </a:t>
            </a:r>
            <a:r>
              <a:rPr lang="en-US" sz="2400" b="1" dirty="0" err="1"/>
              <a:t>sched_arr_time</a:t>
            </a:r>
            <a:r>
              <a:rPr lang="en-US" sz="2400" b="1" dirty="0"/>
              <a:t> </a:t>
            </a:r>
            <a:r>
              <a:rPr lang="en-US" sz="2400" dirty="0"/>
              <a:t>– scheduled </a:t>
            </a:r>
            <a:r>
              <a:rPr lang="en-US" sz="2400" dirty="0" err="1"/>
              <a:t>departues</a:t>
            </a:r>
            <a:r>
              <a:rPr lang="en-US" sz="2400" dirty="0"/>
              <a:t> and arrivals</a:t>
            </a:r>
          </a:p>
          <a:p>
            <a:endParaRPr lang="en-US" sz="2400" dirty="0"/>
          </a:p>
          <a:p>
            <a:r>
              <a:rPr lang="en-US" sz="2400" b="1" dirty="0" err="1"/>
              <a:t>dep_delay</a:t>
            </a:r>
            <a:r>
              <a:rPr lang="en-US" sz="2400" b="1" dirty="0"/>
              <a:t>, </a:t>
            </a:r>
            <a:r>
              <a:rPr lang="en-US" sz="2400" b="1" dirty="0" err="1"/>
              <a:t>arr_delay</a:t>
            </a:r>
            <a:r>
              <a:rPr lang="en-US" sz="2400" b="1" dirty="0"/>
              <a:t> </a:t>
            </a:r>
            <a:r>
              <a:rPr lang="en-US" sz="2400" dirty="0"/>
              <a:t>– delays for departures and arrivals</a:t>
            </a:r>
          </a:p>
        </p:txBody>
      </p:sp>
    </p:spTree>
    <p:extLst>
      <p:ext uri="{BB962C8B-B14F-4D97-AF65-F5344CB8AC3E}">
        <p14:creationId xmlns:p14="http://schemas.microsoft.com/office/powerpoint/2010/main" val="8935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Sample data: flights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59C86A0-AA48-6DB9-0A38-31268D0B9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766" y="1219200"/>
            <a:ext cx="7371043" cy="458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7F3C08-F35B-3685-8072-7F37B9F445D0}"/>
              </a:ext>
            </a:extLst>
          </p:cNvPr>
          <p:cNvSpPr txBox="1"/>
          <p:nvPr/>
        </p:nvSpPr>
        <p:spPr>
          <a:xfrm>
            <a:off x="179294" y="1219200"/>
            <a:ext cx="430305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carrier</a:t>
            </a:r>
            <a:r>
              <a:rPr lang="en-US" sz="2400" dirty="0"/>
              <a:t> – carrier abbreviations</a:t>
            </a:r>
          </a:p>
          <a:p>
            <a:endParaRPr lang="en-US" sz="2400" dirty="0"/>
          </a:p>
          <a:p>
            <a:r>
              <a:rPr lang="en-US" sz="2400" b="1" dirty="0"/>
              <a:t>flight</a:t>
            </a:r>
            <a:r>
              <a:rPr lang="en-US" sz="2400" dirty="0"/>
              <a:t> – flight number</a:t>
            </a:r>
          </a:p>
          <a:p>
            <a:endParaRPr lang="en-US" sz="2400" dirty="0"/>
          </a:p>
          <a:p>
            <a:r>
              <a:rPr lang="en-US" sz="2400" b="1" dirty="0" err="1"/>
              <a:t>tailnum</a:t>
            </a:r>
            <a:r>
              <a:rPr lang="en-US" sz="2400" dirty="0"/>
              <a:t> – plane </a:t>
            </a:r>
            <a:r>
              <a:rPr lang="en-US" sz="2400" dirty="0" err="1"/>
              <a:t>tailnumber</a:t>
            </a:r>
            <a:r>
              <a:rPr lang="en-US" sz="2400" dirty="0"/>
              <a:t> </a:t>
            </a:r>
          </a:p>
          <a:p>
            <a:endParaRPr lang="en-US" sz="2400" dirty="0"/>
          </a:p>
          <a:p>
            <a:r>
              <a:rPr lang="en-US" sz="2400" b="1" dirty="0"/>
              <a:t>origin, </a:t>
            </a:r>
            <a:r>
              <a:rPr lang="en-US" sz="2400" b="1" dirty="0" err="1"/>
              <a:t>dest</a:t>
            </a:r>
            <a:r>
              <a:rPr lang="en-US" sz="2400" b="1" dirty="0"/>
              <a:t> </a:t>
            </a:r>
            <a:r>
              <a:rPr lang="en-US" sz="2400" dirty="0"/>
              <a:t>– origin and destination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619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flights 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 descr="Table&#10;&#10;Description automatically generated">
            <a:extLst>
              <a:ext uri="{FF2B5EF4-FFF2-40B4-BE49-F238E27FC236}">
                <a16:creationId xmlns:a16="http://schemas.microsoft.com/office/drawing/2014/main" id="{7B523FC5-2D80-0ACD-1769-6D13D4DE5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07" y="1725251"/>
            <a:ext cx="10804291" cy="36072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B65493-50E0-FE64-9F2A-E33D871F1A40}"/>
              </a:ext>
            </a:extLst>
          </p:cNvPr>
          <p:cNvSpPr txBox="1"/>
          <p:nvPr/>
        </p:nvSpPr>
        <p:spPr>
          <a:xfrm>
            <a:off x="873406" y="2582925"/>
            <a:ext cx="10804291" cy="284261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75A9C8-B947-3BFD-9C16-71586C108B4B}"/>
              </a:ext>
            </a:extLst>
          </p:cNvPr>
          <p:cNvSpPr txBox="1"/>
          <p:nvPr/>
        </p:nvSpPr>
        <p:spPr>
          <a:xfrm>
            <a:off x="3722512" y="2187195"/>
            <a:ext cx="1422926" cy="3607239"/>
          </a:xfrm>
          <a:prstGeom prst="rect">
            <a:avLst/>
          </a:prstGeom>
          <a:noFill/>
          <a:ln w="28575">
            <a:solidFill>
              <a:srgbClr val="DEC80F"/>
            </a:solidFill>
          </a:ln>
        </p:spPr>
        <p:txBody>
          <a:bodyPr wrap="square">
            <a:spAutoFit/>
          </a:bodyPr>
          <a:lstStyle/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474EC5-5EB8-D1E1-2A90-E45632112EAE}"/>
              </a:ext>
            </a:extLst>
          </p:cNvPr>
          <p:cNvSpPr txBox="1"/>
          <p:nvPr/>
        </p:nvSpPr>
        <p:spPr>
          <a:xfrm>
            <a:off x="4787002" y="1157924"/>
            <a:ext cx="29770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View(flights)</a:t>
            </a:r>
          </a:p>
        </p:txBody>
      </p:sp>
    </p:spTree>
    <p:extLst>
      <p:ext uri="{BB962C8B-B14F-4D97-AF65-F5344CB8AC3E}">
        <p14:creationId xmlns:p14="http://schemas.microsoft.com/office/powerpoint/2010/main" val="1791858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</a:t>
            </a:r>
            <a:r>
              <a:rPr lang="en-US" dirty="0" err="1"/>
              <a:t>dplyr</a:t>
            </a:r>
            <a:r>
              <a:rPr lang="en-US" dirty="0"/>
              <a:t> verbs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02F595-F940-36EA-2458-9CF428C3C919}"/>
              </a:ext>
            </a:extLst>
          </p:cNvPr>
          <p:cNvSpPr txBox="1"/>
          <p:nvPr/>
        </p:nvSpPr>
        <p:spPr>
          <a:xfrm>
            <a:off x="1134701" y="1398263"/>
            <a:ext cx="992259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Most of </a:t>
            </a:r>
            <a:r>
              <a:rPr lang="en-US" sz="2800" dirty="0" err="1"/>
              <a:t>dplyr</a:t>
            </a:r>
            <a:r>
              <a:rPr lang="en-US" sz="2800" dirty="0"/>
              <a:t> consists in five (or six) “verbs” that solve common data manipulation challenges: </a:t>
            </a:r>
          </a:p>
          <a:p>
            <a:endParaRPr lang="en-US" dirty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filter() </a:t>
            </a:r>
            <a:r>
              <a:rPr lang="en-US" sz="2800" dirty="0"/>
              <a:t>– keep rows matching desired properties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select() </a:t>
            </a:r>
            <a:r>
              <a:rPr lang="en-US" sz="2800" dirty="0"/>
              <a:t>– choose which columns you want to extract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arrange() </a:t>
            </a:r>
            <a:r>
              <a:rPr lang="en-US" sz="2800" dirty="0"/>
              <a:t>– sort rows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mutate() </a:t>
            </a:r>
            <a:r>
              <a:rPr lang="en-US" sz="2800" dirty="0"/>
              <a:t>– create new columns (new variables)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summarize() </a:t>
            </a:r>
            <a:r>
              <a:rPr lang="en-US" sz="2800" dirty="0"/>
              <a:t>– collapse rows into summaries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800" dirty="0"/>
              <a:t>– operate on subsets of rows at a time</a:t>
            </a:r>
          </a:p>
        </p:txBody>
      </p:sp>
    </p:spTree>
    <p:extLst>
      <p:ext uri="{BB962C8B-B14F-4D97-AF65-F5344CB8AC3E}">
        <p14:creationId xmlns:p14="http://schemas.microsoft.com/office/powerpoint/2010/main" val="3878426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288" y="87880"/>
            <a:ext cx="9144000" cy="864092"/>
          </a:xfrm>
        </p:spPr>
        <p:txBody>
          <a:bodyPr/>
          <a:lstStyle/>
          <a:p>
            <a:r>
              <a:rPr lang="en-US" dirty="0"/>
              <a:t>Basic </a:t>
            </a:r>
            <a:r>
              <a:rPr lang="en-US" dirty="0" err="1"/>
              <a:t>dplyr</a:t>
            </a:r>
            <a:r>
              <a:rPr lang="en-US" dirty="0"/>
              <a:t> verbs: pictorially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 descr="Chart&#10;&#10;Description automatically generated with low confidence">
            <a:extLst>
              <a:ext uri="{FF2B5EF4-FFF2-40B4-BE49-F238E27FC236}">
                <a16:creationId xmlns:a16="http://schemas.microsoft.com/office/drawing/2014/main" id="{8222EC0E-AD91-4A0D-967D-4BF819FFB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93" y="1431952"/>
            <a:ext cx="2923141" cy="1911283"/>
          </a:xfrm>
          <a:prstGeom prst="rect">
            <a:avLst/>
          </a:prstGeom>
        </p:spPr>
      </p:pic>
      <p:pic>
        <p:nvPicPr>
          <p:cNvPr id="6" name="Picture 5" descr="A picture containing shape&#10;&#10;Description automatically generated">
            <a:extLst>
              <a:ext uri="{FF2B5EF4-FFF2-40B4-BE49-F238E27FC236}">
                <a16:creationId xmlns:a16="http://schemas.microsoft.com/office/drawing/2014/main" id="{ECCA5AA9-32C2-0ABF-9D70-2F87C79FE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481" y="1324462"/>
            <a:ext cx="2596959" cy="1919815"/>
          </a:xfrm>
          <a:prstGeom prst="rect">
            <a:avLst/>
          </a:prstGeom>
        </p:spPr>
      </p:pic>
      <p:pic>
        <p:nvPicPr>
          <p:cNvPr id="7" name="Picture 6" descr="A picture containing treemap chart&#10;&#10;Description automatically generated">
            <a:extLst>
              <a:ext uri="{FF2B5EF4-FFF2-40B4-BE49-F238E27FC236}">
                <a16:creationId xmlns:a16="http://schemas.microsoft.com/office/drawing/2014/main" id="{F9753A4F-77B1-C5B7-8445-A321008A6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1717" y="1324462"/>
            <a:ext cx="2700041" cy="1812885"/>
          </a:xfrm>
          <a:prstGeom prst="rect">
            <a:avLst/>
          </a:prstGeom>
        </p:spPr>
      </p:pic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06904563-2368-EABC-40B8-16283D1333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411" y="4080492"/>
            <a:ext cx="3585165" cy="1725695"/>
          </a:xfrm>
          <a:prstGeom prst="rect">
            <a:avLst/>
          </a:prstGeom>
        </p:spPr>
      </p:pic>
      <p:pic>
        <p:nvPicPr>
          <p:cNvPr id="9" name="Picture 8" descr="A picture containing shape&#10;&#10;Description automatically generated">
            <a:extLst>
              <a:ext uri="{FF2B5EF4-FFF2-40B4-BE49-F238E27FC236}">
                <a16:creationId xmlns:a16="http://schemas.microsoft.com/office/drawing/2014/main" id="{4FEF7D4C-BB4F-C313-7D64-6ADFDE1EA5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393" y="4041798"/>
            <a:ext cx="3244022" cy="17608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C3E8B4-F66E-2D8D-B3C8-68380649F565}"/>
              </a:ext>
            </a:extLst>
          </p:cNvPr>
          <p:cNvSpPr txBox="1"/>
          <p:nvPr/>
        </p:nvSpPr>
        <p:spPr>
          <a:xfrm>
            <a:off x="346080" y="96460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filter()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FE7EBC-52BC-04CB-29EE-B6C2963E834E}"/>
              </a:ext>
            </a:extLst>
          </p:cNvPr>
          <p:cNvSpPr txBox="1"/>
          <p:nvPr/>
        </p:nvSpPr>
        <p:spPr>
          <a:xfrm>
            <a:off x="4065753" y="916288"/>
            <a:ext cx="624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select()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9106CF-F8D1-2110-2338-4609C639534B}"/>
              </a:ext>
            </a:extLst>
          </p:cNvPr>
          <p:cNvSpPr txBox="1"/>
          <p:nvPr/>
        </p:nvSpPr>
        <p:spPr>
          <a:xfrm>
            <a:off x="7563859" y="918621"/>
            <a:ext cx="63520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arrange()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D06235-6DF8-9ECA-18C2-EB4C7BB311E8}"/>
              </a:ext>
            </a:extLst>
          </p:cNvPr>
          <p:cNvSpPr txBox="1"/>
          <p:nvPr/>
        </p:nvSpPr>
        <p:spPr>
          <a:xfrm>
            <a:off x="4442491" y="3621437"/>
            <a:ext cx="63520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mutate()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A01CFB-89FA-AEF7-51C1-8B11F4745AF4}"/>
              </a:ext>
            </a:extLst>
          </p:cNvPr>
          <p:cNvSpPr txBox="1"/>
          <p:nvPr/>
        </p:nvSpPr>
        <p:spPr>
          <a:xfrm>
            <a:off x="398399" y="3628070"/>
            <a:ext cx="63520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summarize()</a:t>
            </a:r>
            <a:endParaRPr lang="en-US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083181-F0E3-7E41-9083-047EA8C16DE2}"/>
              </a:ext>
            </a:extLst>
          </p:cNvPr>
          <p:cNvSpPr txBox="1"/>
          <p:nvPr/>
        </p:nvSpPr>
        <p:spPr>
          <a:xfrm>
            <a:off x="8332387" y="4250806"/>
            <a:ext cx="63520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sz="2800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C337260-E2A2-72AD-B7A2-68E56F6E99EA}"/>
              </a:ext>
            </a:extLst>
          </p:cNvPr>
          <p:cNvSpPr/>
          <p:nvPr/>
        </p:nvSpPr>
        <p:spPr>
          <a:xfrm>
            <a:off x="182158" y="1014795"/>
            <a:ext cx="3119104" cy="2303785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174C545-1B1C-5F4B-1673-A99EFDCEC64F}"/>
              </a:ext>
            </a:extLst>
          </p:cNvPr>
          <p:cNvSpPr/>
          <p:nvPr/>
        </p:nvSpPr>
        <p:spPr>
          <a:xfrm>
            <a:off x="3914410" y="988208"/>
            <a:ext cx="2923141" cy="2328452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69DC0C3-54A7-D4A9-04B6-6DF7DC663EAA}"/>
              </a:ext>
            </a:extLst>
          </p:cNvPr>
          <p:cNvSpPr/>
          <p:nvPr/>
        </p:nvSpPr>
        <p:spPr>
          <a:xfrm>
            <a:off x="108319" y="3658005"/>
            <a:ext cx="3585165" cy="2303785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D9CDC62-F587-5070-4EF5-E18BEA91FFEC}"/>
              </a:ext>
            </a:extLst>
          </p:cNvPr>
          <p:cNvSpPr/>
          <p:nvPr/>
        </p:nvSpPr>
        <p:spPr>
          <a:xfrm>
            <a:off x="4002289" y="3647575"/>
            <a:ext cx="3767932" cy="2303785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94729FF-BD8F-0926-5052-C17CDD301C7F}"/>
              </a:ext>
            </a:extLst>
          </p:cNvPr>
          <p:cNvSpPr/>
          <p:nvPr/>
        </p:nvSpPr>
        <p:spPr>
          <a:xfrm>
            <a:off x="7263273" y="980427"/>
            <a:ext cx="3119104" cy="2303785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15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dplyr</a:t>
            </a:r>
            <a:r>
              <a:rPr lang="en-US" dirty="0"/>
              <a:t> verb properties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02F595-F940-36EA-2458-9CF428C3C919}"/>
              </a:ext>
            </a:extLst>
          </p:cNvPr>
          <p:cNvSpPr txBox="1"/>
          <p:nvPr/>
        </p:nvSpPr>
        <p:spPr>
          <a:xfrm>
            <a:off x="1029708" y="1371086"/>
            <a:ext cx="1062638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Always take a data source as the first argument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filter(data, …), select(data, …), arrange(data, …)</a:t>
            </a:r>
          </a:p>
          <a:p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Return a new data object (never updates/replaces the original)</a:t>
            </a:r>
          </a:p>
          <a:p>
            <a:endParaRPr lang="en-US" sz="2800" dirty="0"/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data2 = filter(data, …)</a:t>
            </a:r>
          </a:p>
          <a:p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Specify columns as unquoted strings (symbols)</a:t>
            </a:r>
          </a:p>
          <a:p>
            <a:endParaRPr lang="en-US" sz="2800" dirty="0"/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select(data, name), mutate(data, date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as.Date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(time))</a:t>
            </a:r>
          </a:p>
          <a:p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88162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Filtering rows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02F595-F940-36EA-2458-9CF428C3C919}"/>
              </a:ext>
            </a:extLst>
          </p:cNvPr>
          <p:cNvSpPr txBox="1"/>
          <p:nvPr/>
        </p:nvSpPr>
        <p:spPr>
          <a:xfrm>
            <a:off x="523719" y="1570393"/>
            <a:ext cx="111310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Find all flights to Detroit (DTW) in June (2013):</a:t>
            </a:r>
          </a:p>
          <a:p>
            <a:endParaRPr lang="en-US" sz="2800" dirty="0"/>
          </a:p>
          <a:p>
            <a:endParaRPr lang="en-US" sz="24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A259164-37FE-4547-B67C-B19114F447EA}"/>
              </a:ext>
            </a:extLst>
          </p:cNvPr>
          <p:cNvSpPr/>
          <p:nvPr/>
        </p:nvSpPr>
        <p:spPr>
          <a:xfrm>
            <a:off x="9441253" y="463297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20D048-561A-7223-4C0E-F9591A51404E}"/>
              </a:ext>
            </a:extLst>
          </p:cNvPr>
          <p:cNvSpPr/>
          <p:nvPr/>
        </p:nvSpPr>
        <p:spPr>
          <a:xfrm>
            <a:off x="9441253" y="295870"/>
            <a:ext cx="24534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filter()</a:t>
            </a:r>
          </a:p>
        </p:txBody>
      </p:sp>
      <p:pic>
        <p:nvPicPr>
          <p:cNvPr id="10" name="Picture 9" descr="Chart&#10;&#10;Description automatically generated with low confidence">
            <a:extLst>
              <a:ext uri="{FF2B5EF4-FFF2-40B4-BE49-F238E27FC236}">
                <a16:creationId xmlns:a16="http://schemas.microsoft.com/office/drawing/2014/main" id="{E0E6099C-8FAB-C72E-4860-323A6F443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747" y="2236969"/>
            <a:ext cx="52832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04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Filtering rows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02F595-F940-36EA-2458-9CF428C3C919}"/>
              </a:ext>
            </a:extLst>
          </p:cNvPr>
          <p:cNvSpPr txBox="1"/>
          <p:nvPr/>
        </p:nvSpPr>
        <p:spPr>
          <a:xfrm>
            <a:off x="530497" y="1590941"/>
            <a:ext cx="11131006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Find all flights to Detroit (DTW) in June (2013):</a:t>
            </a:r>
          </a:p>
          <a:p>
            <a:endParaRPr lang="en-US" sz="2800" dirty="0"/>
          </a:p>
          <a:p>
            <a:r>
              <a:rPr lang="en-US" sz="2800" dirty="0"/>
              <a:t>	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filter(flights,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== “DTW” &amp; month == 6)</a:t>
            </a:r>
          </a:p>
          <a:p>
            <a:endParaRPr lang="en-US" sz="2800" dirty="0"/>
          </a:p>
          <a:p>
            <a:r>
              <a:rPr lang="en-US" sz="2800" dirty="0"/>
              <a:t>Base R equivalent:</a:t>
            </a:r>
          </a:p>
          <a:p>
            <a:endParaRPr lang="en-US" sz="2800" dirty="0"/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flights[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flights$dest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== “DTW” &amp;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flights$month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== 6, ]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subset(flights,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== “DTW” &amp; month == 6)</a:t>
            </a:r>
          </a:p>
          <a:p>
            <a:endParaRPr lang="en-US" sz="24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A259164-37FE-4547-B67C-B19114F447EA}"/>
              </a:ext>
            </a:extLst>
          </p:cNvPr>
          <p:cNvSpPr/>
          <p:nvPr/>
        </p:nvSpPr>
        <p:spPr>
          <a:xfrm>
            <a:off x="9441253" y="463297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20D048-561A-7223-4C0E-F9591A51404E}"/>
              </a:ext>
            </a:extLst>
          </p:cNvPr>
          <p:cNvSpPr/>
          <p:nvPr/>
        </p:nvSpPr>
        <p:spPr>
          <a:xfrm>
            <a:off x="9441253" y="295870"/>
            <a:ext cx="24534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filter()</a:t>
            </a:r>
          </a:p>
        </p:txBody>
      </p:sp>
      <p:pic>
        <p:nvPicPr>
          <p:cNvPr id="8" name="Picture 7" descr="A yellow smiley face&#10;&#10;Description automatically generated with medium confidence">
            <a:extLst>
              <a:ext uri="{FF2B5EF4-FFF2-40B4-BE49-F238E27FC236}">
                <a16:creationId xmlns:a16="http://schemas.microsoft.com/office/drawing/2014/main" id="{7BC058C1-5E19-41E0-2ADF-CCEF895A6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24" y="4080575"/>
            <a:ext cx="9525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7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108"/>
            <a:ext cx="9144000" cy="1310730"/>
          </a:xfrm>
        </p:spPr>
        <p:txBody>
          <a:bodyPr/>
          <a:lstStyle/>
          <a:p>
            <a:r>
              <a:rPr lang="en-US" dirty="0"/>
              <a:t>How about your last connecting flight?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02F595-F940-36EA-2458-9CF428C3C919}"/>
              </a:ext>
            </a:extLst>
          </p:cNvPr>
          <p:cNvSpPr txBox="1"/>
          <p:nvPr/>
        </p:nvSpPr>
        <p:spPr>
          <a:xfrm>
            <a:off x="745402" y="1720840"/>
            <a:ext cx="1083398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cs typeface="Courier New" panose="02070309020205020404" pitchFamily="49" charset="0"/>
              </a:rPr>
              <a:t>Many of you flew here.</a:t>
            </a:r>
          </a:p>
          <a:p>
            <a:endParaRPr lang="en-US" sz="2800" dirty="0">
              <a:cs typeface="Courier New" panose="02070309020205020404" pitchFamily="49" charset="0"/>
            </a:endParaRPr>
          </a:p>
          <a:p>
            <a:r>
              <a:rPr lang="en-US" sz="2800" dirty="0">
                <a:cs typeface="Courier New" panose="02070309020205020404" pitchFamily="49" charset="0"/>
              </a:rPr>
              <a:t>How many flights came to your last connection from one of the NYC airports? 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filter(flights,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== “    “)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# ^ insert airport code here</a:t>
            </a:r>
          </a:p>
          <a:p>
            <a:endParaRPr lang="en-US" sz="2400" dirty="0"/>
          </a:p>
          <a:p>
            <a:r>
              <a:rPr lang="en-US" sz="2800" dirty="0"/>
              <a:t>Also, try these: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HLN (Honolulu, Hawaii)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SLC (Salt Lake City, Utah)</a:t>
            </a: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A93061F0-7E23-794D-BA2D-1C434121B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882" y="568105"/>
            <a:ext cx="8255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540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108"/>
            <a:ext cx="9144000" cy="731308"/>
          </a:xfrm>
        </p:spPr>
        <p:txBody>
          <a:bodyPr/>
          <a:lstStyle/>
          <a:p>
            <a:r>
              <a:rPr lang="en-US" dirty="0"/>
              <a:t>Comparisons when filtering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02F595-F940-36EA-2458-9CF428C3C919}"/>
              </a:ext>
            </a:extLst>
          </p:cNvPr>
          <p:cNvSpPr txBox="1"/>
          <p:nvPr/>
        </p:nvSpPr>
        <p:spPr>
          <a:xfrm>
            <a:off x="1134701" y="2571184"/>
            <a:ext cx="992259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==                           Equal                                      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month == 6</a:t>
            </a:r>
          </a:p>
          <a:p>
            <a:r>
              <a:rPr lang="en-US" sz="2400" dirty="0"/>
              <a:t>!=                            Not Equal                              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month != 6</a:t>
            </a:r>
          </a:p>
          <a:p>
            <a:r>
              <a:rPr lang="en-US" sz="2400" dirty="0"/>
              <a:t>&lt;, &lt;=                       Less than (or equal)</a:t>
            </a:r>
          </a:p>
          <a:p>
            <a:r>
              <a:rPr lang="en-US" sz="2400" dirty="0"/>
              <a:t>&gt;, &gt;=                       Greater than (or equal)</a:t>
            </a:r>
          </a:p>
          <a:p>
            <a:r>
              <a:rPr lang="en-US" sz="2400" dirty="0"/>
              <a:t>&amp;                             And                                        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month &gt; 2 &amp; month &lt; 7</a:t>
            </a:r>
          </a:p>
          <a:p>
            <a:r>
              <a:rPr lang="en-US" sz="2400" dirty="0"/>
              <a:t>|                              Or                                           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month &lt; 3 | month &gt; 6</a:t>
            </a:r>
          </a:p>
          <a:p>
            <a:r>
              <a:rPr lang="en-US" sz="2400" dirty="0"/>
              <a:t>!                               Not</a:t>
            </a:r>
          </a:p>
          <a:p>
            <a:r>
              <a:rPr lang="en-US" sz="2400" dirty="0"/>
              <a:t>%in%                       Matches one of                  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month %in% c(1, 12)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AD1DF5-E61C-4980-D413-621DF3C9B55E}"/>
              </a:ext>
            </a:extLst>
          </p:cNvPr>
          <p:cNvSpPr txBox="1"/>
          <p:nvPr/>
        </p:nvSpPr>
        <p:spPr>
          <a:xfrm>
            <a:off x="1641144" y="1238303"/>
            <a:ext cx="9026855" cy="83099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filter(flights, month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??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6)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# ^ insert comparison here</a:t>
            </a:r>
          </a:p>
        </p:txBody>
      </p:sp>
    </p:spTree>
    <p:extLst>
      <p:ext uri="{BB962C8B-B14F-4D97-AF65-F5344CB8AC3E}">
        <p14:creationId xmlns:p14="http://schemas.microsoft.com/office/powerpoint/2010/main" val="2918944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108"/>
            <a:ext cx="9144000" cy="731308"/>
          </a:xfrm>
        </p:spPr>
        <p:txBody>
          <a:bodyPr/>
          <a:lstStyle/>
          <a:p>
            <a:r>
              <a:rPr lang="en-US" dirty="0"/>
              <a:t>Selecting columns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67757DA-A885-FBBD-AE63-56A4EAFFAAF9}"/>
              </a:ext>
            </a:extLst>
          </p:cNvPr>
          <p:cNvSpPr/>
          <p:nvPr/>
        </p:nvSpPr>
        <p:spPr>
          <a:xfrm>
            <a:off x="9434514" y="398935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5E0A11-B104-A9FE-DCC4-C1A9E0BFB7E5}"/>
              </a:ext>
            </a:extLst>
          </p:cNvPr>
          <p:cNvSpPr/>
          <p:nvPr/>
        </p:nvSpPr>
        <p:spPr>
          <a:xfrm>
            <a:off x="9434514" y="229995"/>
            <a:ext cx="27574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select</a:t>
            </a:r>
            <a:r>
              <a:rPr lang="en-US" sz="5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635431" y="1692998"/>
            <a:ext cx="11003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Select specific columns, excluding columns, select column ranges</a:t>
            </a:r>
          </a:p>
        </p:txBody>
      </p:sp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id="{80B8A35F-E0FC-9535-36A4-9C2A4C477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183" y="2370906"/>
            <a:ext cx="44323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786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108"/>
            <a:ext cx="9144000" cy="731308"/>
          </a:xfrm>
        </p:spPr>
        <p:txBody>
          <a:bodyPr/>
          <a:lstStyle/>
          <a:p>
            <a:r>
              <a:rPr lang="en-US" dirty="0"/>
              <a:t>Selecting columns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67757DA-A885-FBBD-AE63-56A4EAFFAAF9}"/>
              </a:ext>
            </a:extLst>
          </p:cNvPr>
          <p:cNvSpPr/>
          <p:nvPr/>
        </p:nvSpPr>
        <p:spPr>
          <a:xfrm>
            <a:off x="9434514" y="398935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5E0A11-B104-A9FE-DCC4-C1A9E0BFB7E5}"/>
              </a:ext>
            </a:extLst>
          </p:cNvPr>
          <p:cNvSpPr/>
          <p:nvPr/>
        </p:nvSpPr>
        <p:spPr>
          <a:xfrm>
            <a:off x="9434514" y="229995"/>
            <a:ext cx="27574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select</a:t>
            </a:r>
            <a:r>
              <a:rPr lang="en-US" sz="5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635431" y="1692998"/>
            <a:ext cx="1100379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Select specific columns</a:t>
            </a:r>
          </a:p>
          <a:p>
            <a:r>
              <a:rPr lang="en-US" sz="2800" dirty="0"/>
              <a:t>	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select(flights,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dep_time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arr_time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carrier)</a:t>
            </a:r>
          </a:p>
          <a:p>
            <a:endParaRPr lang="en-US" sz="2800" dirty="0"/>
          </a:p>
          <a:p>
            <a:r>
              <a:rPr lang="en-US" sz="2800" dirty="0"/>
              <a:t>Excluding columns </a:t>
            </a:r>
          </a:p>
          <a:p>
            <a:r>
              <a:rPr lang="en-US" sz="2800" dirty="0"/>
              <a:t>	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select(flights, -year, -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tailnum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800" dirty="0"/>
          </a:p>
          <a:p>
            <a:r>
              <a:rPr lang="en-US" sz="2800" dirty="0"/>
              <a:t>Select column ranges</a:t>
            </a:r>
          </a:p>
          <a:p>
            <a:r>
              <a:rPr lang="en-US" sz="2800" dirty="0"/>
              <a:t>	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select(flights,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month:dep_delay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807646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108"/>
            <a:ext cx="9144000" cy="731308"/>
          </a:xfrm>
        </p:spPr>
        <p:txBody>
          <a:bodyPr/>
          <a:lstStyle/>
          <a:p>
            <a:r>
              <a:rPr lang="en-US" dirty="0"/>
              <a:t>Selecting columns… part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67757DA-A885-FBBD-AE63-56A4EAFFAAF9}"/>
              </a:ext>
            </a:extLst>
          </p:cNvPr>
          <p:cNvSpPr/>
          <p:nvPr/>
        </p:nvSpPr>
        <p:spPr>
          <a:xfrm>
            <a:off x="9434514" y="398935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5E0A11-B104-A9FE-DCC4-C1A9E0BFB7E5}"/>
              </a:ext>
            </a:extLst>
          </p:cNvPr>
          <p:cNvSpPr/>
          <p:nvPr/>
        </p:nvSpPr>
        <p:spPr>
          <a:xfrm>
            <a:off x="9434514" y="229995"/>
            <a:ext cx="27574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select</a:t>
            </a:r>
            <a:r>
              <a:rPr lang="en-US" sz="5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1493821" y="1692998"/>
            <a:ext cx="958746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select(flights,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starts_with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(“d”))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select(flights,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ends_with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(“time”))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select(flights, contains(“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”))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select(flights, -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starts_with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(“d”))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select(flights, flight, everything()))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dirty="0"/>
              <a:t>See “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?select</a:t>
            </a:r>
            <a:r>
              <a:rPr lang="en-US" sz="2800" dirty="0"/>
              <a:t>” for complete list of examples</a:t>
            </a:r>
          </a:p>
        </p:txBody>
      </p:sp>
    </p:spTree>
    <p:extLst>
      <p:ext uri="{BB962C8B-B14F-4D97-AF65-F5344CB8AC3E}">
        <p14:creationId xmlns:p14="http://schemas.microsoft.com/office/powerpoint/2010/main" val="29562645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3" y="382695"/>
            <a:ext cx="9144000" cy="731308"/>
          </a:xfrm>
        </p:spPr>
        <p:txBody>
          <a:bodyPr/>
          <a:lstStyle/>
          <a:p>
            <a:r>
              <a:rPr lang="en-US" sz="4400" dirty="0"/>
              <a:t>Can we combine select and filter?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67757DA-A885-FBBD-AE63-56A4EAFFAAF9}"/>
              </a:ext>
            </a:extLst>
          </p:cNvPr>
          <p:cNvSpPr/>
          <p:nvPr/>
        </p:nvSpPr>
        <p:spPr>
          <a:xfrm>
            <a:off x="9405039" y="1324558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5E0A11-B104-A9FE-DCC4-C1A9E0BFB7E5}"/>
              </a:ext>
            </a:extLst>
          </p:cNvPr>
          <p:cNvSpPr/>
          <p:nvPr/>
        </p:nvSpPr>
        <p:spPr>
          <a:xfrm>
            <a:off x="9415780" y="1138597"/>
            <a:ext cx="27574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select</a:t>
            </a:r>
            <a:r>
              <a:rPr lang="en-US" sz="5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895948" y="1908511"/>
            <a:ext cx="1089826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# Temporary variables</a:t>
            </a:r>
          </a:p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fl_dtw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filter(flights,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== “DTW”)</a:t>
            </a:r>
          </a:p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fl_dtw_sel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select(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fl_dtw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carrier)</a:t>
            </a:r>
          </a:p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# Nested calls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select(filter(flights,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== “DTW”), carrier)</a:t>
            </a:r>
          </a:p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These get messy, fast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8FE0539-34E7-76B4-9E17-17CEEDF7DD1C}"/>
              </a:ext>
            </a:extLst>
          </p:cNvPr>
          <p:cNvSpPr/>
          <p:nvPr/>
        </p:nvSpPr>
        <p:spPr>
          <a:xfrm>
            <a:off x="9604215" y="172139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9B5ABC-E22B-5C6C-7C2B-B5452B3ECD64}"/>
              </a:ext>
            </a:extLst>
          </p:cNvPr>
          <p:cNvSpPr/>
          <p:nvPr/>
        </p:nvSpPr>
        <p:spPr>
          <a:xfrm>
            <a:off x="9604215" y="4712"/>
            <a:ext cx="24534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filter()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28AF2-5F6A-2935-4308-EA2009743204}"/>
              </a:ext>
            </a:extLst>
          </p:cNvPr>
          <p:cNvSpPr txBox="1"/>
          <p:nvPr/>
        </p:nvSpPr>
        <p:spPr>
          <a:xfrm>
            <a:off x="10574751" y="648790"/>
            <a:ext cx="439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1123670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3" y="382695"/>
            <a:ext cx="9144000" cy="731308"/>
          </a:xfrm>
        </p:spPr>
        <p:txBody>
          <a:bodyPr/>
          <a:lstStyle/>
          <a:p>
            <a:r>
              <a:rPr lang="en-US" sz="4400" dirty="0"/>
              <a:t>Verb composition with pipes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895949" y="1908511"/>
            <a:ext cx="101183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flights %&gt;%</a:t>
            </a:r>
            <a:b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filter(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== “DTW”) %&gt;%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select(carrier)</a:t>
            </a:r>
          </a:p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%&gt;%</a:t>
            </a:r>
            <a:r>
              <a:rPr lang="en-US" sz="2800" dirty="0">
                <a:cs typeface="Courier New" panose="02070309020205020404" pitchFamily="49" charset="0"/>
              </a:rPr>
              <a:t> is the “pipe” operator (often read as “then”)</a:t>
            </a:r>
          </a:p>
          <a:p>
            <a:endParaRPr lang="en-US" sz="2800" dirty="0">
              <a:cs typeface="Courier New" panose="02070309020205020404" pitchFamily="49" charset="0"/>
            </a:endParaRPr>
          </a:p>
          <a:p>
            <a:r>
              <a:rPr lang="en-US" sz="2800" dirty="0">
                <a:cs typeface="Courier New" panose="02070309020205020404" pitchFamily="49" charset="0"/>
              </a:rPr>
              <a:t>Keyboard shortcut </a:t>
            </a:r>
            <a:r>
              <a:rPr lang="en-US" sz="2800" dirty="0" err="1">
                <a:cs typeface="Courier New" panose="02070309020205020404" pitchFamily="49" charset="0"/>
              </a:rPr>
              <a:t>cntr</a:t>
            </a:r>
            <a:r>
              <a:rPr lang="en-US" sz="2800" dirty="0">
                <a:cs typeface="Courier New" panose="02070309020205020404" pitchFamily="49" charset="0"/>
              </a:rPr>
              <a:t>-shift-M (win).  </a:t>
            </a:r>
            <a:r>
              <a:rPr lang="en-US" sz="2800" dirty="0" err="1">
                <a:cs typeface="Courier New" panose="02070309020205020404" pitchFamily="49" charset="0"/>
              </a:rPr>
              <a:t>Cmd</a:t>
            </a:r>
            <a:r>
              <a:rPr lang="en-US" sz="2800" dirty="0">
                <a:cs typeface="Courier New" panose="02070309020205020404" pitchFamily="49" charset="0"/>
              </a:rPr>
              <a:t>-shift-M (mac)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9252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%&gt;%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D6D31D1-2E3D-A7F9-BEB3-4E7BCA1A79B6}"/>
              </a:ext>
            </a:extLst>
          </p:cNvPr>
          <p:cNvSpPr/>
          <p:nvPr/>
        </p:nvSpPr>
        <p:spPr>
          <a:xfrm>
            <a:off x="7007173" y="1696809"/>
            <a:ext cx="5093882" cy="164379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A8BD14-F270-49F9-A6AB-EA488C514F93}"/>
              </a:ext>
            </a:extLst>
          </p:cNvPr>
          <p:cNvSpPr txBox="1"/>
          <p:nvPr/>
        </p:nvSpPr>
        <p:spPr>
          <a:xfrm>
            <a:off x="7095710" y="1842778"/>
            <a:ext cx="500534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181776"/>
                </a:solidFill>
              </a:rPr>
              <a:t>flights data “then”</a:t>
            </a:r>
          </a:p>
          <a:p>
            <a:r>
              <a:rPr lang="en-US" sz="2800" dirty="0">
                <a:solidFill>
                  <a:srgbClr val="181776"/>
                </a:solidFill>
              </a:rPr>
              <a:t>  filter destination to DTW “then”</a:t>
            </a:r>
          </a:p>
          <a:p>
            <a:r>
              <a:rPr lang="en-US" sz="2800" dirty="0">
                <a:solidFill>
                  <a:srgbClr val="181776"/>
                </a:solidFill>
              </a:rPr>
              <a:t>  select the carrier variable</a:t>
            </a:r>
          </a:p>
        </p:txBody>
      </p:sp>
    </p:spTree>
    <p:extLst>
      <p:ext uri="{BB962C8B-B14F-4D97-AF65-F5344CB8AC3E}">
        <p14:creationId xmlns:p14="http://schemas.microsoft.com/office/powerpoint/2010/main" val="4107075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3" y="382695"/>
            <a:ext cx="9144000" cy="731308"/>
          </a:xfrm>
        </p:spPr>
        <p:txBody>
          <a:bodyPr/>
          <a:lstStyle/>
          <a:p>
            <a:r>
              <a:rPr lang="en-US" sz="4400" dirty="0"/>
              <a:t>Verb composition with pipes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646869" y="1674305"/>
            <a:ext cx="1089826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cs typeface="Courier New" panose="02070309020205020404" pitchFamily="49" charset="0"/>
              </a:rPr>
              <a:t>The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%&gt;%</a:t>
            </a:r>
            <a:r>
              <a:rPr lang="en-US" sz="2800" dirty="0">
                <a:cs typeface="Courier New" panose="02070309020205020404" pitchFamily="49" charset="0"/>
              </a:rPr>
              <a:t> operator passes the result from the left side of the first argument of the right side:</a:t>
            </a:r>
          </a:p>
          <a:p>
            <a:endParaRPr lang="en-US" sz="2800" dirty="0"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 %&gt;% x() %&gt;% y() %&gt;% z()      &lt;-&gt;       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z(y(x(a)))</a:t>
            </a:r>
          </a:p>
          <a:p>
            <a:endParaRPr lang="en-US" sz="2400" dirty="0">
              <a:cs typeface="Courier New" panose="02070309020205020404" pitchFamily="49" charset="0"/>
            </a:endParaRPr>
          </a:p>
          <a:p>
            <a:endParaRPr lang="en-US" sz="2400" dirty="0">
              <a:cs typeface="Courier New" panose="02070309020205020404" pitchFamily="49" charset="0"/>
            </a:endParaRPr>
          </a:p>
          <a:p>
            <a:endParaRPr lang="en-US" sz="2400" dirty="0">
              <a:cs typeface="Courier New" panose="02070309020205020404" pitchFamily="49" charset="0"/>
            </a:endParaRPr>
          </a:p>
          <a:p>
            <a:endParaRPr lang="en-US" sz="2400" dirty="0">
              <a:cs typeface="Courier New" panose="02070309020205020404" pitchFamily="49" charset="0"/>
            </a:endParaRPr>
          </a:p>
          <a:p>
            <a:endParaRPr lang="en-US" sz="2400" dirty="0">
              <a:cs typeface="Courier New" panose="02070309020205020404" pitchFamily="49" charset="0"/>
            </a:endParaRPr>
          </a:p>
          <a:p>
            <a:endParaRPr lang="en-US" sz="2400" dirty="0">
              <a:cs typeface="Courier New" panose="02070309020205020404" pitchFamily="49" charset="0"/>
            </a:endParaRPr>
          </a:p>
          <a:p>
            <a:r>
              <a:rPr lang="en-US" sz="2800" dirty="0">
                <a:cs typeface="Courier New" panose="02070309020205020404" pitchFamily="49" charset="0"/>
              </a:rPr>
              <a:t>Keyboard shortcut </a:t>
            </a:r>
            <a:r>
              <a:rPr lang="en-US" sz="2800" dirty="0" err="1">
                <a:cs typeface="Courier New" panose="02070309020205020404" pitchFamily="49" charset="0"/>
              </a:rPr>
              <a:t>cntr</a:t>
            </a:r>
            <a:r>
              <a:rPr lang="en-US" sz="2800" dirty="0">
                <a:cs typeface="Courier New" panose="02070309020205020404" pitchFamily="49" charset="0"/>
              </a:rPr>
              <a:t>-shift-M (win).  </a:t>
            </a:r>
            <a:r>
              <a:rPr lang="en-US" sz="2800" dirty="0" err="1">
                <a:cs typeface="Courier New" panose="02070309020205020404" pitchFamily="49" charset="0"/>
              </a:rPr>
              <a:t>Cmd</a:t>
            </a:r>
            <a:r>
              <a:rPr lang="en-US" sz="2800" dirty="0">
                <a:cs typeface="Courier New" panose="02070309020205020404" pitchFamily="49" charset="0"/>
              </a:rPr>
              <a:t>-shift-M (mac)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9252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%&gt;%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660723-11D7-2954-1BF6-E435D5B415AA}"/>
              </a:ext>
            </a:extLst>
          </p:cNvPr>
          <p:cNvSpPr txBox="1"/>
          <p:nvPr/>
        </p:nvSpPr>
        <p:spPr>
          <a:xfrm>
            <a:off x="154786" y="4008491"/>
            <a:ext cx="123463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 %&gt;% </a:t>
            </a:r>
          </a:p>
          <a:p>
            <a:r>
              <a:rPr lang="en-US" sz="2000" dirty="0"/>
              <a:t>   x() %&gt;% </a:t>
            </a:r>
          </a:p>
          <a:p>
            <a:r>
              <a:rPr lang="en-US" sz="2000" dirty="0"/>
              <a:t>   y() %&gt;%</a:t>
            </a:r>
          </a:p>
          <a:p>
            <a:r>
              <a:rPr lang="en-US" sz="2000" dirty="0"/>
              <a:t>   z()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2F07F07-AED6-244E-B77C-8654FC299770}"/>
              </a:ext>
            </a:extLst>
          </p:cNvPr>
          <p:cNvSpPr/>
          <p:nvPr/>
        </p:nvSpPr>
        <p:spPr>
          <a:xfrm>
            <a:off x="40701" y="3876858"/>
            <a:ext cx="1334963" cy="15047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8100">
                <a:solidFill>
                  <a:srgbClr val="181776"/>
                </a:solidFill>
              </a:ln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D1DEAA-0431-1B8D-BE2C-D22D5EF40244}"/>
              </a:ext>
            </a:extLst>
          </p:cNvPr>
          <p:cNvSpPr txBox="1"/>
          <p:nvPr/>
        </p:nvSpPr>
        <p:spPr>
          <a:xfrm>
            <a:off x="2920103" y="4110731"/>
            <a:ext cx="11849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x(a) %&gt;% </a:t>
            </a:r>
          </a:p>
          <a:p>
            <a:r>
              <a:rPr lang="en-US" sz="2000" dirty="0"/>
              <a:t>   y() %&gt;%</a:t>
            </a:r>
          </a:p>
          <a:p>
            <a:r>
              <a:rPr lang="en-US" sz="2000" dirty="0"/>
              <a:t>   z()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43F6AEC-771E-864E-D33F-725564A8DCC0}"/>
              </a:ext>
            </a:extLst>
          </p:cNvPr>
          <p:cNvSpPr/>
          <p:nvPr/>
        </p:nvSpPr>
        <p:spPr>
          <a:xfrm>
            <a:off x="2854842" y="3854370"/>
            <a:ext cx="1334963" cy="15047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8100">
                <a:solidFill>
                  <a:srgbClr val="181776"/>
                </a:solidFill>
              </a:ln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1E4FA4-5890-FF9A-298C-C7451111C67C}"/>
              </a:ext>
            </a:extLst>
          </p:cNvPr>
          <p:cNvSpPr txBox="1"/>
          <p:nvPr/>
        </p:nvSpPr>
        <p:spPr>
          <a:xfrm>
            <a:off x="5664763" y="4283558"/>
            <a:ext cx="14574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y(x(a)) %&gt;% </a:t>
            </a:r>
          </a:p>
          <a:p>
            <a:r>
              <a:rPr lang="en-US" sz="2000" dirty="0"/>
              <a:t>   z()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61F457-1C2B-C565-E826-31BFAF1CDBA0}"/>
              </a:ext>
            </a:extLst>
          </p:cNvPr>
          <p:cNvSpPr/>
          <p:nvPr/>
        </p:nvSpPr>
        <p:spPr>
          <a:xfrm>
            <a:off x="5664763" y="3876858"/>
            <a:ext cx="1334963" cy="15047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8100">
                <a:solidFill>
                  <a:srgbClr val="181776"/>
                </a:solidFill>
              </a:ln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D303A3-89D6-EFE2-3CE3-5DE75ED8DC13}"/>
              </a:ext>
            </a:extLst>
          </p:cNvPr>
          <p:cNvSpPr txBox="1"/>
          <p:nvPr/>
        </p:nvSpPr>
        <p:spPr>
          <a:xfrm>
            <a:off x="8638981" y="4355508"/>
            <a:ext cx="1106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z(y(x(a)))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073F9CB-FD1D-D9F0-6FAC-7DC0F3A6B53F}"/>
              </a:ext>
            </a:extLst>
          </p:cNvPr>
          <p:cNvSpPr/>
          <p:nvPr/>
        </p:nvSpPr>
        <p:spPr>
          <a:xfrm>
            <a:off x="8537102" y="3854370"/>
            <a:ext cx="1334963" cy="15047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8100">
                <a:solidFill>
                  <a:srgbClr val="181776"/>
                </a:solidFill>
              </a:ln>
            </a:endParaRPr>
          </a:p>
        </p:txBody>
      </p:sp>
      <p:sp>
        <p:nvSpPr>
          <p:cNvPr id="21" name="Left-Right Arrow 20">
            <a:extLst>
              <a:ext uri="{FF2B5EF4-FFF2-40B4-BE49-F238E27FC236}">
                <a16:creationId xmlns:a16="http://schemas.microsoft.com/office/drawing/2014/main" id="{2AD79D4E-4823-987F-3FCF-3E52FEEDA4EE}"/>
              </a:ext>
            </a:extLst>
          </p:cNvPr>
          <p:cNvSpPr/>
          <p:nvPr/>
        </p:nvSpPr>
        <p:spPr>
          <a:xfrm>
            <a:off x="1510848" y="4314693"/>
            <a:ext cx="1216152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-Right Arrow 21">
            <a:extLst>
              <a:ext uri="{FF2B5EF4-FFF2-40B4-BE49-F238E27FC236}">
                <a16:creationId xmlns:a16="http://schemas.microsoft.com/office/drawing/2014/main" id="{BCAE6198-C7B6-5797-7534-167811826120}"/>
              </a:ext>
            </a:extLst>
          </p:cNvPr>
          <p:cNvSpPr/>
          <p:nvPr/>
        </p:nvSpPr>
        <p:spPr>
          <a:xfrm>
            <a:off x="4322379" y="4297858"/>
            <a:ext cx="1216152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-Right Arrow 22">
            <a:extLst>
              <a:ext uri="{FF2B5EF4-FFF2-40B4-BE49-F238E27FC236}">
                <a16:creationId xmlns:a16="http://schemas.microsoft.com/office/drawing/2014/main" id="{53BD9BDB-5583-7685-48EA-A566B902480E}"/>
              </a:ext>
            </a:extLst>
          </p:cNvPr>
          <p:cNvSpPr/>
          <p:nvPr/>
        </p:nvSpPr>
        <p:spPr>
          <a:xfrm>
            <a:off x="7188376" y="4297858"/>
            <a:ext cx="1216152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7987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3" y="382695"/>
            <a:ext cx="9144000" cy="731308"/>
          </a:xfrm>
        </p:spPr>
        <p:txBody>
          <a:bodyPr/>
          <a:lstStyle/>
          <a:p>
            <a:r>
              <a:rPr lang="en-US" sz="4400" dirty="0"/>
              <a:t>Try using chains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895949" y="1908511"/>
            <a:ext cx="1011834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round(exp(sin(0.5)), 2)</a:t>
            </a:r>
          </a:p>
          <a:p>
            <a:endParaRPr lang="en-US" sz="2800" dirty="0">
              <a:cs typeface="Courier New" panose="02070309020205020404" pitchFamily="49" charset="0"/>
            </a:endParaRPr>
          </a:p>
          <a:p>
            <a:r>
              <a:rPr lang="en-US" sz="2800" dirty="0">
                <a:cs typeface="Courier New" panose="02070309020205020404" pitchFamily="49" charset="0"/>
              </a:rPr>
              <a:t># find the answer using pipes and raise your hand to share the </a:t>
            </a:r>
          </a:p>
          <a:p>
            <a:r>
              <a:rPr lang="en-US" sz="2800" dirty="0">
                <a:cs typeface="Courier New" panose="02070309020205020404" pitchFamily="49" charset="0"/>
              </a:rPr>
              <a:t># answer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9252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%&gt;%</a:t>
            </a: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A4DE2359-248A-C189-7169-DCEAAF0F6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2367" y="202710"/>
            <a:ext cx="8255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498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3" y="382695"/>
            <a:ext cx="9144000" cy="731308"/>
          </a:xfrm>
        </p:spPr>
        <p:txBody>
          <a:bodyPr/>
          <a:lstStyle/>
          <a:p>
            <a:r>
              <a:rPr lang="en-US" sz="4400" dirty="0"/>
              <a:t>Sort (arrange)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294755" y="1652732"/>
            <a:ext cx="120835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cs typeface="Courier New" panose="02070309020205020404" pitchFamily="49" charset="0"/>
              </a:rPr>
              <a:t>Use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arrange() </a:t>
            </a:r>
            <a:r>
              <a:rPr lang="en-US" sz="3200" dirty="0">
                <a:cs typeface="Courier New" panose="02070309020205020404" pitchFamily="49" charset="0"/>
              </a:rPr>
              <a:t>to sort your rows:</a:t>
            </a:r>
          </a:p>
        </p:txBody>
      </p:sp>
      <p:pic>
        <p:nvPicPr>
          <p:cNvPr id="6" name="Picture 5" descr="A picture containing treemap chart&#10;&#10;Description automatically generated">
            <a:extLst>
              <a:ext uri="{FF2B5EF4-FFF2-40B4-BE49-F238E27FC236}">
                <a16:creationId xmlns:a16="http://schemas.microsoft.com/office/drawing/2014/main" id="{F205F080-F97D-06C4-1353-F0F23F00E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382" y="2237507"/>
            <a:ext cx="6223000" cy="41783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2A017FD4-5A1A-4651-8DFF-95C252A283D4}"/>
              </a:ext>
            </a:extLst>
          </p:cNvPr>
          <p:cNvSpPr/>
          <p:nvPr/>
        </p:nvSpPr>
        <p:spPr>
          <a:xfrm>
            <a:off x="8846239" y="364169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C77D58-3001-5410-91B2-99E1D817CDB6}"/>
              </a:ext>
            </a:extLst>
          </p:cNvPr>
          <p:cNvSpPr/>
          <p:nvPr/>
        </p:nvSpPr>
        <p:spPr>
          <a:xfrm>
            <a:off x="8846239" y="171243"/>
            <a:ext cx="32745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arrange()</a:t>
            </a:r>
          </a:p>
        </p:txBody>
      </p:sp>
    </p:spTree>
    <p:extLst>
      <p:ext uri="{BB962C8B-B14F-4D97-AF65-F5344CB8AC3E}">
        <p14:creationId xmlns:p14="http://schemas.microsoft.com/office/powerpoint/2010/main" val="34654911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3" y="382695"/>
            <a:ext cx="9144000" cy="731308"/>
          </a:xfrm>
        </p:spPr>
        <p:txBody>
          <a:bodyPr/>
          <a:lstStyle/>
          <a:p>
            <a:r>
              <a:rPr lang="en-US" sz="4400" dirty="0"/>
              <a:t>Sort (arrange)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108488" y="1908511"/>
            <a:ext cx="1208351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cs typeface="Courier New" panose="02070309020205020404" pitchFamily="49" charset="0"/>
              </a:rPr>
              <a:t>Use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arrange()</a:t>
            </a:r>
            <a:r>
              <a:rPr lang="en-US" sz="2800" dirty="0">
                <a:cs typeface="Courier New" panose="02070309020205020404" pitchFamily="49" charset="0"/>
              </a:rPr>
              <a:t> to sort your rows</a:t>
            </a:r>
          </a:p>
          <a:p>
            <a:r>
              <a:rPr lang="en-US" sz="2800" dirty="0">
                <a:cs typeface="Courier New" panose="02070309020205020404" pitchFamily="49" charset="0"/>
              </a:rPr>
              <a:t>	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flights %&gt;% arrange(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sched_dep_time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800" dirty="0">
                <a:cs typeface="Courier New" panose="02070309020205020404" pitchFamily="49" charset="0"/>
              </a:rPr>
              <a:t>		</a:t>
            </a:r>
            <a:r>
              <a:rPr lang="en-US" sz="2800" dirty="0">
                <a:solidFill>
                  <a:schemeClr val="tx2"/>
                </a:solidFill>
                <a:cs typeface="Courier New" panose="02070309020205020404" pitchFamily="49" charset="0"/>
              </a:rPr>
              <a:t># default sort order is least to greatest</a:t>
            </a:r>
          </a:p>
          <a:p>
            <a:endParaRPr lang="en-US" sz="2800" dirty="0">
              <a:solidFill>
                <a:schemeClr val="tx2"/>
              </a:solidFill>
              <a:cs typeface="Courier New" panose="02070309020205020404" pitchFamily="49" charset="0"/>
            </a:endParaRPr>
          </a:p>
          <a:p>
            <a:r>
              <a:rPr lang="en-US" sz="2800" dirty="0">
                <a:cs typeface="Courier New" panose="02070309020205020404" pitchFamily="49" charset="0"/>
              </a:rPr>
              <a:t>Use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desc()</a:t>
            </a:r>
            <a:r>
              <a:rPr lang="en-US" sz="2800" dirty="0">
                <a:cs typeface="Courier New" panose="02070309020205020404" pitchFamily="49" charset="0"/>
              </a:rPr>
              <a:t>to reverse the sort order of a column</a:t>
            </a:r>
          </a:p>
          <a:p>
            <a:r>
              <a:rPr lang="en-US" sz="2800" dirty="0">
                <a:cs typeface="Courier New" panose="02070309020205020404" pitchFamily="49" charset="0"/>
              </a:rPr>
              <a:t>	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flights %&gt;% arrange(month, desc(day))</a:t>
            </a:r>
          </a:p>
          <a:p>
            <a:endParaRPr lang="en-US" sz="2800" dirty="0">
              <a:cs typeface="Courier New" panose="02070309020205020404" pitchFamily="49" charset="0"/>
            </a:endParaRPr>
          </a:p>
          <a:p>
            <a:r>
              <a:rPr lang="en-US" sz="2800" dirty="0">
                <a:cs typeface="Courier New" panose="02070309020205020404" pitchFamily="49" charset="0"/>
              </a:rPr>
              <a:t>You can sort on functions of variables</a:t>
            </a:r>
          </a:p>
          <a:p>
            <a:r>
              <a:rPr lang="en-US" sz="2800" dirty="0">
                <a:cs typeface="Courier New" panose="02070309020205020404" pitchFamily="49" charset="0"/>
              </a:rPr>
              <a:t>	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flights %&gt;% arrange(desc(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dep_time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–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sched_dep_time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0606575-5230-C711-92B6-7074466159E5}"/>
              </a:ext>
            </a:extLst>
          </p:cNvPr>
          <p:cNvSpPr/>
          <p:nvPr/>
        </p:nvSpPr>
        <p:spPr>
          <a:xfrm>
            <a:off x="8846239" y="364169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3983E8-C0ED-7E9D-3A27-28AB04907476}"/>
              </a:ext>
            </a:extLst>
          </p:cNvPr>
          <p:cNvSpPr/>
          <p:nvPr/>
        </p:nvSpPr>
        <p:spPr>
          <a:xfrm>
            <a:off x="8846239" y="171243"/>
            <a:ext cx="32745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arrange()</a:t>
            </a:r>
          </a:p>
        </p:txBody>
      </p:sp>
    </p:spTree>
    <p:extLst>
      <p:ext uri="{BB962C8B-B14F-4D97-AF65-F5344CB8AC3E}">
        <p14:creationId xmlns:p14="http://schemas.microsoft.com/office/powerpoint/2010/main" val="5725810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394111" cy="731308"/>
          </a:xfrm>
        </p:spPr>
        <p:txBody>
          <a:bodyPr/>
          <a:lstStyle/>
          <a:p>
            <a:r>
              <a:rPr lang="en-US" sz="4400" dirty="0"/>
              <a:t>Final flight using the sequence of verbs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895949" y="1908511"/>
            <a:ext cx="101183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cs typeface="Courier New" panose="02070309020205020404" pitchFamily="49" charset="0"/>
              </a:rPr>
              <a:t>What is the last day that flight 4401 arrived in </a:t>
            </a:r>
          </a:p>
          <a:p>
            <a:r>
              <a:rPr lang="en-US" sz="2800" dirty="0">
                <a:cs typeface="Courier New" panose="02070309020205020404" pitchFamily="49" charset="0"/>
              </a:rPr>
              <a:t>Detroit (DTW)?</a:t>
            </a:r>
          </a:p>
          <a:p>
            <a:endParaRPr lang="en-US" sz="2800" dirty="0">
              <a:cs typeface="Courier New" panose="02070309020205020404" pitchFamily="49" charset="0"/>
            </a:endParaRPr>
          </a:p>
          <a:p>
            <a:r>
              <a:rPr lang="en-US" sz="2800" dirty="0">
                <a:cs typeface="Courier New" panose="02070309020205020404" pitchFamily="49" charset="0"/>
              </a:rPr>
              <a:t>	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flights %&gt;%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filter(  ) %&gt;%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arrange(  ) %&gt;%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select( 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2C4A9FAF-7633-62BF-FC78-0D0521471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2367" y="202710"/>
            <a:ext cx="8255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7723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3" y="382695"/>
            <a:ext cx="9144000" cy="731308"/>
          </a:xfrm>
        </p:spPr>
        <p:txBody>
          <a:bodyPr/>
          <a:lstStyle/>
          <a:p>
            <a:r>
              <a:rPr lang="en-US" sz="4400" dirty="0"/>
              <a:t>Create new variables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650928" y="1348353"/>
            <a:ext cx="1132926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mutate() </a:t>
            </a:r>
            <a:r>
              <a:rPr lang="en-US" sz="3200" dirty="0">
                <a:cs typeface="Courier New" panose="02070309020205020404" pitchFamily="49" charset="0"/>
              </a:rPr>
              <a:t>allows you to create columns using existing columns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dirty="0"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 descr="Shape&#10;&#10;Description automatically generated with low confidence">
            <a:extLst>
              <a:ext uri="{FF2B5EF4-FFF2-40B4-BE49-F238E27FC236}">
                <a16:creationId xmlns:a16="http://schemas.microsoft.com/office/drawing/2014/main" id="{4622E86B-10BE-6B74-ECD6-9F1190C56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400" y="2424798"/>
            <a:ext cx="6807200" cy="32766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3C5EED5-8E62-D548-8CB6-2F8141574ADA}"/>
              </a:ext>
            </a:extLst>
          </p:cNvPr>
          <p:cNvGrpSpPr/>
          <p:nvPr/>
        </p:nvGrpSpPr>
        <p:grpSpPr>
          <a:xfrm>
            <a:off x="7264400" y="382695"/>
            <a:ext cx="6096000" cy="923330"/>
            <a:chOff x="7095067" y="414661"/>
            <a:chExt cx="6096000" cy="92333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C67302E-B9E7-4E70-1021-515E785D72CA}"/>
                </a:ext>
              </a:extLst>
            </p:cNvPr>
            <p:cNvSpPr/>
            <p:nvPr/>
          </p:nvSpPr>
          <p:spPr>
            <a:xfrm>
              <a:off x="8579234" y="586391"/>
              <a:ext cx="565844" cy="588475"/>
            </a:xfrm>
            <a:prstGeom prst="ellipse">
              <a:avLst/>
            </a:prstGeom>
            <a:solidFill>
              <a:srgbClr val="18177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DB3ED19-0B97-ABFE-F03F-0224E61F0AB9}"/>
                </a:ext>
              </a:extLst>
            </p:cNvPr>
            <p:cNvSpPr txBox="1"/>
            <p:nvPr/>
          </p:nvSpPr>
          <p:spPr>
            <a:xfrm>
              <a:off x="7095067" y="414661"/>
              <a:ext cx="609600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rgbClr val="DEC80F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4</a:t>
              </a:r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5400" b="0" cap="none" spc="0" dirty="0">
                  <a:ln w="0"/>
                  <a:solidFill>
                    <a:srgbClr val="181776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mutate()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32264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3" y="382695"/>
            <a:ext cx="9144000" cy="731308"/>
          </a:xfrm>
        </p:spPr>
        <p:txBody>
          <a:bodyPr/>
          <a:lstStyle/>
          <a:p>
            <a:r>
              <a:rPr lang="en-US" sz="4400" dirty="0"/>
              <a:t>Create new variables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650928" y="1348353"/>
            <a:ext cx="1132926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cs typeface="Courier New" panose="02070309020205020404" pitchFamily="49" charset="0"/>
              </a:rPr>
              <a:t>Mutate allows you to create columns using existing values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flights %&gt;%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mutate(speed = distance/(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air_time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/60)) %&gt;%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arrange() %&gt;%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select()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cs typeface="Courier New" panose="02070309020205020404" pitchFamily="49" charset="0"/>
              </a:rPr>
              <a:t>Mutate works as long as the function is vectorized (vector in, vector out)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cs typeface="Courier New" panose="02070309020205020404" pitchFamily="49" charset="0"/>
            </a:endParaRPr>
          </a:p>
          <a:p>
            <a:r>
              <a:rPr lang="en-US" sz="2800" dirty="0">
                <a:cs typeface="Courier New" panose="02070309020205020404" pitchFamily="49" charset="0"/>
              </a:rPr>
              <a:t>Remember, changes are not saved to the flights data table. Be sure to save the results if you want to use them later:</a:t>
            </a:r>
          </a:p>
          <a:p>
            <a:endParaRPr lang="en-US" sz="2800" dirty="0">
              <a:cs typeface="Courier New" panose="02070309020205020404" pitchFamily="49" charset="0"/>
            </a:endParaRPr>
          </a:p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fl_speed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flights %&gt;% mutate()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3557903-F0AD-DC1A-84AB-2894CB60456A}"/>
              </a:ext>
            </a:extLst>
          </p:cNvPr>
          <p:cNvGrpSpPr/>
          <p:nvPr/>
        </p:nvGrpSpPr>
        <p:grpSpPr>
          <a:xfrm>
            <a:off x="7264400" y="382695"/>
            <a:ext cx="6096000" cy="923330"/>
            <a:chOff x="7095067" y="414661"/>
            <a:chExt cx="6096000" cy="92333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0C0B8EA-CA4F-7EFA-330F-9822C81A90E8}"/>
                </a:ext>
              </a:extLst>
            </p:cNvPr>
            <p:cNvSpPr/>
            <p:nvPr/>
          </p:nvSpPr>
          <p:spPr>
            <a:xfrm>
              <a:off x="8579234" y="586391"/>
              <a:ext cx="565844" cy="588475"/>
            </a:xfrm>
            <a:prstGeom prst="ellipse">
              <a:avLst/>
            </a:prstGeom>
            <a:solidFill>
              <a:srgbClr val="18177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346F7B4-EB49-6DB2-E130-46B3C641849E}"/>
                </a:ext>
              </a:extLst>
            </p:cNvPr>
            <p:cNvSpPr txBox="1"/>
            <p:nvPr/>
          </p:nvSpPr>
          <p:spPr>
            <a:xfrm>
              <a:off x="7095067" y="414661"/>
              <a:ext cx="609600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rgbClr val="DEC80F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4</a:t>
              </a:r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5400" b="0" cap="none" spc="0" dirty="0">
                  <a:ln w="0"/>
                  <a:solidFill>
                    <a:srgbClr val="181776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mutate()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23060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3" y="382695"/>
            <a:ext cx="9144000" cy="731308"/>
          </a:xfrm>
        </p:spPr>
        <p:txBody>
          <a:bodyPr/>
          <a:lstStyle/>
          <a:p>
            <a:r>
              <a:rPr lang="en-US" sz="4400" dirty="0"/>
              <a:t>Use new variables right away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600374" y="1665838"/>
            <a:ext cx="1099125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cs typeface="Courier New" panose="02070309020205020404" pitchFamily="49" charset="0"/>
              </a:rPr>
              <a:t>The arguments to mutate are run in the order they appear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flights %&gt;%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  mutate(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dist_km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distance * 1.61,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hours =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air_time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/ 60,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kph =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dist_km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/ hours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) %&gt;%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select(flight, kph)</a:t>
            </a:r>
          </a:p>
          <a:p>
            <a:endParaRPr lang="en-US" sz="2800" dirty="0">
              <a:cs typeface="Courier New" panose="02070309020205020404" pitchFamily="49" charset="0"/>
            </a:endParaRPr>
          </a:p>
          <a:p>
            <a:r>
              <a:rPr lang="en-US" sz="2800" dirty="0">
                <a:cs typeface="Courier New" panose="02070309020205020404" pitchFamily="49" charset="0"/>
              </a:rPr>
              <a:t>Be careful, you can overwrite existing variables without a warning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5648CD-56B2-D828-181C-A9C65F655D67}"/>
              </a:ext>
            </a:extLst>
          </p:cNvPr>
          <p:cNvGrpSpPr/>
          <p:nvPr/>
        </p:nvGrpSpPr>
        <p:grpSpPr>
          <a:xfrm>
            <a:off x="7264400" y="382695"/>
            <a:ext cx="6096000" cy="923330"/>
            <a:chOff x="7095067" y="414661"/>
            <a:chExt cx="6096000" cy="92333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042C918-1980-D651-2CA1-C916B9AD8E45}"/>
                </a:ext>
              </a:extLst>
            </p:cNvPr>
            <p:cNvSpPr/>
            <p:nvPr/>
          </p:nvSpPr>
          <p:spPr>
            <a:xfrm>
              <a:off x="8579234" y="586391"/>
              <a:ext cx="565844" cy="588475"/>
            </a:xfrm>
            <a:prstGeom prst="ellipse">
              <a:avLst/>
            </a:prstGeom>
            <a:solidFill>
              <a:srgbClr val="18177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EDB7B98-0D8D-91F7-5528-8BAC618EABB7}"/>
                </a:ext>
              </a:extLst>
            </p:cNvPr>
            <p:cNvSpPr txBox="1"/>
            <p:nvPr/>
          </p:nvSpPr>
          <p:spPr>
            <a:xfrm>
              <a:off x="7095067" y="414661"/>
              <a:ext cx="609600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rgbClr val="DEC80F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4</a:t>
              </a:r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5400" b="0" cap="none" spc="0" dirty="0">
                  <a:ln w="0"/>
                  <a:solidFill>
                    <a:srgbClr val="181776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mutate()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94261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3" y="382695"/>
            <a:ext cx="9144000" cy="731308"/>
          </a:xfrm>
        </p:spPr>
        <p:txBody>
          <a:bodyPr/>
          <a:lstStyle/>
          <a:p>
            <a:r>
              <a:rPr lang="en-US" sz="4400" dirty="0"/>
              <a:t>Summarize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543023" y="1665838"/>
            <a:ext cx="101183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cs typeface="Courier New" panose="02070309020205020404" pitchFamily="49" charset="0"/>
              </a:rPr>
              <a:t>You generally use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summarize() </a:t>
            </a:r>
            <a:r>
              <a:rPr lang="en-US" sz="2800" dirty="0">
                <a:cs typeface="Courier New" panose="02070309020205020404" pitchFamily="49" charset="0"/>
              </a:rPr>
              <a:t>to reduce the number of rows in your data by specifying summary functions for each of the columns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AC273F-B84F-9C16-7C8B-B4F449EA898A}"/>
              </a:ext>
            </a:extLst>
          </p:cNvPr>
          <p:cNvGrpSpPr/>
          <p:nvPr/>
        </p:nvGrpSpPr>
        <p:grpSpPr>
          <a:xfrm>
            <a:off x="7092217" y="402180"/>
            <a:ext cx="6096000" cy="923330"/>
            <a:chOff x="6753550" y="936517"/>
            <a:chExt cx="6096000" cy="92333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F21410E-837C-A117-3925-B6B96DC1169D}"/>
                </a:ext>
              </a:extLst>
            </p:cNvPr>
            <p:cNvSpPr/>
            <p:nvPr/>
          </p:nvSpPr>
          <p:spPr>
            <a:xfrm>
              <a:off x="7715634" y="1094404"/>
              <a:ext cx="565844" cy="588475"/>
            </a:xfrm>
            <a:prstGeom prst="ellipse">
              <a:avLst/>
            </a:prstGeom>
            <a:solidFill>
              <a:srgbClr val="18177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15DCE1A-C129-3456-5543-BFD8309F08D6}"/>
                </a:ext>
              </a:extLst>
            </p:cNvPr>
            <p:cNvSpPr txBox="1"/>
            <p:nvPr/>
          </p:nvSpPr>
          <p:spPr>
            <a:xfrm>
              <a:off x="6753550" y="936517"/>
              <a:ext cx="609600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rgbClr val="DEC80F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5</a:t>
              </a:r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5400" b="0" cap="none" spc="0" dirty="0">
                  <a:ln w="0"/>
                  <a:solidFill>
                    <a:srgbClr val="181776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summarize()</a:t>
              </a:r>
            </a:p>
          </p:txBody>
        </p:sp>
      </p:grpSp>
      <p:pic>
        <p:nvPicPr>
          <p:cNvPr id="6" name="Picture 5" descr="A picture containing shape&#10;&#10;Description automatically generated">
            <a:extLst>
              <a:ext uri="{FF2B5EF4-FFF2-40B4-BE49-F238E27FC236}">
                <a16:creationId xmlns:a16="http://schemas.microsoft.com/office/drawing/2014/main" id="{02C8EFFF-5996-8634-C716-FE3523633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382" y="2804694"/>
            <a:ext cx="6083300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2277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3" y="382695"/>
            <a:ext cx="9144000" cy="731308"/>
          </a:xfrm>
        </p:spPr>
        <p:txBody>
          <a:bodyPr/>
          <a:lstStyle/>
          <a:p>
            <a:r>
              <a:rPr lang="en-US" sz="4400" dirty="0"/>
              <a:t>Summarize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895948" y="1908510"/>
            <a:ext cx="1087695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cs typeface="Courier New" panose="02070309020205020404" pitchFamily="49" charset="0"/>
              </a:rPr>
              <a:t>You generally use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summarize() </a:t>
            </a:r>
            <a:r>
              <a:rPr lang="en-US" sz="2800" dirty="0">
                <a:cs typeface="Courier New" panose="02070309020205020404" pitchFamily="49" charset="0"/>
              </a:rPr>
              <a:t>to reduce the number of rows in your data by specifying summary functions for each of the columns </a:t>
            </a:r>
          </a:p>
          <a:p>
            <a:endParaRPr lang="en-US" sz="2800" dirty="0">
              <a:cs typeface="Courier New" panose="02070309020205020404" pitchFamily="49" charset="0"/>
            </a:endParaRP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flights %&gt;%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summarize(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avg_dist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mean(distance))</a:t>
            </a:r>
          </a:p>
          <a:p>
            <a:endParaRPr lang="en-US" sz="2800" dirty="0">
              <a:cs typeface="Courier New" panose="02070309020205020404" pitchFamily="49" charset="0"/>
            </a:endParaRPr>
          </a:p>
          <a:p>
            <a:r>
              <a:rPr lang="en-US" sz="2800" dirty="0">
                <a:cs typeface="Courier New" panose="02070309020205020404" pitchFamily="49" charset="0"/>
              </a:rPr>
              <a:t>Useful summary functions: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mean(), median(), var(),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(), min(), max(), first(), last(), n(),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n_distinct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AC273F-B84F-9C16-7C8B-B4F449EA898A}"/>
              </a:ext>
            </a:extLst>
          </p:cNvPr>
          <p:cNvGrpSpPr/>
          <p:nvPr/>
        </p:nvGrpSpPr>
        <p:grpSpPr>
          <a:xfrm>
            <a:off x="7092217" y="402180"/>
            <a:ext cx="6096000" cy="923330"/>
            <a:chOff x="6753550" y="936517"/>
            <a:chExt cx="6096000" cy="92333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F21410E-837C-A117-3925-B6B96DC1169D}"/>
                </a:ext>
              </a:extLst>
            </p:cNvPr>
            <p:cNvSpPr/>
            <p:nvPr/>
          </p:nvSpPr>
          <p:spPr>
            <a:xfrm>
              <a:off x="7715634" y="1094404"/>
              <a:ext cx="565844" cy="588475"/>
            </a:xfrm>
            <a:prstGeom prst="ellipse">
              <a:avLst/>
            </a:prstGeom>
            <a:solidFill>
              <a:srgbClr val="18177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15DCE1A-C129-3456-5543-BFD8309F08D6}"/>
                </a:ext>
              </a:extLst>
            </p:cNvPr>
            <p:cNvSpPr txBox="1"/>
            <p:nvPr/>
          </p:nvSpPr>
          <p:spPr>
            <a:xfrm>
              <a:off x="6753550" y="936517"/>
              <a:ext cx="609600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rgbClr val="DEC80F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5</a:t>
              </a:r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5400" b="0" cap="none" spc="0" dirty="0">
                  <a:ln w="0"/>
                  <a:solidFill>
                    <a:srgbClr val="181776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summarize()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66494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3" y="382695"/>
            <a:ext cx="9144000" cy="731308"/>
          </a:xfrm>
        </p:spPr>
        <p:txBody>
          <a:bodyPr/>
          <a:lstStyle/>
          <a:p>
            <a:r>
              <a:rPr lang="en-US" sz="4400" dirty="0"/>
              <a:t>Something’s missing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895948" y="1908511"/>
            <a:ext cx="112960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cs typeface="Courier New" panose="02070309020205020404" pitchFamily="49" charset="0"/>
              </a:rPr>
              <a:t>Why doesn’t this give a number?</a:t>
            </a:r>
          </a:p>
          <a:p>
            <a:endParaRPr lang="en-US" sz="2800" dirty="0">
              <a:cs typeface="Courier New" panose="02070309020205020404" pitchFamily="49" charset="0"/>
            </a:endParaRPr>
          </a:p>
          <a:p>
            <a:r>
              <a:rPr lang="en-US" sz="2800" dirty="0">
                <a:cs typeface="Courier New" panose="02070309020205020404" pitchFamily="49" charset="0"/>
              </a:rPr>
              <a:t>	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flights %&gt;%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summarize(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avg_arr_delay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mean(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arr_delay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endParaRPr lang="en-US" sz="2800" dirty="0">
              <a:cs typeface="Courier New" panose="02070309020205020404" pitchFamily="49" charset="0"/>
            </a:endParaRPr>
          </a:p>
          <a:p>
            <a:endParaRPr lang="en-US" sz="2800" dirty="0">
              <a:cs typeface="Courier New" panose="02070309020205020404" pitchFamily="49" charset="0"/>
            </a:endParaRPr>
          </a:p>
          <a:p>
            <a:endParaRPr lang="en-US" sz="2800" dirty="0">
              <a:cs typeface="Courier New" panose="02070309020205020404" pitchFamily="49" charset="0"/>
            </a:endParaRPr>
          </a:p>
          <a:p>
            <a:endParaRPr lang="en-US" sz="2800" dirty="0">
              <a:cs typeface="Courier New" panose="02070309020205020404" pitchFamily="49" charset="0"/>
            </a:endParaRPr>
          </a:p>
          <a:p>
            <a:r>
              <a:rPr lang="en-US" sz="2800" dirty="0">
                <a:cs typeface="Courier New" panose="02070309020205020404" pitchFamily="49" charset="0"/>
              </a:rPr>
              <a:t>R has a special missing value: NA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91A6A89-772D-DBF4-6630-0B35900432F8}"/>
              </a:ext>
            </a:extLst>
          </p:cNvPr>
          <p:cNvGrpSpPr/>
          <p:nvPr/>
        </p:nvGrpSpPr>
        <p:grpSpPr>
          <a:xfrm>
            <a:off x="7092217" y="402180"/>
            <a:ext cx="6096000" cy="923330"/>
            <a:chOff x="6753550" y="936517"/>
            <a:chExt cx="6096000" cy="92333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346E25E-1E9B-4EA5-6CE8-7BD9A571941D}"/>
                </a:ext>
              </a:extLst>
            </p:cNvPr>
            <p:cNvSpPr/>
            <p:nvPr/>
          </p:nvSpPr>
          <p:spPr>
            <a:xfrm>
              <a:off x="7715634" y="1094404"/>
              <a:ext cx="565844" cy="588475"/>
            </a:xfrm>
            <a:prstGeom prst="ellipse">
              <a:avLst/>
            </a:prstGeom>
            <a:solidFill>
              <a:srgbClr val="18177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5CC2DB-52C7-A09D-E779-EA8E3B2C66E1}"/>
                </a:ext>
              </a:extLst>
            </p:cNvPr>
            <p:cNvSpPr txBox="1"/>
            <p:nvPr/>
          </p:nvSpPr>
          <p:spPr>
            <a:xfrm>
              <a:off x="6753550" y="936517"/>
              <a:ext cx="609600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rgbClr val="DEC80F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5</a:t>
              </a:r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5400" b="0" cap="none" spc="0" dirty="0">
                  <a:ln w="0"/>
                  <a:solidFill>
                    <a:srgbClr val="181776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summarize()</a:t>
              </a:r>
            </a:p>
          </p:txBody>
        </p:sp>
      </p:grpSp>
      <p:pic>
        <p:nvPicPr>
          <p:cNvPr id="6" name="Picture 5" descr="Text&#10;&#10;Description automatically generated with medium confidence">
            <a:extLst>
              <a:ext uri="{FF2B5EF4-FFF2-40B4-BE49-F238E27FC236}">
                <a16:creationId xmlns:a16="http://schemas.microsoft.com/office/drawing/2014/main" id="{86589865-E645-D80F-9B0D-70C2199AC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39" y="3756031"/>
            <a:ext cx="3118935" cy="1617226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F07600F-37C4-36B1-E33A-EBF51A8ADACF}"/>
              </a:ext>
            </a:extLst>
          </p:cNvPr>
          <p:cNvSpPr/>
          <p:nvPr/>
        </p:nvSpPr>
        <p:spPr>
          <a:xfrm>
            <a:off x="1002118" y="3742744"/>
            <a:ext cx="3255556" cy="164379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106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3" y="382695"/>
            <a:ext cx="9144000" cy="731308"/>
          </a:xfrm>
        </p:spPr>
        <p:txBody>
          <a:bodyPr/>
          <a:lstStyle/>
          <a:p>
            <a:r>
              <a:rPr lang="en-US" sz="4400" dirty="0"/>
              <a:t>Example (base R)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895949" y="1908511"/>
            <a:ext cx="101183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cs typeface="Courier New" panose="02070309020205020404" pitchFamily="49" charset="0"/>
              </a:rPr>
              <a:t>Add the numbers 1 to 10</a:t>
            </a:r>
          </a:p>
          <a:p>
            <a:endParaRPr lang="en-US" sz="2400" dirty="0"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= 1:10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sum(x)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x[4] = NA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sum(x)</a:t>
            </a:r>
          </a:p>
          <a:p>
            <a:endParaRPr lang="en-US" sz="2400" dirty="0"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0184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3" y="382695"/>
            <a:ext cx="9144000" cy="731308"/>
          </a:xfrm>
        </p:spPr>
        <p:txBody>
          <a:bodyPr/>
          <a:lstStyle/>
          <a:p>
            <a:r>
              <a:rPr lang="en-US" sz="4400" dirty="0"/>
              <a:t>Example (base R)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937045" y="1775842"/>
            <a:ext cx="101183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cs typeface="Courier New" panose="02070309020205020404" pitchFamily="49" charset="0"/>
              </a:rPr>
              <a:t>Add the numbers 1 to 10</a:t>
            </a:r>
          </a:p>
          <a:p>
            <a:endParaRPr lang="en-US" sz="2400" dirty="0"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= 1:10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x[4] = NA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sum(x)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is.na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              # find missing values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sum(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is.na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(x))         # count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missings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sum(x,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na.rm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TRUE)  # ignore missing values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1376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3" y="382695"/>
            <a:ext cx="9144000" cy="731308"/>
          </a:xfrm>
        </p:spPr>
        <p:txBody>
          <a:bodyPr/>
          <a:lstStyle/>
          <a:p>
            <a:r>
              <a:rPr lang="en-US" sz="4400" dirty="0"/>
              <a:t>Average delay (for those with a delay)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245019" y="2035170"/>
            <a:ext cx="1324238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cs typeface="Courier New" panose="02070309020205020404" pitchFamily="49" charset="0"/>
              </a:rPr>
              <a:t>Filter out missing values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flights %&gt;%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  filter(!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is.na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arr_delay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)) %&gt;%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  summarize(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avg_arr_delay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mean(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arr_delay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endParaRPr lang="en-US" sz="2400" dirty="0">
              <a:cs typeface="Courier New" panose="02070309020205020404" pitchFamily="49" charset="0"/>
            </a:endParaRPr>
          </a:p>
          <a:p>
            <a:r>
              <a:rPr lang="en-US" sz="2800" dirty="0">
                <a:cs typeface="Courier New" panose="02070309020205020404" pitchFamily="49" charset="0"/>
              </a:rPr>
              <a:t>Ignore missing values in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mean()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flights %&gt;%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summarize(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avg_arr_delay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mean(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arr_delay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na.rm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=TRUE))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4AF5601-C239-6A2B-182B-4C070D84F0F1}"/>
              </a:ext>
            </a:extLst>
          </p:cNvPr>
          <p:cNvSpPr/>
          <p:nvPr/>
        </p:nvSpPr>
        <p:spPr>
          <a:xfrm>
            <a:off x="8839893" y="1356676"/>
            <a:ext cx="2966224" cy="1471961"/>
          </a:xfrm>
          <a:prstGeom prst="roundRect">
            <a:avLst/>
          </a:prstGeom>
          <a:solidFill>
            <a:srgbClr val="05CBF5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Recall that “!”</a:t>
            </a:r>
          </a:p>
          <a:p>
            <a:pPr algn="ctr"/>
            <a:r>
              <a:rPr lang="en-US" sz="3200" dirty="0"/>
              <a:t>means “not”</a:t>
            </a:r>
          </a:p>
        </p:txBody>
      </p:sp>
    </p:spTree>
    <p:extLst>
      <p:ext uri="{BB962C8B-B14F-4D97-AF65-F5344CB8AC3E}">
        <p14:creationId xmlns:p14="http://schemas.microsoft.com/office/powerpoint/2010/main" val="30756488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3" y="382695"/>
            <a:ext cx="9144000" cy="731308"/>
          </a:xfrm>
        </p:spPr>
        <p:txBody>
          <a:bodyPr/>
          <a:lstStyle/>
          <a:p>
            <a:r>
              <a:rPr lang="en-US" sz="4400" dirty="0"/>
              <a:t>Try your own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895949" y="1908511"/>
            <a:ext cx="1011834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cs typeface="Courier New" panose="02070309020205020404" pitchFamily="49" charset="0"/>
              </a:rPr>
              <a:t>Create one statement to calculate the minimum (min) and maximum (max) departure delay (</a:t>
            </a:r>
            <a:r>
              <a:rPr lang="en-US" sz="2800" dirty="0" err="1">
                <a:cs typeface="Courier New" panose="02070309020205020404" pitchFamily="49" charset="0"/>
              </a:rPr>
              <a:t>dep_delay</a:t>
            </a:r>
            <a:r>
              <a:rPr lang="en-US" sz="2800" dirty="0">
                <a:cs typeface="Courier New" panose="02070309020205020404" pitchFamily="49" charset="0"/>
              </a:rPr>
              <a:t>). Be sure to remove rows that have missing values.</a:t>
            </a:r>
          </a:p>
          <a:p>
            <a:endParaRPr lang="en-US" sz="2400" dirty="0">
              <a:cs typeface="Courier New" panose="02070309020205020404" pitchFamily="49" charset="0"/>
            </a:endParaRP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flights %&gt;% </a:t>
            </a:r>
            <a:b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filter(      ) %&gt;%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summarize(     ,    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FC56543E-28CC-F96F-CBAB-BF32FD651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2367" y="202710"/>
            <a:ext cx="8255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3925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3" y="382695"/>
            <a:ext cx="9144000" cy="731308"/>
          </a:xfrm>
        </p:spPr>
        <p:txBody>
          <a:bodyPr/>
          <a:lstStyle/>
          <a:p>
            <a:r>
              <a:rPr lang="en-US" sz="4400" dirty="0"/>
              <a:t>Grouping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895949" y="1908511"/>
            <a:ext cx="1011834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cs typeface="Courier New" panose="02070309020205020404" pitchFamily="49" charset="0"/>
              </a:rPr>
              <a:t>Often you want to perform summaries for </a:t>
            </a:r>
            <a:r>
              <a:rPr lang="en-US" sz="2800" b="1" dirty="0">
                <a:cs typeface="Courier New" panose="02070309020205020404" pitchFamily="49" charset="0"/>
              </a:rPr>
              <a:t>groups</a:t>
            </a:r>
            <a:r>
              <a:rPr lang="en-US" sz="2800" dirty="0">
                <a:cs typeface="Courier New" panose="02070309020205020404" pitchFamily="49" charset="0"/>
              </a:rPr>
              <a:t> of rows at a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cs typeface="Courier New" panose="02070309020205020404" pitchFamily="49" charset="0"/>
              </a:rPr>
              <a:t>The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800" dirty="0">
                <a:cs typeface="Courier New" panose="02070309020205020404" pitchFamily="49" charset="0"/>
              </a:rPr>
              <a:t>function allows you to specify columns that define groups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cs typeface="Courier New" panose="02070309020205020404" pitchFamily="49" charset="0"/>
              </a:rPr>
              <a:t>Functions like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mutate() </a:t>
            </a:r>
            <a:r>
              <a:rPr lang="en-US" sz="2800" dirty="0">
                <a:cs typeface="Courier New" panose="02070309020205020404" pitchFamily="49" charset="0"/>
              </a:rPr>
              <a:t>and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summarize() </a:t>
            </a:r>
            <a:r>
              <a:rPr lang="en-US" sz="2800" dirty="0">
                <a:cs typeface="Courier New" panose="02070309020205020404" pitchFamily="49" charset="0"/>
              </a:rPr>
              <a:t>are performed on each group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011B18E-D4B0-0439-C32D-F81759BA0D70}"/>
              </a:ext>
            </a:extLst>
          </p:cNvPr>
          <p:cNvGrpSpPr/>
          <p:nvPr/>
        </p:nvGrpSpPr>
        <p:grpSpPr>
          <a:xfrm>
            <a:off x="6922883" y="382695"/>
            <a:ext cx="6096000" cy="923330"/>
            <a:chOff x="6584216" y="1493393"/>
            <a:chExt cx="6096000" cy="92333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9F9EF57-BB55-A6F2-3159-CDE106AA7E46}"/>
                </a:ext>
              </a:extLst>
            </p:cNvPr>
            <p:cNvSpPr/>
            <p:nvPr/>
          </p:nvSpPr>
          <p:spPr>
            <a:xfrm>
              <a:off x="7766434" y="1674465"/>
              <a:ext cx="565844" cy="588475"/>
            </a:xfrm>
            <a:prstGeom prst="ellipse">
              <a:avLst/>
            </a:prstGeom>
            <a:solidFill>
              <a:srgbClr val="18177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6103B5-F2A9-956B-2614-EDFF95E99FBF}"/>
                </a:ext>
              </a:extLst>
            </p:cNvPr>
            <p:cNvSpPr txBox="1"/>
            <p:nvPr/>
          </p:nvSpPr>
          <p:spPr>
            <a:xfrm>
              <a:off x="6584216" y="1493393"/>
              <a:ext cx="609600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rgbClr val="DEC80F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6</a:t>
              </a:r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5400" dirty="0" err="1">
                  <a:ln w="0"/>
                  <a:solidFill>
                    <a:srgbClr val="181776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group_by</a:t>
              </a:r>
              <a:r>
                <a:rPr lang="en-US" sz="5400" b="0" cap="none" spc="0" dirty="0">
                  <a:ln w="0"/>
                  <a:solidFill>
                    <a:srgbClr val="181776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14013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3" y="382695"/>
            <a:ext cx="9144000" cy="731308"/>
          </a:xfrm>
        </p:spPr>
        <p:txBody>
          <a:bodyPr/>
          <a:lstStyle/>
          <a:p>
            <a:r>
              <a:rPr lang="en-US" sz="4400" dirty="0" err="1"/>
              <a:t>group_by</a:t>
            </a:r>
            <a:r>
              <a:rPr lang="en-US" sz="4400" dirty="0"/>
              <a:t>() + summarize()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826883" y="1447807"/>
            <a:ext cx="1055729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flights %&gt;%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filter(!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is.na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arr_delay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)) %&gt;%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(carrier) %&gt;%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summarize(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avg_arr_delay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mean(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arr_delay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endParaRPr lang="en-US" sz="2400" dirty="0"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952D8CD-75A9-13E3-00BB-5B7CF6E44AB2}"/>
              </a:ext>
            </a:extLst>
          </p:cNvPr>
          <p:cNvSpPr/>
          <p:nvPr/>
        </p:nvSpPr>
        <p:spPr>
          <a:xfrm>
            <a:off x="6835698" y="4216835"/>
            <a:ext cx="2966224" cy="1471961"/>
          </a:xfrm>
          <a:prstGeom prst="roundRect">
            <a:avLst/>
          </a:prstGeom>
          <a:solidFill>
            <a:srgbClr val="05CBF5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16 rows returned</a:t>
            </a:r>
          </a:p>
        </p:txBody>
      </p:sp>
      <p:pic>
        <p:nvPicPr>
          <p:cNvPr id="6" name="Picture 5" descr="Table&#10;&#10;Description automatically generated with medium confidence">
            <a:extLst>
              <a:ext uri="{FF2B5EF4-FFF2-40B4-BE49-F238E27FC236}">
                <a16:creationId xmlns:a16="http://schemas.microsoft.com/office/drawing/2014/main" id="{27FE21F2-5936-4F72-10BD-051845459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00" y="3886015"/>
            <a:ext cx="2870200" cy="2133600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6F12753-936F-36C8-49A1-9270E2FF2244}"/>
              </a:ext>
            </a:extLst>
          </p:cNvPr>
          <p:cNvSpPr/>
          <p:nvPr/>
        </p:nvSpPr>
        <p:spPr>
          <a:xfrm>
            <a:off x="1382122" y="3771319"/>
            <a:ext cx="3255556" cy="238659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108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3" y="382695"/>
            <a:ext cx="9144000" cy="731308"/>
          </a:xfrm>
        </p:spPr>
        <p:txBody>
          <a:bodyPr/>
          <a:lstStyle/>
          <a:p>
            <a:r>
              <a:rPr lang="en-US" sz="4400" dirty="0" err="1"/>
              <a:t>group_by</a:t>
            </a:r>
            <a:r>
              <a:rPr lang="en-US" sz="4400" dirty="0"/>
              <a:t>() + mutate()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895948" y="1908511"/>
            <a:ext cx="1100674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flights %&gt;%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filter(!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is.na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arr_delay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)) %&gt;%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(carrier) %&gt;%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mutate(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avg_arr_delay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mean(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arr_delay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)) %&gt;%   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select(carrier,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arr_delay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avg_arr_delay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952D8CD-75A9-13E3-00BB-5B7CF6E44AB2}"/>
              </a:ext>
            </a:extLst>
          </p:cNvPr>
          <p:cNvSpPr/>
          <p:nvPr/>
        </p:nvSpPr>
        <p:spPr>
          <a:xfrm>
            <a:off x="6835698" y="4216835"/>
            <a:ext cx="2966224" cy="1471961"/>
          </a:xfrm>
          <a:prstGeom prst="roundRect">
            <a:avLst/>
          </a:prstGeom>
          <a:solidFill>
            <a:srgbClr val="05CBF5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327,346 rows returned</a:t>
            </a:r>
          </a:p>
        </p:txBody>
      </p:sp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CCB989A9-64B3-920E-167F-26B4F16E2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903" y="4155280"/>
            <a:ext cx="4089400" cy="2476500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AD91F6E-F64D-66C4-EB2C-E29AF979544D}"/>
              </a:ext>
            </a:extLst>
          </p:cNvPr>
          <p:cNvSpPr/>
          <p:nvPr/>
        </p:nvSpPr>
        <p:spPr>
          <a:xfrm>
            <a:off x="1047596" y="4088710"/>
            <a:ext cx="4528014" cy="276928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209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Combine </a:t>
            </a:r>
            <a:r>
              <a:rPr lang="en-US" sz="4400" dirty="0" err="1"/>
              <a:t>group_by</a:t>
            </a:r>
            <a:r>
              <a:rPr lang="en-US" sz="4400" dirty="0"/>
              <a:t>() with transformations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430823" y="1665838"/>
            <a:ext cx="532951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mutate()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cs typeface="Courier New" panose="02070309020205020404" pitchFamily="49" charset="0"/>
              </a:rPr>
              <a:t>Will not change the number of rows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cs typeface="Courier New" panose="02070309020205020404" pitchFamily="49" charset="0"/>
              </a:rPr>
              <a:t>Collapsing functions like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max() </a:t>
            </a:r>
            <a:r>
              <a:rPr lang="en-US" sz="2800" dirty="0">
                <a:cs typeface="Courier New" panose="02070309020205020404" pitchFamily="49" charset="0"/>
              </a:rPr>
              <a:t>will return the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max() </a:t>
            </a:r>
            <a:r>
              <a:rPr lang="en-US" sz="2800" dirty="0">
                <a:cs typeface="Courier New" panose="02070309020205020404" pitchFamily="49" charset="0"/>
              </a:rPr>
              <a:t>for each group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cs typeface="Courier New" panose="02070309020205020404" pitchFamily="49" charset="0"/>
              </a:rPr>
              <a:t>Keep all existing columns and add new ones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1EEFF7-7CB9-188D-D1EC-A8713A5B8002}"/>
              </a:ext>
            </a:extLst>
          </p:cNvPr>
          <p:cNvSpPr txBox="1"/>
          <p:nvPr/>
        </p:nvSpPr>
        <p:spPr>
          <a:xfrm>
            <a:off x="6095999" y="1665838"/>
            <a:ext cx="5512231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summarize()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cs typeface="Courier New" panose="02070309020205020404" pitchFamily="49" charset="0"/>
              </a:rPr>
              <a:t>Returns one row per group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cs typeface="Courier New" panose="02070309020205020404" pitchFamily="49" charset="0"/>
              </a:rPr>
              <a:t>Only returns columns that are used as groups and those new values created from collapsing functions</a:t>
            </a:r>
          </a:p>
        </p:txBody>
      </p:sp>
    </p:spTree>
    <p:extLst>
      <p:ext uri="{BB962C8B-B14F-4D97-AF65-F5344CB8AC3E}">
        <p14:creationId xmlns:p14="http://schemas.microsoft.com/office/powerpoint/2010/main" val="8262588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Summarization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483198" y="1040736"/>
            <a:ext cx="10881919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cs typeface="Courier New" panose="02070309020205020404" pitchFamily="49" charset="0"/>
              </a:rPr>
              <a:t>Calculate the longest arrival delay </a:t>
            </a:r>
          </a:p>
          <a:p>
            <a:r>
              <a:rPr lang="en-US" sz="2800" dirty="0">
                <a:cs typeface="Courier New" panose="02070309020205020404" pitchFamily="49" charset="0"/>
              </a:rPr>
              <a:t>for each carrier over the whole year.</a:t>
            </a:r>
          </a:p>
          <a:p>
            <a:endParaRPr lang="en-US" sz="2800" dirty="0">
              <a:cs typeface="Courier New" panose="02070309020205020404" pitchFamily="49" charset="0"/>
            </a:endParaRPr>
          </a:p>
          <a:p>
            <a:r>
              <a:rPr lang="en-US" sz="2800" dirty="0">
                <a:cs typeface="Courier New" panose="02070309020205020404" pitchFamily="49" charset="0"/>
              </a:rPr>
              <a:t>Which carrier’s longest arrival delay </a:t>
            </a:r>
          </a:p>
          <a:p>
            <a:r>
              <a:rPr lang="en-US" sz="2800" dirty="0">
                <a:cs typeface="Courier New" panose="02070309020205020404" pitchFamily="49" charset="0"/>
              </a:rPr>
              <a:t>was the shortest compared to all </a:t>
            </a:r>
          </a:p>
          <a:p>
            <a:r>
              <a:rPr lang="en-US" sz="2800" dirty="0">
                <a:cs typeface="Courier New" panose="02070309020205020404" pitchFamily="49" charset="0"/>
              </a:rPr>
              <a:t>other carriers?</a:t>
            </a:r>
          </a:p>
          <a:p>
            <a:endParaRPr lang="en-US" sz="2400" dirty="0">
              <a:cs typeface="Courier New" panose="02070309020205020404" pitchFamily="49" charset="0"/>
            </a:endParaRP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flights %&gt;%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filter(    ) %&gt;%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    ) %&gt;%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summarize(    ) %&gt;%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arrange()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3AE81AAB-57DB-DFDD-76A5-C316A4ED6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2367" y="202710"/>
            <a:ext cx="8255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1310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Multiple columns, same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12A91-52FC-6A2C-47F7-D8F36ED08C64}"/>
              </a:ext>
            </a:extLst>
          </p:cNvPr>
          <p:cNvSpPr txBox="1"/>
          <p:nvPr/>
        </p:nvSpPr>
        <p:spPr>
          <a:xfrm>
            <a:off x="333005" y="1482620"/>
            <a:ext cx="1177871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across(&lt;columns&gt;, &lt;functions&gt;)</a:t>
            </a:r>
          </a:p>
          <a:p>
            <a:r>
              <a:rPr lang="en-US" sz="2800" dirty="0">
                <a:cs typeface="Courier New" panose="02070309020205020404" pitchFamily="49" charset="0"/>
              </a:rPr>
              <a:t>	apply a function to many columns </a:t>
            </a:r>
          </a:p>
          <a:p>
            <a:r>
              <a:rPr lang="en-US" sz="2800" dirty="0">
                <a:cs typeface="Courier New" panose="02070309020205020404" pitchFamily="49" charset="0"/>
              </a:rPr>
              <a:t>	Use the same selectors you use with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select()</a:t>
            </a:r>
          </a:p>
          <a:p>
            <a:endParaRPr lang="en-US" sz="2800" dirty="0">
              <a:cs typeface="Courier New" panose="02070309020205020404" pitchFamily="49" charset="0"/>
            </a:endParaRPr>
          </a:p>
          <a:p>
            <a:r>
              <a:rPr lang="en-US" sz="2800" dirty="0">
                <a:cs typeface="Courier New" panose="02070309020205020404" pitchFamily="49" charset="0"/>
              </a:rPr>
              <a:t>Fund means for all the columns that end in “time”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flights %&gt;%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summarize(across(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ends_with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(“time”),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~mean(.x,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na.rm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TRUE)))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85DCAF-712E-CE04-4882-E1939A3686AD}"/>
              </a:ext>
            </a:extLst>
          </p:cNvPr>
          <p:cNvSpPr/>
          <p:nvPr/>
        </p:nvSpPr>
        <p:spPr>
          <a:xfrm>
            <a:off x="7568698" y="5016007"/>
            <a:ext cx="4103261" cy="1287815"/>
          </a:xfrm>
          <a:prstGeom prst="roundRect">
            <a:avLst/>
          </a:prstGeom>
          <a:solidFill>
            <a:srgbClr val="05CBF5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“~” creates a one-line function</a:t>
            </a:r>
          </a:p>
        </p:txBody>
      </p:sp>
    </p:spTree>
    <p:extLst>
      <p:ext uri="{BB962C8B-B14F-4D97-AF65-F5344CB8AC3E}">
        <p14:creationId xmlns:p14="http://schemas.microsoft.com/office/powerpoint/2010/main" val="29814739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The five (six?) verbs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6C07B-CB2D-9294-D654-2818FAEBAB3F}"/>
              </a:ext>
            </a:extLst>
          </p:cNvPr>
          <p:cNvSpPr txBox="1"/>
          <p:nvPr/>
        </p:nvSpPr>
        <p:spPr>
          <a:xfrm>
            <a:off x="286693" y="1517424"/>
            <a:ext cx="992259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Most of </a:t>
            </a:r>
            <a:r>
              <a:rPr lang="en-US" sz="2800" dirty="0" err="1"/>
              <a:t>dplyr</a:t>
            </a:r>
            <a:r>
              <a:rPr lang="en-US" sz="2800" dirty="0"/>
              <a:t> consists in five “verbs” that solve common data manipulation challenges</a:t>
            </a:r>
          </a:p>
          <a:p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Manipulate data from a single source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What if data come from multiple sources?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EC845C-BCA6-1E08-80F3-033ADBFBEF36}"/>
              </a:ext>
            </a:extLst>
          </p:cNvPr>
          <p:cNvSpPr/>
          <p:nvPr/>
        </p:nvSpPr>
        <p:spPr>
          <a:xfrm>
            <a:off x="9306912" y="1934881"/>
            <a:ext cx="27574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select</a:t>
            </a:r>
            <a:r>
              <a:rPr lang="en-US" sz="5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89F50E-3535-CC2C-EC97-CEFDC12449DC}"/>
              </a:ext>
            </a:extLst>
          </p:cNvPr>
          <p:cNvSpPr/>
          <p:nvPr/>
        </p:nvSpPr>
        <p:spPr>
          <a:xfrm>
            <a:off x="9495347" y="842872"/>
            <a:ext cx="24534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filter()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246EFD-7824-F2D1-13CF-7F4F05D48E6A}"/>
              </a:ext>
            </a:extLst>
          </p:cNvPr>
          <p:cNvSpPr txBox="1"/>
          <p:nvPr/>
        </p:nvSpPr>
        <p:spPr>
          <a:xfrm>
            <a:off x="10465883" y="1486950"/>
            <a:ext cx="439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EE146E-ECE4-BC1C-2040-60B32500D20B}"/>
              </a:ext>
            </a:extLst>
          </p:cNvPr>
          <p:cNvSpPr/>
          <p:nvPr/>
        </p:nvSpPr>
        <p:spPr>
          <a:xfrm>
            <a:off x="8974516" y="2917267"/>
            <a:ext cx="32745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arrange()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82D8EF-B872-E40C-BF20-87B184E7D8AF}"/>
              </a:ext>
            </a:extLst>
          </p:cNvPr>
          <p:cNvSpPr/>
          <p:nvPr/>
        </p:nvSpPr>
        <p:spPr>
          <a:xfrm>
            <a:off x="8974516" y="3933412"/>
            <a:ext cx="31487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mutate()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90170E-3637-D381-D06E-279CB81FC72F}"/>
              </a:ext>
            </a:extLst>
          </p:cNvPr>
          <p:cNvSpPr/>
          <p:nvPr/>
        </p:nvSpPr>
        <p:spPr>
          <a:xfrm>
            <a:off x="8114582" y="4976698"/>
            <a:ext cx="4189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5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summarize</a:t>
            </a:r>
            <a:r>
              <a:rPr lang="en-US" sz="5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C2D8AD-DE2E-19A9-93C4-E68F4EB4398D}"/>
              </a:ext>
            </a:extLst>
          </p:cNvPr>
          <p:cNvSpPr txBox="1"/>
          <p:nvPr/>
        </p:nvSpPr>
        <p:spPr>
          <a:xfrm>
            <a:off x="10465883" y="2540929"/>
            <a:ext cx="439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539C74-A8F4-A33A-E777-AFA107761859}"/>
              </a:ext>
            </a:extLst>
          </p:cNvPr>
          <p:cNvSpPr txBox="1"/>
          <p:nvPr/>
        </p:nvSpPr>
        <p:spPr>
          <a:xfrm>
            <a:off x="10480100" y="3579469"/>
            <a:ext cx="439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4291DA-9B0C-BA8F-558C-09BBE1FDCC8F}"/>
              </a:ext>
            </a:extLst>
          </p:cNvPr>
          <p:cNvSpPr txBox="1"/>
          <p:nvPr/>
        </p:nvSpPr>
        <p:spPr>
          <a:xfrm>
            <a:off x="10477528" y="4618009"/>
            <a:ext cx="439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6419301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Merging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36578-6736-4E13-A06B-2B46030F088A}"/>
              </a:ext>
            </a:extLst>
          </p:cNvPr>
          <p:cNvSpPr txBox="1"/>
          <p:nvPr/>
        </p:nvSpPr>
        <p:spPr>
          <a:xfrm>
            <a:off x="633046" y="1376624"/>
            <a:ext cx="10711713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What are these carrier codes?</a:t>
            </a:r>
          </a:p>
          <a:p>
            <a:endParaRPr lang="en-US" sz="2800" dirty="0"/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flights %&gt;%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filter(!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is.na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)) %&gt;% 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(carrier) %&gt;% 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summarize(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avg_arr_delay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mean(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D7A8FC90-6CDC-273C-9123-5986CF968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50" y="3949699"/>
            <a:ext cx="4210050" cy="2695323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2D031F8-69CC-ADFF-9835-9A380D49B176}"/>
              </a:ext>
            </a:extLst>
          </p:cNvPr>
          <p:cNvSpPr/>
          <p:nvPr/>
        </p:nvSpPr>
        <p:spPr>
          <a:xfrm>
            <a:off x="1726968" y="3875733"/>
            <a:ext cx="4528014" cy="276928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362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”airlines” 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8EBFC446-7B75-7FF4-5C54-6675F5500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440" y="2035170"/>
            <a:ext cx="4922074" cy="3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2435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Join flights to airlines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1" name="Picture 10" descr="Text&#10;&#10;Description automatically generated with medium confidence">
            <a:extLst>
              <a:ext uri="{FF2B5EF4-FFF2-40B4-BE49-F238E27FC236}">
                <a16:creationId xmlns:a16="http://schemas.microsoft.com/office/drawing/2014/main" id="{4119353A-6F10-4008-386E-40FCDEF68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708" y="1544676"/>
            <a:ext cx="6638777" cy="411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7409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Types of joins (merges)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575A7FA-FF93-D85E-2F66-7CF99AD19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704" y="1391755"/>
            <a:ext cx="9939130" cy="2867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0CF0B0-771D-01AC-B37E-541A28794236}"/>
              </a:ext>
            </a:extLst>
          </p:cNvPr>
          <p:cNvSpPr txBox="1"/>
          <p:nvPr/>
        </p:nvSpPr>
        <p:spPr>
          <a:xfrm>
            <a:off x="2584174" y="5910470"/>
            <a:ext cx="5599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source: https://r4ds.had.co.nz/relational-</a:t>
            </a:r>
            <a:r>
              <a:rPr lang="en-US" dirty="0" err="1"/>
              <a:t>data.html</a:t>
            </a:r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1CA76D4-8F4D-FDED-457B-4D2BE38C7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033" y="3796791"/>
            <a:ext cx="2997200" cy="214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3774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Types of joins (merges)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575A7FA-FF93-D85E-2F66-7CF99AD19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506" y="1412581"/>
            <a:ext cx="8862938" cy="2557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0CF0B0-771D-01AC-B37E-541A28794236}"/>
              </a:ext>
            </a:extLst>
          </p:cNvPr>
          <p:cNvSpPr txBox="1"/>
          <p:nvPr/>
        </p:nvSpPr>
        <p:spPr>
          <a:xfrm>
            <a:off x="2584174" y="5910470"/>
            <a:ext cx="5599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source: https://r4ds.had.co.nz/relational-</a:t>
            </a:r>
            <a:r>
              <a:rPr lang="en-US" dirty="0" err="1"/>
              <a:t>data.html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2D561E0-7C0F-E3A9-2C4A-A6C261A5D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174" y="4035797"/>
            <a:ext cx="4989286" cy="1874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FD122EC-7DDD-5CEB-8AB2-BA999929A628}"/>
              </a:ext>
            </a:extLst>
          </p:cNvPr>
          <p:cNvSpPr/>
          <p:nvPr/>
        </p:nvSpPr>
        <p:spPr>
          <a:xfrm>
            <a:off x="1067055" y="1398077"/>
            <a:ext cx="4600920" cy="127866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6359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Types of joins (merges)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575A7FA-FF93-D85E-2F66-7CF99AD19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506" y="1412581"/>
            <a:ext cx="8862938" cy="2557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0CF0B0-771D-01AC-B37E-541A28794236}"/>
              </a:ext>
            </a:extLst>
          </p:cNvPr>
          <p:cNvSpPr txBox="1"/>
          <p:nvPr/>
        </p:nvSpPr>
        <p:spPr>
          <a:xfrm>
            <a:off x="2584174" y="5910470"/>
            <a:ext cx="5599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source: https://r4ds.had.co.nz/relational-</a:t>
            </a:r>
            <a:r>
              <a:rPr lang="en-US" dirty="0" err="1"/>
              <a:t>data.html</a:t>
            </a: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FD122EC-7DDD-5CEB-8AB2-BA999929A628}"/>
              </a:ext>
            </a:extLst>
          </p:cNvPr>
          <p:cNvSpPr/>
          <p:nvPr/>
        </p:nvSpPr>
        <p:spPr>
          <a:xfrm>
            <a:off x="5760341" y="1371264"/>
            <a:ext cx="4448950" cy="263995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icture containing text, crossword puzzle, clock&#10;&#10;Description automatically generated">
            <a:extLst>
              <a:ext uri="{FF2B5EF4-FFF2-40B4-BE49-F238E27FC236}">
                <a16:creationId xmlns:a16="http://schemas.microsoft.com/office/drawing/2014/main" id="{A42DC3CF-F008-7FF5-C287-0F079D073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10" y="4132470"/>
            <a:ext cx="4775200" cy="1778000"/>
          </a:xfrm>
          <a:prstGeom prst="rect">
            <a:avLst/>
          </a:prstGeom>
        </p:spPr>
      </p:pic>
      <p:pic>
        <p:nvPicPr>
          <p:cNvPr id="12" name="Picture 11" descr="A picture containing text, crossword puzzle&#10;&#10;Description automatically generated">
            <a:extLst>
              <a:ext uri="{FF2B5EF4-FFF2-40B4-BE49-F238E27FC236}">
                <a16:creationId xmlns:a16="http://schemas.microsoft.com/office/drawing/2014/main" id="{CC37A651-792C-F810-74C8-05FBFC6CE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054" y="4053677"/>
            <a:ext cx="48641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4575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Types of joins (merges)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575A7FA-FF93-D85E-2F66-7CF99AD19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506" y="1412581"/>
            <a:ext cx="8862938" cy="2557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0CF0B0-771D-01AC-B37E-541A28794236}"/>
              </a:ext>
            </a:extLst>
          </p:cNvPr>
          <p:cNvSpPr txBox="1"/>
          <p:nvPr/>
        </p:nvSpPr>
        <p:spPr>
          <a:xfrm>
            <a:off x="2584174" y="5910470"/>
            <a:ext cx="5599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source: https://r4ds.had.co.nz/relational-</a:t>
            </a:r>
            <a:r>
              <a:rPr lang="en-US" dirty="0" err="1"/>
              <a:t>data.html</a:t>
            </a: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FD122EC-7DDD-5CEB-8AB2-BA999929A628}"/>
              </a:ext>
            </a:extLst>
          </p:cNvPr>
          <p:cNvSpPr/>
          <p:nvPr/>
        </p:nvSpPr>
        <p:spPr>
          <a:xfrm>
            <a:off x="963535" y="2654326"/>
            <a:ext cx="4448950" cy="1399351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text, crossword puzzle&#10;&#10;Description automatically generated">
            <a:extLst>
              <a:ext uri="{FF2B5EF4-FFF2-40B4-BE49-F238E27FC236}">
                <a16:creationId xmlns:a16="http://schemas.microsoft.com/office/drawing/2014/main" id="{23122C1D-AC3D-9799-5C44-50246F8B7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729" y="4105697"/>
            <a:ext cx="3918150" cy="184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0183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Types of joins (merges)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FDB5F340-C156-52B6-F3C2-891877C17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2367" y="202710"/>
            <a:ext cx="825500" cy="977900"/>
          </a:xfrm>
          <a:prstGeom prst="rect">
            <a:avLst/>
          </a:prstGeom>
        </p:spPr>
      </p:pic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49F898A0-9B7E-FE03-B83F-E694F849E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72" y="1546260"/>
            <a:ext cx="2214088" cy="2094408"/>
          </a:xfrm>
          <a:prstGeom prst="rect">
            <a:avLst/>
          </a:prstGeom>
        </p:spPr>
      </p:pic>
      <p:pic>
        <p:nvPicPr>
          <p:cNvPr id="14" name="Picture 13" descr="A picture containing table&#10;&#10;Description automatically generated">
            <a:extLst>
              <a:ext uri="{FF2B5EF4-FFF2-40B4-BE49-F238E27FC236}">
                <a16:creationId xmlns:a16="http://schemas.microsoft.com/office/drawing/2014/main" id="{9C37AA90-5143-3E16-CA0A-CA7B7BBAC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2832" y="1546259"/>
            <a:ext cx="2419753" cy="2094408"/>
          </a:xfrm>
          <a:prstGeom prst="rect">
            <a:avLst/>
          </a:prstGeom>
        </p:spPr>
      </p:pic>
      <p:pic>
        <p:nvPicPr>
          <p:cNvPr id="16" name="Picture 15" descr="Text&#10;&#10;Description automatically generated">
            <a:extLst>
              <a:ext uri="{FF2B5EF4-FFF2-40B4-BE49-F238E27FC236}">
                <a16:creationId xmlns:a16="http://schemas.microsoft.com/office/drawing/2014/main" id="{7CC016C5-79EC-C1F2-05D0-4536C460A6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7440" y="4072923"/>
            <a:ext cx="2803422" cy="2508325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07984F0-59EC-1801-B85A-4717DB32ADC2}"/>
              </a:ext>
            </a:extLst>
          </p:cNvPr>
          <p:cNvSpPr/>
          <p:nvPr/>
        </p:nvSpPr>
        <p:spPr>
          <a:xfrm>
            <a:off x="521912" y="1235415"/>
            <a:ext cx="2568421" cy="2508325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0D403E2-B195-B335-B21E-437933FB8852}"/>
              </a:ext>
            </a:extLst>
          </p:cNvPr>
          <p:cNvSpPr/>
          <p:nvPr/>
        </p:nvSpPr>
        <p:spPr>
          <a:xfrm>
            <a:off x="3798512" y="1235415"/>
            <a:ext cx="2568421" cy="2508325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DBAC71B-C234-D16A-CCED-6C12AF1F1B09}"/>
              </a:ext>
            </a:extLst>
          </p:cNvPr>
          <p:cNvSpPr/>
          <p:nvPr/>
        </p:nvSpPr>
        <p:spPr>
          <a:xfrm>
            <a:off x="2099733" y="3805731"/>
            <a:ext cx="2871129" cy="2840602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949B44-8965-0E2C-BDBA-52DF039F0754}"/>
              </a:ext>
            </a:extLst>
          </p:cNvPr>
          <p:cNvSpPr txBox="1"/>
          <p:nvPr/>
        </p:nvSpPr>
        <p:spPr>
          <a:xfrm>
            <a:off x="153636" y="1006965"/>
            <a:ext cx="4507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56DABA-D511-F94D-FB78-28DA654508AB}"/>
              </a:ext>
            </a:extLst>
          </p:cNvPr>
          <p:cNvSpPr txBox="1"/>
          <p:nvPr/>
        </p:nvSpPr>
        <p:spPr>
          <a:xfrm>
            <a:off x="3483592" y="965696"/>
            <a:ext cx="4635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8CE34C-76C1-10A2-183B-B5E2E18DE34B}"/>
              </a:ext>
            </a:extLst>
          </p:cNvPr>
          <p:cNvSpPr txBox="1"/>
          <p:nvPr/>
        </p:nvSpPr>
        <p:spPr>
          <a:xfrm>
            <a:off x="1369771" y="3770186"/>
            <a:ext cx="7553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??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826A6F-BF3A-51AB-86C4-D27B10B7483C}"/>
              </a:ext>
            </a:extLst>
          </p:cNvPr>
          <p:cNvSpPr txBox="1"/>
          <p:nvPr/>
        </p:nvSpPr>
        <p:spPr>
          <a:xfrm>
            <a:off x="7221140" y="3953933"/>
            <a:ext cx="414087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lphaUcParenR"/>
            </a:pP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left_join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(x, y)</a:t>
            </a:r>
          </a:p>
          <a:p>
            <a:pPr marL="514350" indent="-514350">
              <a:buAutoNum type="alphaUcParenR"/>
            </a:pP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right_join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(x, y)</a:t>
            </a:r>
          </a:p>
          <a:p>
            <a:pPr marL="514350" indent="-514350">
              <a:buAutoNum type="alphaUcParenR"/>
            </a:pP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full_join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(x, y)</a:t>
            </a:r>
          </a:p>
          <a:p>
            <a:pPr marL="514350" indent="-514350">
              <a:buAutoNum type="alphaUcParenR"/>
            </a:pP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inner_join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(x, y)</a:t>
            </a:r>
          </a:p>
        </p:txBody>
      </p:sp>
    </p:spTree>
    <p:extLst>
      <p:ext uri="{BB962C8B-B14F-4D97-AF65-F5344CB8AC3E}">
        <p14:creationId xmlns:p14="http://schemas.microsoft.com/office/powerpoint/2010/main" val="23104712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Non-merging joins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BB7341-B72D-0799-B3F6-00507C0A6A1C}"/>
              </a:ext>
            </a:extLst>
          </p:cNvPr>
          <p:cNvSpPr txBox="1"/>
          <p:nvPr/>
        </p:nvSpPr>
        <p:spPr>
          <a:xfrm>
            <a:off x="826882" y="1665838"/>
            <a:ext cx="10456333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These “joins” do not add any new columns to your data but are </a:t>
            </a:r>
            <a:r>
              <a:rPr lang="en-US" sz="2800" dirty="0" err="1"/>
              <a:t>subsetting</a:t>
            </a:r>
            <a:r>
              <a:rPr lang="en-US" sz="2800" dirty="0"/>
              <a:t> with multi-column matches </a:t>
            </a:r>
          </a:p>
          <a:p>
            <a:r>
              <a:rPr lang="en-US" sz="2800" dirty="0"/>
              <a:t>(Like a multi-column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%in%)</a:t>
            </a:r>
          </a:p>
          <a:p>
            <a:endParaRPr lang="en-US" sz="2800" dirty="0"/>
          </a:p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semi_join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800" dirty="0"/>
              <a:t>	only keep rows in left table with matches in right</a:t>
            </a:r>
          </a:p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anti_join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r>
              <a:rPr lang="en-US" sz="2800" dirty="0"/>
              <a:t>	drop rows in left table with matches in right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5945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Join by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BB7341-B72D-0799-B3F6-00507C0A6A1C}"/>
              </a:ext>
            </a:extLst>
          </p:cNvPr>
          <p:cNvSpPr txBox="1"/>
          <p:nvPr/>
        </p:nvSpPr>
        <p:spPr>
          <a:xfrm>
            <a:off x="826881" y="1601855"/>
            <a:ext cx="10118345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By default, the join commands will join two tables based on all matching column names 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flights %&gt;%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inner_join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(planes)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# returns many fewer rows!</a:t>
            </a:r>
          </a:p>
          <a:p>
            <a:endParaRPr lang="en-US" sz="2800" dirty="0"/>
          </a:p>
          <a:p>
            <a:r>
              <a:rPr lang="en-US" sz="2800" dirty="0"/>
              <a:t>You can control the joining by specifying the column names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flights %&gt;%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inner_join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(planes, by = “talinum”)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5634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Other useful </a:t>
            </a:r>
            <a:r>
              <a:rPr lang="en-US" sz="4400" dirty="0" err="1"/>
              <a:t>dplyr</a:t>
            </a:r>
            <a:r>
              <a:rPr lang="en-US" sz="4400" dirty="0"/>
              <a:t>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EA736F-E39E-BE1C-457C-3827F8A9981B}"/>
              </a:ext>
            </a:extLst>
          </p:cNvPr>
          <p:cNvSpPr txBox="1"/>
          <p:nvPr/>
        </p:nvSpPr>
        <p:spPr>
          <a:xfrm>
            <a:off x="931830" y="1337275"/>
            <a:ext cx="16882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F160C9-3196-6776-4C4F-FE3C2A0A8906}"/>
              </a:ext>
            </a:extLst>
          </p:cNvPr>
          <p:cNvSpPr txBox="1"/>
          <p:nvPr/>
        </p:nvSpPr>
        <p:spPr>
          <a:xfrm>
            <a:off x="826882" y="2150572"/>
            <a:ext cx="523276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count function is a special combination of summarize() + </a:t>
            </a:r>
            <a:r>
              <a:rPr lang="en-US" sz="2800" dirty="0" err="1"/>
              <a:t>group_by</a:t>
            </a:r>
            <a:r>
              <a:rPr lang="en-US" sz="2800" dirty="0"/>
              <a:t>() to see how often certain values are repeated</a:t>
            </a:r>
          </a:p>
          <a:p>
            <a:endParaRPr lang="en-US" sz="2800" dirty="0"/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flights %&gt;%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  count(carrier)</a:t>
            </a:r>
          </a:p>
        </p:txBody>
      </p:sp>
      <p:pic>
        <p:nvPicPr>
          <p:cNvPr id="11" name="Picture 10" descr="A picture containing text, receipt&#10;&#10;Description automatically generated">
            <a:extLst>
              <a:ext uri="{FF2B5EF4-FFF2-40B4-BE49-F238E27FC236}">
                <a16:creationId xmlns:a16="http://schemas.microsoft.com/office/drawing/2014/main" id="{1300CD38-D43F-3782-C900-43E3FDF10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341" y="2777373"/>
            <a:ext cx="2876550" cy="3343682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9A312A0-59C8-F4CA-C6A8-DF90216A3593}"/>
              </a:ext>
            </a:extLst>
          </p:cNvPr>
          <p:cNvSpPr/>
          <p:nvPr/>
        </p:nvSpPr>
        <p:spPr>
          <a:xfrm>
            <a:off x="5608509" y="2661971"/>
            <a:ext cx="3146024" cy="345908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6130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More counting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EA736F-E39E-BE1C-457C-3827F8A9981B}"/>
              </a:ext>
            </a:extLst>
          </p:cNvPr>
          <p:cNvSpPr txBox="1"/>
          <p:nvPr/>
        </p:nvSpPr>
        <p:spPr>
          <a:xfrm>
            <a:off x="826882" y="1338080"/>
            <a:ext cx="64139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count(), n()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n_distinct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F160C9-3196-6776-4C4F-FE3C2A0A8906}"/>
              </a:ext>
            </a:extLst>
          </p:cNvPr>
          <p:cNvSpPr txBox="1"/>
          <p:nvPr/>
        </p:nvSpPr>
        <p:spPr>
          <a:xfrm>
            <a:off x="1041399" y="2167467"/>
            <a:ext cx="10907793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Number of distinct values in a column</a:t>
            </a:r>
          </a:p>
          <a:p>
            <a:endParaRPr lang="en-US" sz="2800" dirty="0"/>
          </a:p>
          <a:p>
            <a:r>
              <a:rPr lang="en-US" sz="2800" dirty="0"/>
              <a:t>Can only be used with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summarize(), mutate(), and filter()</a:t>
            </a:r>
          </a:p>
          <a:p>
            <a:endParaRPr lang="en-US" sz="2800" dirty="0"/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flights %&gt;%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tailnum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 %&gt;%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summarize(routes =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n_distinct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(flight),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    flights = n())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5985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hart, scatter chart&#10;&#10;Description automatically generated">
            <a:extLst>
              <a:ext uri="{FF2B5EF4-FFF2-40B4-BE49-F238E27FC236}">
                <a16:creationId xmlns:a16="http://schemas.microsoft.com/office/drawing/2014/main" id="{2F3D77AC-9F3E-EC1C-48FF-93EF06B7A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877" y="1623780"/>
            <a:ext cx="5423756" cy="48515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What values make up this plot?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F160C9-3196-6776-4C4F-FE3C2A0A8906}"/>
              </a:ext>
            </a:extLst>
          </p:cNvPr>
          <p:cNvSpPr txBox="1"/>
          <p:nvPr/>
        </p:nvSpPr>
        <p:spPr>
          <a:xfrm>
            <a:off x="0" y="1203450"/>
            <a:ext cx="813807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flights %&gt;%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filter(!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is.na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tailnum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)) %&gt;%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tailnum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 %&gt;%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summarize(x=??, 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y=??) </a:t>
            </a:r>
          </a:p>
          <a:p>
            <a:endParaRPr lang="en-US" dirty="0"/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9DBFF84F-43DC-C5BC-36CE-174A7D2E8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2367" y="202710"/>
            <a:ext cx="825500" cy="9779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C23785-3EEE-393D-1A93-3CFBE55CEA82}"/>
              </a:ext>
            </a:extLst>
          </p:cNvPr>
          <p:cNvSpPr txBox="1"/>
          <p:nvPr/>
        </p:nvSpPr>
        <p:spPr>
          <a:xfrm>
            <a:off x="3484104" y="3977876"/>
            <a:ext cx="293606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y=</a:t>
            </a:r>
          </a:p>
          <a:p>
            <a:pPr marL="342900" indent="-342900">
              <a:buAutoNum type="alphaUcParenR"/>
            </a:pPr>
            <a:r>
              <a:rPr lang="en-US" sz="2800" dirty="0" err="1"/>
              <a:t>n_distinct</a:t>
            </a:r>
            <a:r>
              <a:rPr lang="en-US" sz="2800" dirty="0"/>
              <a:t>(flight)</a:t>
            </a:r>
          </a:p>
          <a:p>
            <a:pPr marL="342900" indent="-342900">
              <a:buAutoNum type="alphaUcParenR"/>
            </a:pPr>
            <a:r>
              <a:rPr lang="en-US" sz="2800" dirty="0"/>
              <a:t>n()</a:t>
            </a:r>
          </a:p>
          <a:p>
            <a:pPr marL="342900" indent="-342900">
              <a:buAutoNum type="alphaUcParenR"/>
            </a:pPr>
            <a:r>
              <a:rPr lang="en-US" sz="2800" dirty="0"/>
              <a:t>n()</a:t>
            </a:r>
          </a:p>
          <a:p>
            <a:pPr marL="342900" indent="-342900">
              <a:buAutoNum type="alphaUcParenR"/>
            </a:pPr>
            <a:r>
              <a:rPr lang="en-US" sz="2800" dirty="0"/>
              <a:t>n(talinum)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973B9A-CB69-46F1-07D3-C10FBC462C5D}"/>
              </a:ext>
            </a:extLst>
          </p:cNvPr>
          <p:cNvSpPr txBox="1"/>
          <p:nvPr/>
        </p:nvSpPr>
        <p:spPr>
          <a:xfrm>
            <a:off x="109064" y="3977877"/>
            <a:ext cx="330532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x=</a:t>
            </a:r>
          </a:p>
          <a:p>
            <a:pPr marL="342900" indent="-342900">
              <a:buAutoNum type="alphaUcParenR"/>
            </a:pPr>
            <a:r>
              <a:rPr lang="en-US" sz="2800" dirty="0"/>
              <a:t>n()</a:t>
            </a:r>
          </a:p>
          <a:p>
            <a:pPr marL="342900" indent="-342900">
              <a:buAutoNum type="alphaUcParenR"/>
            </a:pPr>
            <a:r>
              <a:rPr lang="en-US" sz="2800" dirty="0" err="1"/>
              <a:t>n_distinct</a:t>
            </a:r>
            <a:r>
              <a:rPr lang="en-US" sz="2800" dirty="0"/>
              <a:t>(talinum)</a:t>
            </a:r>
          </a:p>
          <a:p>
            <a:pPr marL="342900" indent="-342900">
              <a:buAutoNum type="alphaUcParenR"/>
            </a:pPr>
            <a:r>
              <a:rPr lang="en-US" sz="2800" dirty="0" err="1"/>
              <a:t>n_distinct</a:t>
            </a:r>
            <a:r>
              <a:rPr lang="en-US" sz="2800" dirty="0"/>
              <a:t>(flight)</a:t>
            </a:r>
          </a:p>
          <a:p>
            <a:pPr marL="342900" indent="-342900">
              <a:buAutoNum type="alphaUcParenR"/>
            </a:pPr>
            <a:r>
              <a:rPr lang="en-US" sz="2800" dirty="0"/>
              <a:t>n(flight)</a:t>
            </a:r>
          </a:p>
        </p:txBody>
      </p:sp>
    </p:spTree>
    <p:extLst>
      <p:ext uri="{BB962C8B-B14F-4D97-AF65-F5344CB8AC3E}">
        <p14:creationId xmlns:p14="http://schemas.microsoft.com/office/powerpoint/2010/main" val="17726513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 err="1"/>
              <a:t>Subsetting</a:t>
            </a:r>
            <a:r>
              <a:rPr lang="en-US" sz="4400" dirty="0"/>
              <a:t> observations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E3934F-796A-3333-775D-1E5D565272E9}"/>
              </a:ext>
            </a:extLst>
          </p:cNvPr>
          <p:cNvSpPr txBox="1"/>
          <p:nvPr/>
        </p:nvSpPr>
        <p:spPr>
          <a:xfrm>
            <a:off x="1079982" y="1040736"/>
            <a:ext cx="9865245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slice_max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()/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slice_min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800" dirty="0"/>
              <a:t>	return top or bottom entries</a:t>
            </a:r>
          </a:p>
          <a:p>
            <a:r>
              <a:rPr lang="en-US" sz="2800" dirty="0"/>
              <a:t>	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flights %&gt;%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slice_max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air_time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n = 3)</a:t>
            </a:r>
          </a:p>
          <a:p>
            <a:endParaRPr lang="en-US" sz="2800" dirty="0"/>
          </a:p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sample_n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800" dirty="0"/>
              <a:t>	Randomly choose n rows</a:t>
            </a:r>
          </a:p>
          <a:p>
            <a:r>
              <a:rPr lang="en-US" sz="2800" dirty="0"/>
              <a:t>	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flights %&gt;%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sample_n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(4)</a:t>
            </a:r>
          </a:p>
          <a:p>
            <a:endParaRPr lang="en-US" sz="2800" dirty="0"/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distinct()</a:t>
            </a:r>
          </a:p>
          <a:p>
            <a:r>
              <a:rPr lang="en-US" sz="2800" dirty="0"/>
              <a:t>	Returns unique combinations of values (like count() but without the row count)</a:t>
            </a:r>
          </a:p>
          <a:p>
            <a:r>
              <a:rPr lang="en-US" sz="2800" dirty="0"/>
              <a:t>	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flights %&gt;% distinct(year, month)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1911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Lead/lag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E3934F-796A-3333-775D-1E5D565272E9}"/>
              </a:ext>
            </a:extLst>
          </p:cNvPr>
          <p:cNvSpPr txBox="1"/>
          <p:nvPr/>
        </p:nvSpPr>
        <p:spPr>
          <a:xfrm>
            <a:off x="496231" y="1258710"/>
            <a:ext cx="1077964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”Shift” values so you can compare current value to a previous or following value</a:t>
            </a:r>
          </a:p>
          <a:p>
            <a:endParaRPr lang="en-US" sz="2800" dirty="0"/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Growth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tibble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age = 2:9, 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height = c(33.7, 37.0, 39.4, 42.2, 45.5, 47.7,      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50.6, 52.7))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growth %&gt;% mutate(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prevh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lag(height),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nexth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lead(height), growth = height-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prevh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046616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Conditional replacement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E3934F-796A-3333-775D-1E5D565272E9}"/>
              </a:ext>
            </a:extLst>
          </p:cNvPr>
          <p:cNvSpPr txBox="1"/>
          <p:nvPr/>
        </p:nvSpPr>
        <p:spPr>
          <a:xfrm>
            <a:off x="656305" y="1714288"/>
            <a:ext cx="1087938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if_else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800" dirty="0"/>
              <a:t>function helps to change values in certain cases</a:t>
            </a:r>
          </a:p>
          <a:p>
            <a:endParaRPr lang="en-US" sz="2800" dirty="0"/>
          </a:p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if_else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(&lt;condition&gt;, &lt;if true&gt;, &lt;if false&gt;)</a:t>
            </a:r>
          </a:p>
          <a:p>
            <a:endParaRPr lang="en-US" sz="2800" dirty="0"/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flights %&gt;% mutate( 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real_delay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if_else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&lt;0, 0,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)) </a:t>
            </a:r>
          </a:p>
          <a:p>
            <a:endParaRPr lang="en-US" sz="2800" dirty="0"/>
          </a:p>
          <a:p>
            <a:r>
              <a:rPr lang="en-US" sz="2800" dirty="0"/>
              <a:t>If have more cases than TRUE/FALSE, check out the </a:t>
            </a:r>
            <a:r>
              <a:rPr lang="en-US" sz="2800" dirty="0" err="1"/>
              <a:t>case_when</a:t>
            </a:r>
            <a:r>
              <a:rPr lang="en-US" sz="2800" dirty="0"/>
              <a:t>() </a:t>
            </a:r>
            <a:r>
              <a:rPr lang="en-US" sz="2800" dirty="0" err="1"/>
              <a:t>funciton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976006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Programming with </a:t>
            </a:r>
            <a:r>
              <a:rPr lang="en-US" sz="4400" dirty="0" err="1"/>
              <a:t>dplyr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3539BA-6BC8-7215-11DE-E3DAB9523AF2}"/>
              </a:ext>
            </a:extLst>
          </p:cNvPr>
          <p:cNvSpPr txBox="1"/>
          <p:nvPr/>
        </p:nvSpPr>
        <p:spPr>
          <a:xfrm>
            <a:off x="826882" y="1040736"/>
            <a:ext cx="10522059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800" dirty="0"/>
              <a:t>Calculate average arrival delay: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flights %&gt;% 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(carrier) %&gt;% 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summarize(delay=mean(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na.rm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=T)) </a:t>
            </a:r>
          </a:p>
          <a:p>
            <a:endParaRPr lang="en-US" sz="2800" dirty="0"/>
          </a:p>
          <a:p>
            <a:r>
              <a:rPr lang="en-US" sz="2800" dirty="0"/>
              <a:t>Calculate average departure delay: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flights %&gt;% 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(carrier) %&gt;% 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summarize(delay=mean(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na.rm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=T)) </a:t>
            </a:r>
          </a:p>
          <a:p>
            <a:endParaRPr lang="en-US" sz="2800" dirty="0"/>
          </a:p>
          <a:p>
            <a:r>
              <a:rPr lang="en-US" sz="2800" dirty="0"/>
              <a:t>Bad form to repeat code</a:t>
            </a:r>
          </a:p>
          <a:p>
            <a:r>
              <a:rPr lang="en-US" sz="2800" b="1" dirty="0"/>
              <a:t>Solution is to write a function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8064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Programming with </a:t>
            </a:r>
            <a:r>
              <a:rPr lang="en-US" sz="4400" dirty="0" err="1"/>
              <a:t>dplyr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3539BA-6BC8-7215-11DE-E3DAB9523AF2}"/>
              </a:ext>
            </a:extLst>
          </p:cNvPr>
          <p:cNvSpPr txBox="1"/>
          <p:nvPr/>
        </p:nvSpPr>
        <p:spPr>
          <a:xfrm>
            <a:off x="826882" y="1040736"/>
            <a:ext cx="1052205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800" dirty="0"/>
              <a:t>Calculate average arrival delay:</a:t>
            </a:r>
          </a:p>
          <a:p>
            <a:endParaRPr lang="en-US" sz="2800" dirty="0"/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function(x) {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flights %&gt;%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(carrier) %&gt;%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summarize(delay = mean({{x}},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na.rm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=T))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/>
          </a:p>
          <a:p>
            <a:r>
              <a:rPr lang="en-US" sz="2400" dirty="0"/>
              <a:t>Use {{}} around parameters for column names you pass to your function</a:t>
            </a:r>
          </a:p>
        </p:txBody>
      </p:sp>
    </p:spTree>
    <p:extLst>
      <p:ext uri="{BB962C8B-B14F-4D97-AF65-F5344CB8AC3E}">
        <p14:creationId xmlns:p14="http://schemas.microsoft.com/office/powerpoint/2010/main" val="7468388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Renaming output :=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3539BA-6BC8-7215-11DE-E3DAB9523AF2}"/>
              </a:ext>
            </a:extLst>
          </p:cNvPr>
          <p:cNvSpPr txBox="1"/>
          <p:nvPr/>
        </p:nvSpPr>
        <p:spPr>
          <a:xfrm>
            <a:off x="826882" y="1040736"/>
            <a:ext cx="1052205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800" dirty="0"/>
              <a:t>Calculate average arrival delay:</a:t>
            </a:r>
          </a:p>
          <a:p>
            <a:endParaRPr lang="en-US" sz="2800" dirty="0"/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function(data, x) {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data %&gt;%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(carrier) %&gt;%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summarize(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"{{x}}" :=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mean({{x}},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na.rm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=T))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/>
          </a:p>
          <a:p>
            <a:r>
              <a:rPr lang="en-US" sz="2400" dirty="0"/>
              <a:t>Use {{}} around parameters for column names you pass to your function</a:t>
            </a:r>
          </a:p>
        </p:txBody>
      </p:sp>
    </p:spTree>
    <p:extLst>
      <p:ext uri="{BB962C8B-B14F-4D97-AF65-F5344CB8AC3E}">
        <p14:creationId xmlns:p14="http://schemas.microsoft.com/office/powerpoint/2010/main" val="151505155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Renaming output :=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3539BA-6BC8-7215-11DE-E3DAB9523AF2}"/>
              </a:ext>
            </a:extLst>
          </p:cNvPr>
          <p:cNvSpPr txBox="1"/>
          <p:nvPr/>
        </p:nvSpPr>
        <p:spPr>
          <a:xfrm>
            <a:off x="826882" y="1040736"/>
            <a:ext cx="1052205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800" dirty="0"/>
              <a:t>Calculate average arrival delay:</a:t>
            </a:r>
          </a:p>
          <a:p>
            <a:endParaRPr lang="en-US" sz="2800" dirty="0"/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function(x) {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flights %&gt;%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(carrier) %&gt;%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summarize(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"{{x}}" :=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mean({{x}},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na.rm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=T))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dep_delay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/>
          </a:p>
          <a:p>
            <a:r>
              <a:rPr lang="en-US" sz="2400" dirty="0"/>
              <a:t>Use {{}} around parameters for column names you pass to your function</a:t>
            </a:r>
          </a:p>
        </p:txBody>
      </p:sp>
    </p:spTree>
    <p:extLst>
      <p:ext uri="{BB962C8B-B14F-4D97-AF65-F5344CB8AC3E}">
        <p14:creationId xmlns:p14="http://schemas.microsoft.com/office/powerpoint/2010/main" val="41807031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able&#10;&#10;Description automatically generated">
            <a:extLst>
              <a:ext uri="{FF2B5EF4-FFF2-40B4-BE49-F238E27FC236}">
                <a16:creationId xmlns:a16="http://schemas.microsoft.com/office/drawing/2014/main" id="{A44C92BC-B7AD-87E2-487B-7140E79E5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610" y="1373965"/>
            <a:ext cx="6616390" cy="47465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882" y="382695"/>
            <a:ext cx="10118345" cy="731308"/>
          </a:xfrm>
        </p:spPr>
        <p:txBody>
          <a:bodyPr/>
          <a:lstStyle/>
          <a:p>
            <a:r>
              <a:rPr lang="en-US" sz="4400" dirty="0"/>
              <a:t>Loading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E6499-8651-DB59-7129-52ADFDA97E3A}"/>
              </a:ext>
            </a:extLst>
          </p:cNvPr>
          <p:cNvSpPr txBox="1"/>
          <p:nvPr/>
        </p:nvSpPr>
        <p:spPr>
          <a:xfrm>
            <a:off x="1982709" y="166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C99FF-8AAA-1AD4-2C8F-DBD7604F3636}"/>
              </a:ext>
            </a:extLst>
          </p:cNvPr>
          <p:cNvSpPr txBox="1"/>
          <p:nvPr/>
        </p:nvSpPr>
        <p:spPr>
          <a:xfrm>
            <a:off x="7568698" y="45596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460AC-F6DA-0127-52C3-16418BF382EF}"/>
              </a:ext>
            </a:extLst>
          </p:cNvPr>
          <p:cNvSpPr txBox="1"/>
          <p:nvPr/>
        </p:nvSpPr>
        <p:spPr>
          <a:xfrm>
            <a:off x="5575610" y="5475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3539BA-6BC8-7215-11DE-E3DAB9523AF2}"/>
              </a:ext>
            </a:extLst>
          </p:cNvPr>
          <p:cNvSpPr txBox="1"/>
          <p:nvPr/>
        </p:nvSpPr>
        <p:spPr>
          <a:xfrm>
            <a:off x="826882" y="1502481"/>
            <a:ext cx="105220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Either use </a:t>
            </a:r>
            <a:r>
              <a:rPr lang="en-US" sz="2800" dirty="0" err="1"/>
              <a:t>readr</a:t>
            </a:r>
            <a:r>
              <a:rPr lang="en-US" sz="2800" dirty="0"/>
              <a:t> from </a:t>
            </a:r>
            <a:r>
              <a:rPr lang="en-US" sz="2800" dirty="0" err="1"/>
              <a:t>Tidyverse</a:t>
            </a:r>
            <a:r>
              <a:rPr lang="en-US" sz="2800" dirty="0"/>
              <a:t> </a:t>
            </a:r>
          </a:p>
          <a:p>
            <a:r>
              <a:rPr lang="en-US" sz="2800" dirty="0"/>
              <a:t>Or.. point and click from RStudio</a:t>
            </a:r>
          </a:p>
        </p:txBody>
      </p:sp>
      <p:pic>
        <p:nvPicPr>
          <p:cNvPr id="9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3B8A8E2-9D61-1B07-3101-D6DBE13E3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444" y="2726308"/>
            <a:ext cx="4041680" cy="420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2382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Flights exercises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C691B-C5B4-ECBC-7F19-C27400E4181B}"/>
              </a:ext>
            </a:extLst>
          </p:cNvPr>
          <p:cNvSpPr txBox="1"/>
          <p:nvPr/>
        </p:nvSpPr>
        <p:spPr>
          <a:xfrm>
            <a:off x="2435382" y="506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59C86A0-AA48-6DB9-0A38-31268D0B9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294" y="1285593"/>
            <a:ext cx="7371043" cy="458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831477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Slide 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le Slide 4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itle Slide 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ontent Slide 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Content Slide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Content Slide 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Content Slide 4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Content Slide 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Content Slide 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15537</TotalTime>
  <Words>3367</Words>
  <Application>Microsoft Macintosh PowerPoint</Application>
  <PresentationFormat>Widescreen</PresentationFormat>
  <Paragraphs>608</Paragraphs>
  <Slides>72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72</vt:i4>
      </vt:variant>
    </vt:vector>
  </HeadingPairs>
  <TitlesOfParts>
    <vt:vector size="87" baseType="lpstr">
      <vt:lpstr>Arial</vt:lpstr>
      <vt:lpstr>Calibri</vt:lpstr>
      <vt:lpstr>Calibri Light</vt:lpstr>
      <vt:lpstr>Courier New</vt:lpstr>
      <vt:lpstr>System Font Regular</vt:lpstr>
      <vt:lpstr>Title Slide 2</vt:lpstr>
      <vt:lpstr>Title Slide 3</vt:lpstr>
      <vt:lpstr>Title Slide 4</vt:lpstr>
      <vt:lpstr>Title Slide 5</vt:lpstr>
      <vt:lpstr>Content Slide 1</vt:lpstr>
      <vt:lpstr>Content Slide 2</vt:lpstr>
      <vt:lpstr>Content Slide 3</vt:lpstr>
      <vt:lpstr>Content Slide 4</vt:lpstr>
      <vt:lpstr>Content Slide 5</vt:lpstr>
      <vt:lpstr>Content Slide 6</vt:lpstr>
      <vt:lpstr>Data manipulation with dplyr Documentation with Quarto</vt:lpstr>
      <vt:lpstr>About me</vt:lpstr>
      <vt:lpstr>R workshop setup</vt:lpstr>
      <vt:lpstr>Roadmap</vt:lpstr>
      <vt:lpstr>Roadmap</vt:lpstr>
      <vt:lpstr>PowerPoint Presentation</vt:lpstr>
      <vt:lpstr>PowerPoint Presentation</vt:lpstr>
      <vt:lpstr>R packages</vt:lpstr>
      <vt:lpstr>Tidyverse</vt:lpstr>
      <vt:lpstr>Roadmap</vt:lpstr>
      <vt:lpstr>dplyr: motivation</vt:lpstr>
      <vt:lpstr>load dplyr</vt:lpstr>
      <vt:lpstr>Sample data</vt:lpstr>
      <vt:lpstr>Sample data: flights</vt:lpstr>
      <vt:lpstr>Sample data: flights</vt:lpstr>
      <vt:lpstr>flights table</vt:lpstr>
      <vt:lpstr>Basic dplyr verbs</vt:lpstr>
      <vt:lpstr>Basic dplyr verbs: pictorially</vt:lpstr>
      <vt:lpstr>dplyr verb properties</vt:lpstr>
      <vt:lpstr>Filtering rows</vt:lpstr>
      <vt:lpstr>Filtering rows</vt:lpstr>
      <vt:lpstr>How about your last connecting flight?</vt:lpstr>
      <vt:lpstr>Comparisons when filtering</vt:lpstr>
      <vt:lpstr>Selecting columns</vt:lpstr>
      <vt:lpstr>Selecting columns</vt:lpstr>
      <vt:lpstr>Selecting columns… part 2</vt:lpstr>
      <vt:lpstr>Can we combine select and filter?</vt:lpstr>
      <vt:lpstr>Verb composition with pipes</vt:lpstr>
      <vt:lpstr>Verb composition with pipes</vt:lpstr>
      <vt:lpstr>Try using chains</vt:lpstr>
      <vt:lpstr>Sort (arrange) data</vt:lpstr>
      <vt:lpstr>Sort (arrange) data</vt:lpstr>
      <vt:lpstr>Final flight using the sequence of verbs</vt:lpstr>
      <vt:lpstr>Create new variables</vt:lpstr>
      <vt:lpstr>Create new variables</vt:lpstr>
      <vt:lpstr>Use new variables right away</vt:lpstr>
      <vt:lpstr>Summarize data</vt:lpstr>
      <vt:lpstr>Summarize data</vt:lpstr>
      <vt:lpstr>Something’s missing</vt:lpstr>
      <vt:lpstr>Example (base R)</vt:lpstr>
      <vt:lpstr>Example (base R)</vt:lpstr>
      <vt:lpstr>Average delay (for those with a delay)</vt:lpstr>
      <vt:lpstr>Try your own summary</vt:lpstr>
      <vt:lpstr>Grouping data</vt:lpstr>
      <vt:lpstr>group_by() + summarize() example</vt:lpstr>
      <vt:lpstr>group_by() + mutate() example</vt:lpstr>
      <vt:lpstr>Combine group_by() with transformations </vt:lpstr>
      <vt:lpstr>Summarization exercise</vt:lpstr>
      <vt:lpstr>Multiple columns, same function</vt:lpstr>
      <vt:lpstr>The five (six?) verbs</vt:lpstr>
      <vt:lpstr>Merging data</vt:lpstr>
      <vt:lpstr>”airlines” table</vt:lpstr>
      <vt:lpstr>Join flights to airlines</vt:lpstr>
      <vt:lpstr>Types of joins (merges)</vt:lpstr>
      <vt:lpstr>Types of joins (merges)</vt:lpstr>
      <vt:lpstr>Types of joins (merges)</vt:lpstr>
      <vt:lpstr>Types of joins (merges)</vt:lpstr>
      <vt:lpstr>Types of joins (merges)</vt:lpstr>
      <vt:lpstr>Non-merging joins</vt:lpstr>
      <vt:lpstr>Join by</vt:lpstr>
      <vt:lpstr>Other useful dplyr functions</vt:lpstr>
      <vt:lpstr>More counting functions</vt:lpstr>
      <vt:lpstr>What values make up this plot?</vt:lpstr>
      <vt:lpstr>Subsetting observations</vt:lpstr>
      <vt:lpstr>Lead/lag functions</vt:lpstr>
      <vt:lpstr>Conditional replacement</vt:lpstr>
      <vt:lpstr>Programming with dplyr</vt:lpstr>
      <vt:lpstr>Programming with dplyr</vt:lpstr>
      <vt:lpstr>Renaming output :=</vt:lpstr>
      <vt:lpstr>Renaming output :=</vt:lpstr>
      <vt:lpstr>Loading data</vt:lpstr>
      <vt:lpstr>Flights 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Microsoft Office User</dc:creator>
  <cp:lastModifiedBy>Kleinsasser, Mike</cp:lastModifiedBy>
  <cp:revision>207</cp:revision>
  <dcterms:created xsi:type="dcterms:W3CDTF">2019-11-08T16:47:49Z</dcterms:created>
  <dcterms:modified xsi:type="dcterms:W3CDTF">2025-06-10T15:35:56Z</dcterms:modified>
</cp:coreProperties>
</file>