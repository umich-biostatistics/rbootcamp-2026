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52" r:id="rId2"/>
    <p:sldMasterId id="2147483654" r:id="rId3"/>
    <p:sldMasterId id="2147483656" r:id="rId4"/>
    <p:sldMasterId id="2147483662" r:id="rId5"/>
    <p:sldMasterId id="2147483664" r:id="rId6"/>
    <p:sldMasterId id="2147483666" r:id="rId7"/>
    <p:sldMasterId id="2147483668" r:id="rId8"/>
    <p:sldMasterId id="2147483658" r:id="rId9"/>
    <p:sldMasterId id="2147483660" r:id="rId10"/>
  </p:sldMasterIdLst>
  <p:notesMasterIdLst>
    <p:notesMasterId r:id="rId79"/>
  </p:notesMasterIdLst>
  <p:sldIdLst>
    <p:sldId id="260" r:id="rId11"/>
    <p:sldId id="267" r:id="rId12"/>
    <p:sldId id="268" r:id="rId13"/>
    <p:sldId id="329" r:id="rId14"/>
    <p:sldId id="347" r:id="rId15"/>
    <p:sldId id="371" r:id="rId16"/>
    <p:sldId id="346" r:id="rId17"/>
    <p:sldId id="348" r:id="rId18"/>
    <p:sldId id="349" r:id="rId19"/>
    <p:sldId id="350" r:id="rId20"/>
    <p:sldId id="351" r:id="rId21"/>
    <p:sldId id="352" r:id="rId22"/>
    <p:sldId id="368" r:id="rId23"/>
    <p:sldId id="353" r:id="rId24"/>
    <p:sldId id="354" r:id="rId25"/>
    <p:sldId id="355" r:id="rId26"/>
    <p:sldId id="356" r:id="rId27"/>
    <p:sldId id="361" r:id="rId28"/>
    <p:sldId id="362" r:id="rId29"/>
    <p:sldId id="363" r:id="rId30"/>
    <p:sldId id="364" r:id="rId31"/>
    <p:sldId id="357" r:id="rId32"/>
    <p:sldId id="358" r:id="rId33"/>
    <p:sldId id="373" r:id="rId34"/>
    <p:sldId id="366" r:id="rId35"/>
    <p:sldId id="367" r:id="rId36"/>
    <p:sldId id="372" r:id="rId37"/>
    <p:sldId id="369" r:id="rId38"/>
    <p:sldId id="370" r:id="rId39"/>
    <p:sldId id="374" r:id="rId40"/>
    <p:sldId id="375" r:id="rId41"/>
    <p:sldId id="376" r:id="rId42"/>
    <p:sldId id="377" r:id="rId43"/>
    <p:sldId id="378" r:id="rId44"/>
    <p:sldId id="379" r:id="rId45"/>
    <p:sldId id="359" r:id="rId46"/>
    <p:sldId id="380" r:id="rId47"/>
    <p:sldId id="381" r:id="rId48"/>
    <p:sldId id="382" r:id="rId49"/>
    <p:sldId id="383" r:id="rId50"/>
    <p:sldId id="384" r:id="rId51"/>
    <p:sldId id="385" r:id="rId52"/>
    <p:sldId id="386" r:id="rId53"/>
    <p:sldId id="387" r:id="rId54"/>
    <p:sldId id="388" r:id="rId55"/>
    <p:sldId id="389" r:id="rId56"/>
    <p:sldId id="390" r:id="rId57"/>
    <p:sldId id="391" r:id="rId58"/>
    <p:sldId id="392" r:id="rId59"/>
    <p:sldId id="395" r:id="rId60"/>
    <p:sldId id="396" r:id="rId61"/>
    <p:sldId id="393" r:id="rId62"/>
    <p:sldId id="394" r:id="rId63"/>
    <p:sldId id="397" r:id="rId64"/>
    <p:sldId id="398" r:id="rId65"/>
    <p:sldId id="400" r:id="rId66"/>
    <p:sldId id="401" r:id="rId67"/>
    <p:sldId id="402" r:id="rId68"/>
    <p:sldId id="403" r:id="rId69"/>
    <p:sldId id="404" r:id="rId70"/>
    <p:sldId id="406" r:id="rId71"/>
    <p:sldId id="412" r:id="rId72"/>
    <p:sldId id="413" r:id="rId73"/>
    <p:sldId id="414" r:id="rId74"/>
    <p:sldId id="408" r:id="rId75"/>
    <p:sldId id="410" r:id="rId76"/>
    <p:sldId id="409" r:id="rId77"/>
    <p:sldId id="411" r:id="rId7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6FA"/>
    <a:srgbClr val="DAF4F4"/>
    <a:srgbClr val="181776"/>
    <a:srgbClr val="178E46"/>
    <a:srgbClr val="DEC80F"/>
    <a:srgbClr val="05CBF5"/>
    <a:srgbClr val="BBEFEE"/>
    <a:srgbClr val="0027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954"/>
    <p:restoredTop sz="95867"/>
  </p:normalViewPr>
  <p:slideViewPr>
    <p:cSldViewPr snapToGrid="0" snapToObjects="1">
      <p:cViewPr>
        <p:scale>
          <a:sx n="130" d="100"/>
          <a:sy n="130" d="100"/>
        </p:scale>
        <p:origin x="864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3" d="100"/>
          <a:sy n="93" d="100"/>
        </p:scale>
        <p:origin x="3624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6.xml"/><Relationship Id="rId21" Type="http://schemas.openxmlformats.org/officeDocument/2006/relationships/slide" Target="slides/slide11.xml"/><Relationship Id="rId42" Type="http://schemas.openxmlformats.org/officeDocument/2006/relationships/slide" Target="slides/slide32.xml"/><Relationship Id="rId47" Type="http://schemas.openxmlformats.org/officeDocument/2006/relationships/slide" Target="slides/slide37.xml"/><Relationship Id="rId63" Type="http://schemas.openxmlformats.org/officeDocument/2006/relationships/slide" Target="slides/slide53.xml"/><Relationship Id="rId68" Type="http://schemas.openxmlformats.org/officeDocument/2006/relationships/slide" Target="slides/slide58.xml"/><Relationship Id="rId16" Type="http://schemas.openxmlformats.org/officeDocument/2006/relationships/slide" Target="slides/slide6.xml"/><Relationship Id="rId11" Type="http://schemas.openxmlformats.org/officeDocument/2006/relationships/slide" Target="slides/slide1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53" Type="http://schemas.openxmlformats.org/officeDocument/2006/relationships/slide" Target="slides/slide43.xml"/><Relationship Id="rId58" Type="http://schemas.openxmlformats.org/officeDocument/2006/relationships/slide" Target="slides/slide48.xml"/><Relationship Id="rId74" Type="http://schemas.openxmlformats.org/officeDocument/2006/relationships/slide" Target="slides/slide64.xml"/><Relationship Id="rId79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1.xml"/><Relationship Id="rId82" Type="http://schemas.openxmlformats.org/officeDocument/2006/relationships/theme" Target="theme/theme1.xml"/><Relationship Id="rId19" Type="http://schemas.openxmlformats.org/officeDocument/2006/relationships/slide" Target="slides/slide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56" Type="http://schemas.openxmlformats.org/officeDocument/2006/relationships/slide" Target="slides/slide46.xml"/><Relationship Id="rId64" Type="http://schemas.openxmlformats.org/officeDocument/2006/relationships/slide" Target="slides/slide54.xml"/><Relationship Id="rId69" Type="http://schemas.openxmlformats.org/officeDocument/2006/relationships/slide" Target="slides/slide59.xml"/><Relationship Id="rId77" Type="http://schemas.openxmlformats.org/officeDocument/2006/relationships/slide" Target="slides/slide67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1.xml"/><Relationship Id="rId72" Type="http://schemas.openxmlformats.org/officeDocument/2006/relationships/slide" Target="slides/slide62.xml"/><Relationship Id="rId80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slide" Target="slides/slide36.xml"/><Relationship Id="rId59" Type="http://schemas.openxmlformats.org/officeDocument/2006/relationships/slide" Target="slides/slide49.xml"/><Relationship Id="rId67" Type="http://schemas.openxmlformats.org/officeDocument/2006/relationships/slide" Target="slides/slide57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54" Type="http://schemas.openxmlformats.org/officeDocument/2006/relationships/slide" Target="slides/slide44.xml"/><Relationship Id="rId62" Type="http://schemas.openxmlformats.org/officeDocument/2006/relationships/slide" Target="slides/slide52.xml"/><Relationship Id="rId70" Type="http://schemas.openxmlformats.org/officeDocument/2006/relationships/slide" Target="slides/slide60.xml"/><Relationship Id="rId75" Type="http://schemas.openxmlformats.org/officeDocument/2006/relationships/slide" Target="slides/slide65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slide" Target="slides/slide39.xml"/><Relationship Id="rId57" Type="http://schemas.openxmlformats.org/officeDocument/2006/relationships/slide" Target="slides/slide47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slide" Target="slides/slide42.xml"/><Relationship Id="rId60" Type="http://schemas.openxmlformats.org/officeDocument/2006/relationships/slide" Target="slides/slide50.xml"/><Relationship Id="rId65" Type="http://schemas.openxmlformats.org/officeDocument/2006/relationships/slide" Target="slides/slide55.xml"/><Relationship Id="rId73" Type="http://schemas.openxmlformats.org/officeDocument/2006/relationships/slide" Target="slides/slide63.xml"/><Relationship Id="rId78" Type="http://schemas.openxmlformats.org/officeDocument/2006/relationships/slide" Target="slides/slide68.xml"/><Relationship Id="rId8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9" Type="http://schemas.openxmlformats.org/officeDocument/2006/relationships/slide" Target="slides/slide29.xml"/><Relationship Id="rId34" Type="http://schemas.openxmlformats.org/officeDocument/2006/relationships/slide" Target="slides/slide24.xml"/><Relationship Id="rId50" Type="http://schemas.openxmlformats.org/officeDocument/2006/relationships/slide" Target="slides/slide40.xml"/><Relationship Id="rId55" Type="http://schemas.openxmlformats.org/officeDocument/2006/relationships/slide" Target="slides/slide45.xml"/><Relationship Id="rId76" Type="http://schemas.openxmlformats.org/officeDocument/2006/relationships/slide" Target="slides/slide66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9.xml"/><Relationship Id="rId24" Type="http://schemas.openxmlformats.org/officeDocument/2006/relationships/slide" Target="slides/slide14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66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A161-7CB4-2742-87C2-0F3FCF2918B0}" type="datetimeFigureOut">
              <a:rPr lang="en-US" smtClean="0"/>
              <a:t>8/24/23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542D4E-72CC-1C4F-8054-828B7F2DF6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648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104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219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109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377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1485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67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3192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2773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2337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9895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8852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7824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3939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7891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1499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2214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9389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290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7084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5442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7700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5751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8317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6179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8404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2538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6229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5630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560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9465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9481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0759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6045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0603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7012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3835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52488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27485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61161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71668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18300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49981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2219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85437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76708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80333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62794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52171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69368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50494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03881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42914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23386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14585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64214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56326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74033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58267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69590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42D4E-72CC-1C4F-8054-828B7F2DF6D4}" type="slidenum">
              <a:rPr lang="en-US" smtClean="0"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141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239D1-55F5-B545-B3C1-D2779C975C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3005958"/>
            <a:ext cx="12192000" cy="1407894"/>
          </a:xfrm>
          <a:prstGeom prst="rect">
            <a:avLst/>
          </a:prstGeom>
        </p:spPr>
        <p:txBody>
          <a:bodyPr anchor="b"/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Slide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83E85C-23C4-9D49-A616-F1EFF90A3B2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4989403"/>
            <a:ext cx="12192000" cy="99098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SUBTITLE/TAGLINE</a:t>
            </a:r>
          </a:p>
        </p:txBody>
      </p:sp>
    </p:spTree>
    <p:extLst>
      <p:ext uri="{BB962C8B-B14F-4D97-AF65-F5344CB8AC3E}">
        <p14:creationId xmlns:p14="http://schemas.microsoft.com/office/powerpoint/2010/main" val="2255427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8AC0B3B-0651-0941-A1FA-9888F8C21B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3005958"/>
            <a:ext cx="12192000" cy="1407894"/>
          </a:xfrm>
          <a:prstGeom prst="rect">
            <a:avLst/>
          </a:prstGeom>
        </p:spPr>
        <p:txBody>
          <a:bodyPr anchor="b"/>
          <a:lstStyle>
            <a:lvl1pPr algn="ctr">
              <a:defRPr sz="4800"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Title Slide 3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9C69A87-9049-B547-A73E-B8B4DF77F59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4989403"/>
            <a:ext cx="12192000" cy="99098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SUBTITLE/TAGLINE</a:t>
            </a:r>
          </a:p>
        </p:txBody>
      </p:sp>
    </p:spTree>
    <p:extLst>
      <p:ext uri="{BB962C8B-B14F-4D97-AF65-F5344CB8AC3E}">
        <p14:creationId xmlns:p14="http://schemas.microsoft.com/office/powerpoint/2010/main" val="2559752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7920D87-571D-CC4B-B389-D3610F6FE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665522"/>
            <a:ext cx="12191999" cy="1736944"/>
          </a:xfrm>
          <a:prstGeom prst="rect">
            <a:avLst/>
          </a:prstGeom>
        </p:spPr>
        <p:txBody>
          <a:bodyPr anchor="b"/>
          <a:lstStyle>
            <a:lvl1pPr algn="ctr">
              <a:defRPr sz="4800" b="1">
                <a:solidFill>
                  <a:srgbClr val="00274C"/>
                </a:solidFill>
              </a:defRPr>
            </a:lvl1pPr>
          </a:lstStyle>
          <a:p>
            <a:r>
              <a:rPr lang="en-US" dirty="0"/>
              <a:t>Title Slide 4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A97885D-6546-714E-B343-8B08B239D2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4989403"/>
            <a:ext cx="12192000" cy="99098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SUBTITLE/TAGLINE</a:t>
            </a:r>
          </a:p>
        </p:txBody>
      </p:sp>
    </p:spTree>
    <p:extLst>
      <p:ext uri="{BB962C8B-B14F-4D97-AF65-F5344CB8AC3E}">
        <p14:creationId xmlns:p14="http://schemas.microsoft.com/office/powerpoint/2010/main" val="2516807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E6B6FD4-9028-7F40-BB72-29574A6E698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3005958"/>
            <a:ext cx="12192000" cy="1407894"/>
          </a:xfrm>
          <a:prstGeom prst="rect">
            <a:avLst/>
          </a:prstGeom>
        </p:spPr>
        <p:txBody>
          <a:bodyPr anchor="b"/>
          <a:lstStyle>
            <a:lvl1pPr algn="ctr">
              <a:defRPr sz="4800"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Title Slide 5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68E8998-340B-5044-BF2F-35289E5DDA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0" y="4989403"/>
            <a:ext cx="12192000" cy="99098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rgbClr val="00274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SUBTITLE/TAGLINE</a:t>
            </a:r>
          </a:p>
        </p:txBody>
      </p:sp>
    </p:spTree>
    <p:extLst>
      <p:ext uri="{BB962C8B-B14F-4D97-AF65-F5344CB8AC3E}">
        <p14:creationId xmlns:p14="http://schemas.microsoft.com/office/powerpoint/2010/main" val="490143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9032E25-2363-5343-A306-954E3827CE3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355108"/>
            <a:ext cx="9144000" cy="864092"/>
          </a:xfrm>
          <a:prstGeom prst="rect">
            <a:avLst/>
          </a:prstGeom>
        </p:spPr>
        <p:txBody>
          <a:bodyPr anchor="b"/>
          <a:lstStyle>
            <a:lvl1pPr algn="l">
              <a:defRPr sz="4800" b="1">
                <a:solidFill>
                  <a:srgbClr val="00274C"/>
                </a:solidFill>
              </a:defRPr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573A1B3-25CF-C244-9A9F-F0AD140606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1542009"/>
            <a:ext cx="9144000" cy="459603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4135158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11FECBE-7F2E-A244-8F06-AF3BB9BB36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355108"/>
            <a:ext cx="9144000" cy="864092"/>
          </a:xfrm>
          <a:prstGeom prst="rect">
            <a:avLst/>
          </a:prstGeom>
        </p:spPr>
        <p:txBody>
          <a:bodyPr anchor="b"/>
          <a:lstStyle>
            <a:lvl1pPr algn="l">
              <a:defRPr sz="4800" b="1">
                <a:solidFill>
                  <a:srgbClr val="00274C"/>
                </a:solidFill>
              </a:defRPr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4E4369A-837A-B34E-AB83-109EFB99D88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1542009"/>
            <a:ext cx="9144000" cy="459603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Content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1C186C50-8FFD-7347-8887-535491AC5A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3166" y="6474372"/>
            <a:ext cx="974834" cy="24710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1E98028-C120-C94E-94C2-6A0D2C6AE1BF}" type="datetimeFigureOut">
              <a:rPr lang="en-US" smtClean="0"/>
              <a:pPr/>
              <a:t>8/24/23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E9C16E7-4A5A-4B4E-BA20-0C4254836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0" y="6474372"/>
            <a:ext cx="7819697" cy="24710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77279D-D2B1-9448-9829-8902CDD5D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6474372"/>
            <a:ext cx="1135117" cy="24710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72E91CA-9B22-2844-8E94-2A762C5288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698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D98944-5FB2-7641-BA8C-3BC8B879FB4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355108"/>
            <a:ext cx="9144000" cy="864092"/>
          </a:xfrm>
          <a:prstGeom prst="rect">
            <a:avLst/>
          </a:prstGeom>
        </p:spPr>
        <p:txBody>
          <a:bodyPr anchor="b"/>
          <a:lstStyle>
            <a:lvl1pPr algn="l">
              <a:defRPr sz="4800" b="1">
                <a:solidFill>
                  <a:srgbClr val="00274C"/>
                </a:solidFill>
              </a:defRPr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A2AF28D-B86D-764D-8A6F-60792F83E6E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1542009"/>
            <a:ext cx="9144000" cy="459603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Content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23C805C-5779-B140-967F-711AD0F235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3166" y="6474372"/>
            <a:ext cx="974834" cy="24710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1E98028-C120-C94E-94C2-6A0D2C6AE1BF}" type="datetimeFigureOut">
              <a:rPr lang="en-US" smtClean="0"/>
              <a:pPr/>
              <a:t>8/24/23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62160A3-3C78-164A-80CF-088B67773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0" y="6474372"/>
            <a:ext cx="7819697" cy="247103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F522088-8007-C54F-BAFD-E38F1BC5C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6474372"/>
            <a:ext cx="1135117" cy="24710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72E91CA-9B22-2844-8E94-2A762C5288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662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0B368A2-AC66-FE4A-8EC8-E3E30573A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75522"/>
            <a:ext cx="9144000" cy="864092"/>
          </a:xfrm>
          <a:prstGeom prst="rect">
            <a:avLst/>
          </a:prstGeom>
        </p:spPr>
        <p:txBody>
          <a:bodyPr anchor="b"/>
          <a:lstStyle>
            <a:lvl1pPr algn="l">
              <a:defRPr sz="4800" b="1">
                <a:solidFill>
                  <a:srgbClr val="00274C"/>
                </a:solidFill>
              </a:defRPr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A72228A-5E29-C145-80EF-434C7B772C9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1870841"/>
            <a:ext cx="9144000" cy="426719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Content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B9E35023-709E-1C4A-8278-01DEE80549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14841" y="6474372"/>
            <a:ext cx="974834" cy="24710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00274C"/>
                </a:solidFill>
              </a:defRPr>
            </a:lvl1pPr>
          </a:lstStyle>
          <a:p>
            <a:fld id="{C1E98028-C120-C94E-94C2-6A0D2C6AE1BF}" type="datetimeFigureOut">
              <a:rPr lang="en-US" smtClean="0"/>
              <a:pPr/>
              <a:t>8/24/23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0177154-BAF0-BD41-9F12-EA6B5F88B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0" y="6474372"/>
            <a:ext cx="9144000" cy="24710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350143E-FE8D-7C42-8AED-C584C1C21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8883" y="6474372"/>
            <a:ext cx="1135117" cy="247103"/>
          </a:xfrm>
          <a:prstGeom prst="rect">
            <a:avLst/>
          </a:prstGeom>
        </p:spPr>
        <p:txBody>
          <a:bodyPr/>
          <a:lstStyle>
            <a:lvl1pPr algn="l">
              <a:defRPr sz="1200">
                <a:solidFill>
                  <a:srgbClr val="00274C"/>
                </a:solidFill>
              </a:defRPr>
            </a:lvl1pPr>
          </a:lstStyle>
          <a:p>
            <a:fld id="{B72E91CA-9B22-2844-8E94-2A762C5288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844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0B570-A22B-364A-BC03-3BB3B78D644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355108"/>
            <a:ext cx="9144000" cy="864092"/>
          </a:xfrm>
          <a:prstGeom prst="rect">
            <a:avLst/>
          </a:prstGeom>
        </p:spPr>
        <p:txBody>
          <a:bodyPr anchor="b"/>
          <a:lstStyle>
            <a:lvl1pPr algn="l">
              <a:defRPr sz="4800" b="1">
                <a:solidFill>
                  <a:srgbClr val="00274C"/>
                </a:solidFill>
              </a:defRPr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154EEC-7753-244F-8D3C-769C76331F4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1542009"/>
            <a:ext cx="9144000" cy="459603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91996-96B2-6641-9C3A-19B599FBC5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14841" y="6474372"/>
            <a:ext cx="974834" cy="24710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00274C"/>
                </a:solidFill>
              </a:defRPr>
            </a:lvl1pPr>
          </a:lstStyle>
          <a:p>
            <a:fld id="{C1E98028-C120-C94E-94C2-6A0D2C6AE1BF}" type="datetimeFigureOut">
              <a:rPr lang="en-US" smtClean="0"/>
              <a:pPr/>
              <a:t>8/24/23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DD7E6-BDAB-834D-90A8-C8840717F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0" y="6474372"/>
            <a:ext cx="9144000" cy="24710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24FE1-7233-704B-B440-C106C8BD4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74372"/>
            <a:ext cx="1135117" cy="247103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B72E91CA-9B22-2844-8E94-2A762C5288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479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006319C-FB51-7D4F-9010-D3E341FD93E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355108"/>
            <a:ext cx="9144000" cy="864092"/>
          </a:xfrm>
          <a:prstGeom prst="rect">
            <a:avLst/>
          </a:prstGeom>
        </p:spPr>
        <p:txBody>
          <a:bodyPr anchor="b"/>
          <a:lstStyle>
            <a:lvl1pPr algn="l">
              <a:defRPr sz="4800" b="1">
                <a:solidFill>
                  <a:srgbClr val="00274C"/>
                </a:solidFill>
              </a:defRPr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EB4F3FB-316E-BF42-B96D-CD437FB415A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1542009"/>
            <a:ext cx="9144000" cy="459603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Content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C2B277D-F96E-B345-902E-21599F3EE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3166" y="6474372"/>
            <a:ext cx="974834" cy="24710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00274C"/>
                </a:solidFill>
              </a:defRPr>
            </a:lvl1pPr>
          </a:lstStyle>
          <a:p>
            <a:fld id="{C1E98028-C120-C94E-94C2-6A0D2C6AE1BF}" type="datetimeFigureOut">
              <a:rPr lang="en-US" smtClean="0"/>
              <a:pPr/>
              <a:t>8/24/23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2F86664-394E-F64E-B476-E1615CC0D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0" y="6474372"/>
            <a:ext cx="7819697" cy="24710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9409317-4804-114E-BBC9-749ADE2A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6474372"/>
            <a:ext cx="1135117" cy="247103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00274C"/>
                </a:solidFill>
              </a:defRPr>
            </a:lvl1pPr>
          </a:lstStyle>
          <a:p>
            <a:fld id="{B72E91CA-9B22-2844-8E94-2A762C5288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874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5755742-0700-034C-B4AE-306C657BF80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076D48-578B-E44B-A42E-714FD8BD895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30800" y="720890"/>
            <a:ext cx="19304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864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26AE793-216F-9043-A865-4A7387AA81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6860" b="47968"/>
          <a:stretch/>
        </p:blipFill>
        <p:spPr>
          <a:xfrm>
            <a:off x="0" y="4445876"/>
            <a:ext cx="12192000" cy="24121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A1A8D0-A3C8-B248-8599-C115BE86BCE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30800" y="720890"/>
            <a:ext cx="1930400" cy="205740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EC2826E-A3E5-7747-897A-4D24F311CB33}"/>
              </a:ext>
            </a:extLst>
          </p:cNvPr>
          <p:cNvCxnSpPr>
            <a:cxnSpLocks/>
          </p:cNvCxnSpPr>
          <p:nvPr userDrawn="1"/>
        </p:nvCxnSpPr>
        <p:spPr>
          <a:xfrm>
            <a:off x="0" y="4445876"/>
            <a:ext cx="121920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F62719F2-9F25-264A-A7EB-37BBAC79DE4E}"/>
              </a:ext>
            </a:extLst>
          </p:cNvPr>
          <p:cNvSpPr txBox="1">
            <a:spLocks/>
          </p:cNvSpPr>
          <p:nvPr userDrawn="1"/>
        </p:nvSpPr>
        <p:spPr>
          <a:xfrm>
            <a:off x="1524000" y="3005958"/>
            <a:ext cx="9144000" cy="1407894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Title Slide 2</a:t>
            </a:r>
          </a:p>
        </p:txBody>
      </p:sp>
    </p:spTree>
    <p:extLst>
      <p:ext uri="{BB962C8B-B14F-4D97-AF65-F5344CB8AC3E}">
        <p14:creationId xmlns:p14="http://schemas.microsoft.com/office/powerpoint/2010/main" val="2337594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D28CFBB-05A1-0D4C-BAEF-C1396714FC35}"/>
              </a:ext>
            </a:extLst>
          </p:cNvPr>
          <p:cNvSpPr/>
          <p:nvPr userDrawn="1"/>
        </p:nvSpPr>
        <p:spPr>
          <a:xfrm>
            <a:off x="0" y="4445876"/>
            <a:ext cx="12192000" cy="2412124"/>
          </a:xfrm>
          <a:prstGeom prst="rect">
            <a:avLst/>
          </a:prstGeom>
          <a:solidFill>
            <a:srgbClr val="002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B21C43-EF3E-6740-B05D-A420238469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30800" y="720890"/>
            <a:ext cx="1930400" cy="20574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214D7EA-B9D7-E440-914A-16FF19E03683}"/>
              </a:ext>
            </a:extLst>
          </p:cNvPr>
          <p:cNvCxnSpPr>
            <a:cxnSpLocks/>
          </p:cNvCxnSpPr>
          <p:nvPr userDrawn="1"/>
        </p:nvCxnSpPr>
        <p:spPr>
          <a:xfrm>
            <a:off x="0" y="4445876"/>
            <a:ext cx="121920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8644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A64DC30-33F2-914A-85DA-D78716190C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30800" y="720890"/>
            <a:ext cx="1930400" cy="20574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90F6DA-EA76-C84A-B8B9-B99EFAAB62A9}"/>
              </a:ext>
            </a:extLst>
          </p:cNvPr>
          <p:cNvCxnSpPr>
            <a:cxnSpLocks/>
          </p:cNvCxnSpPr>
          <p:nvPr userDrawn="1"/>
        </p:nvCxnSpPr>
        <p:spPr>
          <a:xfrm>
            <a:off x="0" y="4445876"/>
            <a:ext cx="12192000" cy="0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0232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7A444A1-CF09-3B4A-BCB2-1DA487F87C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365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CDAB1EC-0489-EA49-8E53-4995A99E3C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982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99E5877-559A-F243-8967-3F1F8DC8265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12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AD707EE-9733-844D-B774-2267A7C3D85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CF7407B-BDEC-6E4B-A6EE-D9480A01E2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153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7A5AFCB-4427-7648-906B-B22FE1ABE7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998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emf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7B3DE-BCDC-CC42-9CA3-B3170B929D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visualization with ggplot2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E137B0-A601-E349-89E4-17EF7BEDC4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Mike Kleinsasser</a:t>
            </a:r>
          </a:p>
          <a:p>
            <a:r>
              <a:rPr lang="en-US" dirty="0"/>
              <a:t>BDSI 2023</a:t>
            </a:r>
          </a:p>
        </p:txBody>
      </p:sp>
      <p:pic>
        <p:nvPicPr>
          <p:cNvPr id="5" name="Picture 4" descr="A hexagon with a graph and blue dots&#10;&#10;Description automatically generated with low confidence">
            <a:extLst>
              <a:ext uri="{FF2B5EF4-FFF2-40B4-BE49-F238E27FC236}">
                <a16:creationId xmlns:a16="http://schemas.microsoft.com/office/drawing/2014/main" id="{732C210A-D8AD-471A-2D45-4A9510E9E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51" y="364147"/>
            <a:ext cx="2339974" cy="271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490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About 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3385E6-7666-BA47-99F8-1DBCFB897A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pPr marL="342900" indent="-342900">
              <a:buFont typeface="System Font Regular"/>
              <a:buChar char="→"/>
            </a:pPr>
            <a:r>
              <a:rPr lang="en-US" dirty="0"/>
              <a:t>Mike Kleinsasser (call me Mike)</a:t>
            </a:r>
          </a:p>
          <a:p>
            <a:pPr marL="342900" indent="-342900">
              <a:buFont typeface="System Font Regular"/>
              <a:buChar char="→"/>
            </a:pPr>
            <a:endParaRPr lang="en-US" dirty="0"/>
          </a:p>
          <a:p>
            <a:pPr marL="342900" indent="-342900">
              <a:buFont typeface="System Font Regular"/>
              <a:buChar char="→"/>
            </a:pPr>
            <a:r>
              <a:rPr lang="en-US" dirty="0"/>
              <a:t>Joined Biostatistics in 2019</a:t>
            </a:r>
          </a:p>
          <a:p>
            <a:pPr marL="342900" indent="-342900">
              <a:buFont typeface="System Font Regular"/>
              <a:buChar char="→"/>
            </a:pPr>
            <a:endParaRPr lang="en-US" dirty="0"/>
          </a:p>
          <a:p>
            <a:pPr marL="342900" indent="-342900">
              <a:buFont typeface="System Font Regular"/>
              <a:buChar char="→"/>
            </a:pPr>
            <a:r>
              <a:rPr lang="en-US" dirty="0"/>
              <a:t>R programmer</a:t>
            </a:r>
          </a:p>
          <a:p>
            <a:pPr marL="342900" indent="-342900">
              <a:buFont typeface="System Font Regular"/>
              <a:buChar char="→"/>
            </a:pPr>
            <a:endParaRPr lang="en-US" dirty="0"/>
          </a:p>
          <a:p>
            <a:pPr marL="342900" indent="-342900">
              <a:buFont typeface="System Font Regular"/>
              <a:buChar char="→"/>
            </a:pPr>
            <a:r>
              <a:rPr lang="en-US" dirty="0"/>
              <a:t>Support students and faculty in R package devel./maintenance</a:t>
            </a:r>
          </a:p>
        </p:txBody>
      </p:sp>
    </p:spTree>
    <p:extLst>
      <p:ext uri="{BB962C8B-B14F-4D97-AF65-F5344CB8AC3E}">
        <p14:creationId xmlns:p14="http://schemas.microsoft.com/office/powerpoint/2010/main" val="2731734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 workshop setup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3385E6-7666-BA47-99F8-1DBCFB897A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pPr marL="342900" indent="-342900">
              <a:buFont typeface="System Font Regular"/>
              <a:buChar char="→"/>
            </a:pPr>
            <a:r>
              <a:rPr lang="en-US" dirty="0"/>
              <a:t>Help! Place sticky note on corner of screen</a:t>
            </a:r>
          </a:p>
          <a:p>
            <a:pPr marL="342900" indent="-342900">
              <a:buFont typeface="System Font Regular"/>
              <a:buChar char="→"/>
            </a:pPr>
            <a:endParaRPr lang="en-US" dirty="0"/>
          </a:p>
          <a:p>
            <a:pPr marL="342900" indent="-342900">
              <a:buFont typeface="System Font Regular"/>
              <a:buChar char="→"/>
            </a:pPr>
            <a:r>
              <a:rPr lang="en-US" dirty="0"/>
              <a:t>Need our attention? Raise your hand</a:t>
            </a:r>
          </a:p>
          <a:p>
            <a:pPr marL="342900" indent="-342900">
              <a:buFont typeface="System Font Regular"/>
              <a:buChar char="→"/>
            </a:pPr>
            <a:endParaRPr lang="en-US" dirty="0"/>
          </a:p>
          <a:p>
            <a:pPr marL="342900" indent="-342900">
              <a:buFont typeface="System Font Regular"/>
              <a:buChar char="→"/>
            </a:pPr>
            <a:r>
              <a:rPr lang="en-US" dirty="0"/>
              <a:t>Helpers will be walking around to help you with questions</a:t>
            </a:r>
          </a:p>
          <a:p>
            <a:pPr marL="342900" indent="-342900">
              <a:buFont typeface="System Font Regular"/>
              <a:buChar char="→"/>
            </a:pPr>
            <a:endParaRPr lang="en-US" dirty="0"/>
          </a:p>
          <a:p>
            <a:pPr marL="342900" indent="-342900">
              <a:buFont typeface="System Font Regular"/>
              <a:buChar char="→"/>
            </a:pPr>
            <a:r>
              <a:rPr lang="en-US" dirty="0"/>
              <a:t>Type the code along with me! (Have RStudio open + a script)</a:t>
            </a:r>
          </a:p>
          <a:p>
            <a:pPr marL="342900" indent="-342900">
              <a:buFont typeface="System Font Regular"/>
              <a:buChar char="→"/>
            </a:pPr>
            <a:endParaRPr lang="en-US" dirty="0"/>
          </a:p>
          <a:p>
            <a:pPr marL="342900" indent="-342900">
              <a:buFont typeface="System Font Regular"/>
              <a:buChar char="→"/>
            </a:pPr>
            <a:r>
              <a:rPr lang="en-US" dirty="0"/>
              <a:t>Open the powerpoint to copy/paste code with me (see </a:t>
            </a:r>
            <a:r>
              <a:rPr lang="en-US" b="1" dirty="0"/>
              <a:t>PP Notes</a:t>
            </a:r>
            <a:r>
              <a:rPr lang="en-US" dirty="0"/>
              <a:t>)</a:t>
            </a:r>
          </a:p>
          <a:p>
            <a:pPr marL="342900" indent="-342900">
              <a:buFont typeface="System Font Regular"/>
              <a:buChar char="→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176FC451-E0F8-012B-D41C-5F6EA0718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2605388"/>
            <a:ext cx="901700" cy="1054100"/>
          </a:xfrm>
          <a:prstGeom prst="rect">
            <a:avLst/>
          </a:prstGeom>
        </p:spPr>
      </p:pic>
      <p:pic>
        <p:nvPicPr>
          <p:cNvPr id="7" name="Picture 6" descr="A picture containing text, envelope, stationary, businesscard&#10;&#10;Description automatically generated">
            <a:extLst>
              <a:ext uri="{FF2B5EF4-FFF2-40B4-BE49-F238E27FC236}">
                <a16:creationId xmlns:a16="http://schemas.microsoft.com/office/drawing/2014/main" id="{1605D2FE-298A-7C15-5A9E-7729341934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975" y="1802714"/>
            <a:ext cx="966025" cy="802674"/>
          </a:xfrm>
          <a:prstGeom prst="rect">
            <a:avLst/>
          </a:prstGeom>
        </p:spPr>
      </p:pic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85E8CB51-5786-E50D-B178-5EDE40D1BE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" y="4403464"/>
            <a:ext cx="8255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413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E90F40F-0198-B5D2-2478-C0FB1DC01A04}"/>
              </a:ext>
            </a:extLst>
          </p:cNvPr>
          <p:cNvSpPr/>
          <p:nvPr/>
        </p:nvSpPr>
        <p:spPr>
          <a:xfrm>
            <a:off x="873468" y="4517496"/>
            <a:ext cx="565844" cy="588475"/>
          </a:xfrm>
          <a:prstGeom prst="ellipse">
            <a:avLst/>
          </a:prstGeom>
          <a:solidFill>
            <a:srgbClr val="1817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D069344-137C-02BE-E033-725423F14481}"/>
              </a:ext>
            </a:extLst>
          </p:cNvPr>
          <p:cNvSpPr/>
          <p:nvPr/>
        </p:nvSpPr>
        <p:spPr>
          <a:xfrm>
            <a:off x="8986893" y="395202"/>
            <a:ext cx="565844" cy="588475"/>
          </a:xfrm>
          <a:prstGeom prst="ellipse">
            <a:avLst/>
          </a:prstGeom>
          <a:solidFill>
            <a:srgbClr val="1817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F49916-C3EA-821D-A363-5749A3AFB100}"/>
              </a:ext>
            </a:extLst>
          </p:cNvPr>
          <p:cNvSpPr/>
          <p:nvPr/>
        </p:nvSpPr>
        <p:spPr>
          <a:xfrm>
            <a:off x="8144358" y="206519"/>
            <a:ext cx="3924472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 </a:t>
            </a:r>
          </a:p>
          <a:p>
            <a:pPr algn="ctr"/>
            <a:r>
              <a:rPr lang="en-US" sz="540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manipulation</a:t>
            </a:r>
            <a:endParaRPr lang="en-US" sz="5400" b="0" cap="none" spc="0" dirty="0">
              <a:ln w="0"/>
              <a:solidFill>
                <a:srgbClr val="18177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Roadmap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3385E6-7666-BA47-99F8-1DBCFB897A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0727B96A-8056-B250-884B-825D0698A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9781" y="1183687"/>
            <a:ext cx="6156356" cy="4498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A51F9507-5D73-E0B3-4D52-9B08CC9C7053}"/>
              </a:ext>
            </a:extLst>
          </p:cNvPr>
          <p:cNvSpPr/>
          <p:nvPr/>
        </p:nvSpPr>
        <p:spPr>
          <a:xfrm>
            <a:off x="7485680" y="2316024"/>
            <a:ext cx="1317356" cy="123308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B4422FF-8112-B388-E557-9CE220EC03EF}"/>
              </a:ext>
            </a:extLst>
          </p:cNvPr>
          <p:cNvSpPr/>
          <p:nvPr/>
        </p:nvSpPr>
        <p:spPr>
          <a:xfrm>
            <a:off x="3568011" y="4566583"/>
            <a:ext cx="1317356" cy="123308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78CDC88-024D-7E77-7C6A-03457C196C45}"/>
              </a:ext>
            </a:extLst>
          </p:cNvPr>
          <p:cNvSpPr/>
          <p:nvPr/>
        </p:nvSpPr>
        <p:spPr>
          <a:xfrm>
            <a:off x="308188" y="1372370"/>
            <a:ext cx="565844" cy="588475"/>
          </a:xfrm>
          <a:prstGeom prst="ellipse">
            <a:avLst/>
          </a:prstGeom>
          <a:solidFill>
            <a:srgbClr val="1817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421DD8-AD01-C11D-BB4A-92E5337D088F}"/>
              </a:ext>
            </a:extLst>
          </p:cNvPr>
          <p:cNvSpPr/>
          <p:nvPr/>
        </p:nvSpPr>
        <p:spPr>
          <a:xfrm>
            <a:off x="308188" y="1204942"/>
            <a:ext cx="28232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b="0" cap="none" spc="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Quick 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BFDAC1-F35B-2827-3C1E-0AB37150F3B2}"/>
              </a:ext>
            </a:extLst>
          </p:cNvPr>
          <p:cNvSpPr/>
          <p:nvPr/>
        </p:nvSpPr>
        <p:spPr>
          <a:xfrm>
            <a:off x="137989" y="4305964"/>
            <a:ext cx="3648499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 </a:t>
            </a:r>
          </a:p>
          <a:p>
            <a:pPr algn="ctr"/>
            <a:r>
              <a:rPr lang="en-US" sz="540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visualization</a:t>
            </a:r>
            <a:endParaRPr lang="en-US" sz="5400" b="0" cap="none" spc="0" dirty="0">
              <a:ln w="0"/>
              <a:solidFill>
                <a:srgbClr val="18177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0813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E90F40F-0198-B5D2-2478-C0FB1DC01A04}"/>
              </a:ext>
            </a:extLst>
          </p:cNvPr>
          <p:cNvSpPr/>
          <p:nvPr/>
        </p:nvSpPr>
        <p:spPr>
          <a:xfrm>
            <a:off x="873468" y="4517496"/>
            <a:ext cx="565844" cy="588475"/>
          </a:xfrm>
          <a:prstGeom prst="ellipse">
            <a:avLst/>
          </a:prstGeom>
          <a:solidFill>
            <a:srgbClr val="1817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D069344-137C-02BE-E033-725423F14481}"/>
              </a:ext>
            </a:extLst>
          </p:cNvPr>
          <p:cNvSpPr/>
          <p:nvPr/>
        </p:nvSpPr>
        <p:spPr>
          <a:xfrm>
            <a:off x="8986893" y="395202"/>
            <a:ext cx="565844" cy="588475"/>
          </a:xfrm>
          <a:prstGeom prst="ellipse">
            <a:avLst/>
          </a:prstGeom>
          <a:solidFill>
            <a:srgbClr val="1817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F49916-C3EA-821D-A363-5749A3AFB100}"/>
              </a:ext>
            </a:extLst>
          </p:cNvPr>
          <p:cNvSpPr/>
          <p:nvPr/>
        </p:nvSpPr>
        <p:spPr>
          <a:xfrm>
            <a:off x="8144358" y="206519"/>
            <a:ext cx="3924472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dirty="0">
                <a:ln w="0"/>
                <a:solidFill>
                  <a:srgbClr val="181776">
                    <a:alpha val="3541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 </a:t>
            </a:r>
          </a:p>
          <a:p>
            <a:pPr algn="ctr"/>
            <a:r>
              <a:rPr lang="en-US" sz="5400" dirty="0">
                <a:ln w="0"/>
                <a:solidFill>
                  <a:srgbClr val="181776">
                    <a:alpha val="3541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manipulation</a:t>
            </a:r>
            <a:endParaRPr lang="en-US" sz="5400" b="0" cap="none" spc="0" dirty="0">
              <a:ln w="0"/>
              <a:solidFill>
                <a:srgbClr val="181776">
                  <a:alpha val="3541"/>
                </a:srgb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B43AE-4177-F640-8C62-79D5091E09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Roadmap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3385E6-7666-BA47-99F8-1DBCFB897A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0727B96A-8056-B250-884B-825D0698A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9781" y="1183687"/>
            <a:ext cx="6156356" cy="4498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A51F9507-5D73-E0B3-4D52-9B08CC9C7053}"/>
              </a:ext>
            </a:extLst>
          </p:cNvPr>
          <p:cNvSpPr/>
          <p:nvPr/>
        </p:nvSpPr>
        <p:spPr>
          <a:xfrm>
            <a:off x="7485680" y="2316024"/>
            <a:ext cx="1317356" cy="123308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B4422FF-8112-B388-E557-9CE220EC03EF}"/>
              </a:ext>
            </a:extLst>
          </p:cNvPr>
          <p:cNvSpPr/>
          <p:nvPr/>
        </p:nvSpPr>
        <p:spPr>
          <a:xfrm>
            <a:off x="3568011" y="4566583"/>
            <a:ext cx="1317356" cy="1233088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78CDC88-024D-7E77-7C6A-03457C196C45}"/>
              </a:ext>
            </a:extLst>
          </p:cNvPr>
          <p:cNvSpPr/>
          <p:nvPr/>
        </p:nvSpPr>
        <p:spPr>
          <a:xfrm>
            <a:off x="308188" y="1372370"/>
            <a:ext cx="565844" cy="588475"/>
          </a:xfrm>
          <a:prstGeom prst="ellipse">
            <a:avLst/>
          </a:prstGeom>
          <a:solidFill>
            <a:srgbClr val="1817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421DD8-AD01-C11D-BB4A-92E5337D088F}"/>
              </a:ext>
            </a:extLst>
          </p:cNvPr>
          <p:cNvSpPr/>
          <p:nvPr/>
        </p:nvSpPr>
        <p:spPr>
          <a:xfrm>
            <a:off x="308188" y="1204942"/>
            <a:ext cx="28232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b="0" cap="none" spc="0" dirty="0">
                <a:ln w="0"/>
                <a:solidFill>
                  <a:srgbClr val="181776">
                    <a:alpha val="10188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Quick 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BFDAC1-F35B-2827-3C1E-0AB37150F3B2}"/>
              </a:ext>
            </a:extLst>
          </p:cNvPr>
          <p:cNvSpPr/>
          <p:nvPr/>
        </p:nvSpPr>
        <p:spPr>
          <a:xfrm>
            <a:off x="137989" y="4305964"/>
            <a:ext cx="3648499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 </a:t>
            </a:r>
          </a:p>
          <a:p>
            <a:pPr algn="ctr"/>
            <a:r>
              <a:rPr lang="en-US" sz="540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visualization</a:t>
            </a:r>
            <a:endParaRPr lang="en-US" sz="5400" b="0" cap="none" spc="0" dirty="0">
              <a:ln w="0"/>
              <a:solidFill>
                <a:srgbClr val="18177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77617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08E4631-327F-298B-94CC-2635F1528DB8}"/>
              </a:ext>
            </a:extLst>
          </p:cNvPr>
          <p:cNvSpPr/>
          <p:nvPr/>
        </p:nvSpPr>
        <p:spPr>
          <a:xfrm>
            <a:off x="1570728" y="1338335"/>
            <a:ext cx="565844" cy="588475"/>
          </a:xfrm>
          <a:prstGeom prst="ellipse">
            <a:avLst/>
          </a:prstGeom>
          <a:solidFill>
            <a:srgbClr val="1817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62B530-C61F-F6BB-19EB-BB77C28CA310}"/>
              </a:ext>
            </a:extLst>
          </p:cNvPr>
          <p:cNvSpPr/>
          <p:nvPr/>
        </p:nvSpPr>
        <p:spPr>
          <a:xfrm>
            <a:off x="722726" y="1126330"/>
            <a:ext cx="3924472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 </a:t>
            </a:r>
          </a:p>
          <a:p>
            <a:pPr algn="ctr"/>
            <a:r>
              <a:rPr lang="en-US" sz="540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manipulation</a:t>
            </a:r>
            <a:endParaRPr lang="en-US" sz="5400" b="0" cap="none" spc="0" dirty="0">
              <a:ln w="0"/>
              <a:solidFill>
                <a:srgbClr val="18177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CF452F-6B76-B2AC-3E75-FEBE98E11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412" y="183658"/>
            <a:ext cx="9144000" cy="864092"/>
          </a:xfrm>
        </p:spPr>
        <p:txBody>
          <a:bodyPr/>
          <a:lstStyle/>
          <a:p>
            <a:r>
              <a:rPr lang="en-US" dirty="0"/>
              <a:t>Tidyverse: dplyr        and ggplot2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B384A19-5A60-536C-B3DB-C0B0056A0FFF}"/>
              </a:ext>
            </a:extLst>
          </p:cNvPr>
          <p:cNvSpPr/>
          <p:nvPr/>
        </p:nvSpPr>
        <p:spPr>
          <a:xfrm>
            <a:off x="8288680" y="1296910"/>
            <a:ext cx="565844" cy="588475"/>
          </a:xfrm>
          <a:prstGeom prst="ellipse">
            <a:avLst/>
          </a:prstGeom>
          <a:solidFill>
            <a:srgbClr val="18177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696CED-417C-5E6F-1A43-71353AD0CF6B}"/>
              </a:ext>
            </a:extLst>
          </p:cNvPr>
          <p:cNvSpPr/>
          <p:nvPr/>
        </p:nvSpPr>
        <p:spPr>
          <a:xfrm>
            <a:off x="7572162" y="1126330"/>
            <a:ext cx="3648499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540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 </a:t>
            </a:r>
          </a:p>
          <a:p>
            <a:pPr algn="ctr"/>
            <a:r>
              <a:rPr lang="en-US" sz="540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visualization</a:t>
            </a:r>
            <a:endParaRPr lang="en-US" sz="5400" b="0" cap="none" spc="0" dirty="0">
              <a:ln w="0"/>
              <a:solidFill>
                <a:srgbClr val="18177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D2B4FD-F8ED-436D-207F-E1AA0DAFB3E1}"/>
              </a:ext>
            </a:extLst>
          </p:cNvPr>
          <p:cNvSpPr txBox="1"/>
          <p:nvPr/>
        </p:nvSpPr>
        <p:spPr>
          <a:xfrm>
            <a:off x="2983279" y="763488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464834-A363-09E9-168B-3979698C36AA}"/>
              </a:ext>
            </a:extLst>
          </p:cNvPr>
          <p:cNvSpPr/>
          <p:nvPr/>
        </p:nvSpPr>
        <p:spPr>
          <a:xfrm>
            <a:off x="1457059" y="4074620"/>
            <a:ext cx="151836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</a:t>
            </a:r>
            <a:r>
              <a:rPr lang="en-US" sz="28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80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select</a:t>
            </a:r>
            <a:r>
              <a:rPr lang="en-US" sz="2800" b="0" cap="none" spc="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88AFBC-B37D-DD01-09BC-D984376DE667}"/>
              </a:ext>
            </a:extLst>
          </p:cNvPr>
          <p:cNvSpPr/>
          <p:nvPr/>
        </p:nvSpPr>
        <p:spPr>
          <a:xfrm>
            <a:off x="1457059" y="3625386"/>
            <a:ext cx="135902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r>
              <a:rPr lang="en-US" sz="28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800" b="0" cap="none" spc="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filter()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777F122-D909-5906-B979-E5274A8FE3A7}"/>
              </a:ext>
            </a:extLst>
          </p:cNvPr>
          <p:cNvSpPr/>
          <p:nvPr/>
        </p:nvSpPr>
        <p:spPr>
          <a:xfrm>
            <a:off x="1437563" y="4549593"/>
            <a:ext cx="178536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</a:t>
            </a:r>
            <a:r>
              <a:rPr lang="en-US" sz="28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800" b="0" cap="none" spc="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arrange()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3D7D671-733C-3840-2767-644D1316E155}"/>
              </a:ext>
            </a:extLst>
          </p:cNvPr>
          <p:cNvSpPr/>
          <p:nvPr/>
        </p:nvSpPr>
        <p:spPr>
          <a:xfrm>
            <a:off x="1437563" y="5017869"/>
            <a:ext cx="172162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4</a:t>
            </a:r>
            <a:r>
              <a:rPr lang="en-US" sz="28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800" b="0" cap="none" spc="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mutate()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F690AE-2C21-132F-3922-CA45F8310414}"/>
              </a:ext>
            </a:extLst>
          </p:cNvPr>
          <p:cNvSpPr/>
          <p:nvPr/>
        </p:nvSpPr>
        <p:spPr>
          <a:xfrm>
            <a:off x="1437563" y="5449094"/>
            <a:ext cx="226049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rgbClr val="DEC80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5</a:t>
            </a:r>
            <a:r>
              <a:rPr lang="en-US" sz="28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80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summarize</a:t>
            </a:r>
            <a:r>
              <a:rPr lang="en-US" sz="2800" b="0" cap="none" spc="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61543F-64D8-6902-F60A-3EEA009E6DFB}"/>
              </a:ext>
            </a:extLst>
          </p:cNvPr>
          <p:cNvSpPr txBox="1"/>
          <p:nvPr/>
        </p:nvSpPr>
        <p:spPr>
          <a:xfrm>
            <a:off x="-1290638" y="3216028"/>
            <a:ext cx="6115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data</a:t>
            </a:r>
            <a:endParaRPr lang="en-US" sz="2800" b="0" cap="none" spc="0" dirty="0">
              <a:ln w="0"/>
              <a:solidFill>
                <a:srgbClr val="18177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FCA647-6825-F9D4-08C8-4087E38AD22E}"/>
              </a:ext>
            </a:extLst>
          </p:cNvPr>
          <p:cNvSpPr txBox="1"/>
          <p:nvPr/>
        </p:nvSpPr>
        <p:spPr>
          <a:xfrm>
            <a:off x="-450560" y="3254931"/>
            <a:ext cx="6115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%&gt;%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48BA43-500C-AA8D-1FA7-7FD46CDD0E6B}"/>
              </a:ext>
            </a:extLst>
          </p:cNvPr>
          <p:cNvSpPr txBox="1"/>
          <p:nvPr/>
        </p:nvSpPr>
        <p:spPr>
          <a:xfrm>
            <a:off x="110485" y="3650092"/>
            <a:ext cx="6115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%&gt;%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492C5C-6F6F-E755-316B-F5368A833341}"/>
              </a:ext>
            </a:extLst>
          </p:cNvPr>
          <p:cNvSpPr txBox="1"/>
          <p:nvPr/>
        </p:nvSpPr>
        <p:spPr>
          <a:xfrm>
            <a:off x="320096" y="4094517"/>
            <a:ext cx="6115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%&gt;%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D2B94A0-570B-4ADA-6DDA-E38FEF81F09D}"/>
              </a:ext>
            </a:extLst>
          </p:cNvPr>
          <p:cNvSpPr txBox="1"/>
          <p:nvPr/>
        </p:nvSpPr>
        <p:spPr>
          <a:xfrm>
            <a:off x="476317" y="4593031"/>
            <a:ext cx="6115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%&gt;%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8185DCD-89FE-D279-53A0-7FE5FD927B5B}"/>
              </a:ext>
            </a:extLst>
          </p:cNvPr>
          <p:cNvSpPr txBox="1"/>
          <p:nvPr/>
        </p:nvSpPr>
        <p:spPr>
          <a:xfrm>
            <a:off x="423996" y="5037456"/>
            <a:ext cx="6115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rgbClr val="18177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%&gt;%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231AD80-6C39-5E8A-A84C-A15A38AFCA46}"/>
              </a:ext>
            </a:extLst>
          </p:cNvPr>
          <p:cNvSpPr txBox="1"/>
          <p:nvPr/>
        </p:nvSpPr>
        <p:spPr>
          <a:xfrm>
            <a:off x="4590814" y="2971887"/>
            <a:ext cx="750390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Last segment we learned the basic data transformation verbs and how to combine them into complex statements using the pipe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ggplot2 follows a similar paradigm for plotting:</a:t>
            </a:r>
          </a:p>
          <a:p>
            <a:endParaRPr lang="en-US" sz="2800" dirty="0"/>
          </a:p>
          <a:p>
            <a:r>
              <a:rPr lang="en-US" sz="2800" dirty="0"/>
              <a:t>     a ‘</a:t>
            </a:r>
            <a:r>
              <a:rPr lang="en-US" sz="2800" dirty="0">
                <a:solidFill>
                  <a:schemeClr val="accent6"/>
                </a:solidFill>
              </a:rPr>
              <a:t>pipe</a:t>
            </a:r>
            <a:r>
              <a:rPr lang="en-US" sz="2800" dirty="0"/>
              <a:t>’ for building more complex objects from the fundamental plotting ‘</a:t>
            </a:r>
            <a:r>
              <a:rPr lang="en-US" sz="2800" dirty="0">
                <a:solidFill>
                  <a:schemeClr val="accent6"/>
                </a:solidFill>
              </a:rPr>
              <a:t>verbs</a:t>
            </a:r>
            <a:r>
              <a:rPr lang="en-US" sz="2800" dirty="0"/>
              <a:t>’</a:t>
            </a:r>
          </a:p>
        </p:txBody>
      </p:sp>
      <p:pic>
        <p:nvPicPr>
          <p:cNvPr id="41" name="Picture 40" descr="A hexagon with a graph and blue dots&#10;&#10;Description automatically generated with low confidence">
            <a:extLst>
              <a:ext uri="{FF2B5EF4-FFF2-40B4-BE49-F238E27FC236}">
                <a16:creationId xmlns:a16="http://schemas.microsoft.com/office/drawing/2014/main" id="{D55FF5EC-C80A-9D9B-4320-88F5802EA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1602" y="114590"/>
            <a:ext cx="879045" cy="1018975"/>
          </a:xfrm>
          <a:prstGeom prst="rect">
            <a:avLst/>
          </a:prstGeom>
        </p:spPr>
      </p:pic>
      <p:pic>
        <p:nvPicPr>
          <p:cNvPr id="42" name="Picture 2" descr="A Grammar of Data Manipulation • dplyr">
            <a:extLst>
              <a:ext uri="{FF2B5EF4-FFF2-40B4-BE49-F238E27FC236}">
                <a16:creationId xmlns:a16="http://schemas.microsoft.com/office/drawing/2014/main" id="{270B55B0-A3A7-C257-88C5-07AF5068F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933" y="183658"/>
            <a:ext cx="882866" cy="101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9762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F452F-6B76-B2AC-3E75-FEBE98E11A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Why plot?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FE0FD957-3BEA-850B-895E-A13B47A85875}"/>
              </a:ext>
            </a:extLst>
          </p:cNvPr>
          <p:cNvSpPr/>
          <p:nvPr/>
        </p:nvSpPr>
        <p:spPr>
          <a:xfrm>
            <a:off x="6096000" y="3167743"/>
            <a:ext cx="1338943" cy="531916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Questions with solid fill">
            <a:extLst>
              <a:ext uri="{FF2B5EF4-FFF2-40B4-BE49-F238E27FC236}">
                <a16:creationId xmlns:a16="http://schemas.microsoft.com/office/drawing/2014/main" id="{9E2BCD58-7427-62F8-3ECC-B0892CCBD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07829" y="2072245"/>
            <a:ext cx="2460171" cy="24601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680C8F-FC46-F815-B203-E480C1B3EE22}"/>
              </a:ext>
            </a:extLst>
          </p:cNvPr>
          <p:cNvSpPr txBox="1"/>
          <p:nvPr/>
        </p:nvSpPr>
        <p:spPr>
          <a:xfrm>
            <a:off x="995590" y="1829658"/>
            <a:ext cx="4385613" cy="3416320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datasaurus_dozen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%&gt;%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group_by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(dataset) %&gt;%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summarize(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mean_x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mean(x),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mean_y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mean(y),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std_dev_x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(x),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std_dev_y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(y),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) %&gt;%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head(5)</a:t>
            </a:r>
          </a:p>
        </p:txBody>
      </p:sp>
    </p:spTree>
    <p:extLst>
      <p:ext uri="{BB962C8B-B14F-4D97-AF65-F5344CB8AC3E}">
        <p14:creationId xmlns:p14="http://schemas.microsoft.com/office/powerpoint/2010/main" val="1624188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F452F-6B76-B2AC-3E75-FEBE98E11A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Why plot?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17860B-B078-6FD5-CF9A-F48A454916FF}"/>
              </a:ext>
            </a:extLst>
          </p:cNvPr>
          <p:cNvSpPr txBox="1"/>
          <p:nvPr/>
        </p:nvSpPr>
        <p:spPr>
          <a:xfrm>
            <a:off x="1278014" y="1659285"/>
            <a:ext cx="963597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# A tibble: 5 × 5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dataset  mean_x mean_y std_dev_x std_dev_y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&lt;chr&gt;     &lt;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dbl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&gt;  &lt;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dbl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&gt;     &lt;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dbl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&gt;     &lt;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dbl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1 away       54.3   47.8      16.8      26.9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2 bullseye   54.3   47.8      16.8      26.9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3 circle     54.3   47.8      16.8      26.9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4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dino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54.3   47.8      16.8      26.9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5 dots       54.3   47.8      16.8      26.9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6B80E4-156B-7563-A7DD-C80124198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219" y="0"/>
            <a:ext cx="7107470" cy="644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195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5108"/>
            <a:ext cx="9144000" cy="864092"/>
          </a:xfrm>
        </p:spPr>
        <p:txBody>
          <a:bodyPr/>
          <a:lstStyle/>
          <a:p>
            <a:r>
              <a:rPr lang="en-US" dirty="0"/>
              <a:t>Install/library() the package</a:t>
            </a:r>
          </a:p>
        </p:txBody>
      </p:sp>
      <p:pic>
        <p:nvPicPr>
          <p:cNvPr id="8" name="Picture 7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7C27E981-77D8-5C5A-8E08-9434C0FEC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965" y="3206635"/>
            <a:ext cx="7772400" cy="24113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6B56F9-7B59-237B-F658-0C883BB8B58F}"/>
              </a:ext>
            </a:extLst>
          </p:cNvPr>
          <p:cNvSpPr txBox="1"/>
          <p:nvPr/>
        </p:nvSpPr>
        <p:spPr>
          <a:xfrm>
            <a:off x="1582484" y="2212228"/>
            <a:ext cx="4385613" cy="461665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tidyverse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29603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5108"/>
            <a:ext cx="9144000" cy="864092"/>
          </a:xfrm>
        </p:spPr>
        <p:txBody>
          <a:bodyPr/>
          <a:lstStyle/>
          <a:p>
            <a:r>
              <a:rPr lang="en-US" dirty="0" err="1"/>
              <a:t>Gapminder</a:t>
            </a:r>
            <a:r>
              <a:rPr lang="en-US" dirty="0"/>
              <a:t>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398FF7-2A3F-C30E-D850-7E4324A466E8}"/>
              </a:ext>
            </a:extLst>
          </p:cNvPr>
          <p:cNvSpPr txBox="1"/>
          <p:nvPr/>
        </p:nvSpPr>
        <p:spPr>
          <a:xfrm>
            <a:off x="367863" y="1361697"/>
            <a:ext cx="1068222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Data set tracking life expectancy and per-capita GDP of 142 countries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Data reported every five years from 1952-2007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765A2E-0FA0-5762-2093-7DC8C76D2A66}"/>
              </a:ext>
            </a:extLst>
          </p:cNvPr>
          <p:cNvSpPr txBox="1"/>
          <p:nvPr/>
        </p:nvSpPr>
        <p:spPr>
          <a:xfrm>
            <a:off x="802137" y="3540161"/>
            <a:ext cx="6731547" cy="1200329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install.packages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(‘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gapminder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’)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gapminder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View(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gapminder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16780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5108"/>
            <a:ext cx="9144000" cy="864092"/>
          </a:xfrm>
        </p:spPr>
        <p:txBody>
          <a:bodyPr/>
          <a:lstStyle/>
          <a:p>
            <a:r>
              <a:rPr lang="en-US" dirty="0" err="1"/>
              <a:t>Gapminder</a:t>
            </a:r>
            <a:r>
              <a:rPr lang="en-US" dirty="0"/>
              <a:t> Data</a:t>
            </a:r>
          </a:p>
        </p:txBody>
      </p:sp>
      <p:pic>
        <p:nvPicPr>
          <p:cNvPr id="7" name="Picture 6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5478F1C2-1E94-DBDC-0EF3-F1273CB32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910050"/>
            <a:ext cx="7607300" cy="1955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8FC428-3A5A-9C4F-D79E-B84FF1D031F5}"/>
              </a:ext>
            </a:extLst>
          </p:cNvPr>
          <p:cNvSpPr txBox="1"/>
          <p:nvPr/>
        </p:nvSpPr>
        <p:spPr>
          <a:xfrm>
            <a:off x="1524000" y="1842896"/>
            <a:ext cx="4020716" cy="461665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View(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gapminder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63199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5108"/>
            <a:ext cx="9144000" cy="864092"/>
          </a:xfrm>
        </p:spPr>
        <p:txBody>
          <a:bodyPr/>
          <a:lstStyle/>
          <a:p>
            <a:r>
              <a:rPr lang="en-US" dirty="0" err="1"/>
              <a:t>Gapminder</a:t>
            </a:r>
            <a:r>
              <a:rPr lang="en-US" dirty="0"/>
              <a:t>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7244BE-7149-D559-1565-FACD87C43F1F}"/>
              </a:ext>
            </a:extLst>
          </p:cNvPr>
          <p:cNvSpPr txBox="1"/>
          <p:nvPr/>
        </p:nvSpPr>
        <p:spPr>
          <a:xfrm>
            <a:off x="166523" y="4161682"/>
            <a:ext cx="81547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# A tibble: 1 × 3</a:t>
            </a:r>
          </a:p>
          <a:p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mean_gdp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mean_life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cor_gdp_life</a:t>
            </a:r>
            <a:endParaRPr lang="en-US" sz="1800" dirty="0">
              <a:latin typeface="Monaco" pitchFamily="2" charset="77"/>
              <a:cs typeface="Courier New" panose="02070309020205020404" pitchFamily="49" charset="0"/>
            </a:endParaRPr>
          </a:p>
          <a:p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     &lt;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dbl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&gt;     &lt;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dbl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&gt;        &lt;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dbl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&gt;</a:t>
            </a:r>
          </a:p>
          <a:p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1    7215.      59.5        0.584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1C0C0B-ABCE-C478-52F3-8EB231FF9D04}"/>
              </a:ext>
            </a:extLst>
          </p:cNvPr>
          <p:cNvSpPr txBox="1"/>
          <p:nvPr/>
        </p:nvSpPr>
        <p:spPr>
          <a:xfrm>
            <a:off x="98097" y="2713750"/>
            <a:ext cx="8291639" cy="1323439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+ 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summarise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mean_gdp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= mean(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gdpPercap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),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+           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mean_life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= mean(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),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+           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cor_gdp_life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cor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gdpPercap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,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))</a:t>
            </a:r>
          </a:p>
        </p:txBody>
      </p:sp>
      <p:sp>
        <p:nvSpPr>
          <p:cNvPr id="3" name="Oval Callout 2">
            <a:extLst>
              <a:ext uri="{FF2B5EF4-FFF2-40B4-BE49-F238E27FC236}">
                <a16:creationId xmlns:a16="http://schemas.microsoft.com/office/drawing/2014/main" id="{3CD76260-78F1-C196-6FA4-87F7B35C5504}"/>
              </a:ext>
            </a:extLst>
          </p:cNvPr>
          <p:cNvSpPr/>
          <p:nvPr/>
        </p:nvSpPr>
        <p:spPr>
          <a:xfrm>
            <a:off x="7603104" y="479601"/>
            <a:ext cx="4648200" cy="3557588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What’s the relationship between per capita GDP and life expectancy?</a:t>
            </a:r>
          </a:p>
        </p:txBody>
      </p:sp>
    </p:spTree>
    <p:extLst>
      <p:ext uri="{BB962C8B-B14F-4D97-AF65-F5344CB8AC3E}">
        <p14:creationId xmlns:p14="http://schemas.microsoft.com/office/powerpoint/2010/main" val="2804454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5108"/>
            <a:ext cx="9144000" cy="864092"/>
          </a:xfrm>
        </p:spPr>
        <p:txBody>
          <a:bodyPr/>
          <a:lstStyle/>
          <a:p>
            <a:r>
              <a:rPr lang="en-US" dirty="0"/>
              <a:t>Start Plot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3B7770-E7BB-5959-3AA5-1A8A46237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858" y="762000"/>
            <a:ext cx="6578600" cy="5334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6EC1C3-BCC8-8FA1-E4C9-4C90B97C7593}"/>
              </a:ext>
            </a:extLst>
          </p:cNvPr>
          <p:cNvSpPr txBox="1"/>
          <p:nvPr/>
        </p:nvSpPr>
        <p:spPr>
          <a:xfrm>
            <a:off x="359930" y="1594461"/>
            <a:ext cx="5061733" cy="369332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18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sz="18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18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22485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5108"/>
            <a:ext cx="9144000" cy="864092"/>
          </a:xfrm>
        </p:spPr>
        <p:txBody>
          <a:bodyPr/>
          <a:lstStyle/>
          <a:p>
            <a:r>
              <a:rPr lang="en-US" dirty="0"/>
              <a:t>Add x variable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50BC83-204B-E699-A51A-B4E0DE2B3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002" y="787154"/>
            <a:ext cx="6578600" cy="5334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007FB0-E506-E49F-45CC-0C5086514576}"/>
              </a:ext>
            </a:extLst>
          </p:cNvPr>
          <p:cNvSpPr txBox="1"/>
          <p:nvPr/>
        </p:nvSpPr>
        <p:spPr>
          <a:xfrm>
            <a:off x="360269" y="1602673"/>
            <a:ext cx="5061733" cy="646331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) </a:t>
            </a:r>
            <a:r>
              <a:rPr lang="en-US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+</a:t>
            </a:r>
          </a:p>
          <a:p>
            <a:r>
              <a:rPr lang="en-US" sz="18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18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18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(x = </a:t>
            </a:r>
            <a:r>
              <a:rPr lang="en-US" sz="18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gdpPercap</a:t>
            </a:r>
            <a:r>
              <a:rPr lang="en-US" sz="18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57390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5108"/>
            <a:ext cx="9144000" cy="864092"/>
          </a:xfrm>
        </p:spPr>
        <p:txBody>
          <a:bodyPr/>
          <a:lstStyle/>
          <a:p>
            <a:r>
              <a:rPr lang="en-US" dirty="0"/>
              <a:t>Add y variable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802A02-9460-A21A-AC07-E4A202CBE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041" y="762000"/>
            <a:ext cx="6578600" cy="5334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FA01C7-24B2-1B9B-BAEF-045E35F76441}"/>
              </a:ext>
            </a:extLst>
          </p:cNvPr>
          <p:cNvSpPr txBox="1"/>
          <p:nvPr/>
        </p:nvSpPr>
        <p:spPr>
          <a:xfrm>
            <a:off x="327901" y="1517805"/>
            <a:ext cx="5061733" cy="923330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(x =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gdpPercap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) </a:t>
            </a:r>
            <a:r>
              <a:rPr lang="en-US" sz="18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+</a:t>
            </a:r>
          </a:p>
          <a:p>
            <a:r>
              <a:rPr lang="en-US" sz="18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18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18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(y = </a:t>
            </a:r>
            <a:r>
              <a:rPr lang="en-US" sz="18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18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)</a:t>
            </a:r>
            <a:r>
              <a:rPr lang="en-US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 </a:t>
            </a:r>
            <a:endParaRPr lang="en-US" sz="1800" dirty="0">
              <a:solidFill>
                <a:schemeClr val="accent6"/>
              </a:solidFill>
              <a:latin typeface="Monaco" pitchFamily="2" charset="77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89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5108"/>
            <a:ext cx="9144000" cy="864092"/>
          </a:xfrm>
        </p:spPr>
        <p:txBody>
          <a:bodyPr/>
          <a:lstStyle/>
          <a:p>
            <a:r>
              <a:rPr lang="en-US" dirty="0"/>
              <a:t>Draw points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82BCA6-3576-7828-824A-0C12009B2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002" y="762000"/>
            <a:ext cx="6578600" cy="5334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8BDC13-76D4-7BB3-8049-8D165FC63E28}"/>
              </a:ext>
            </a:extLst>
          </p:cNvPr>
          <p:cNvSpPr txBox="1"/>
          <p:nvPr/>
        </p:nvSpPr>
        <p:spPr>
          <a:xfrm>
            <a:off x="360269" y="1473564"/>
            <a:ext cx="5061733" cy="1200329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(x =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gdpPercap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(y =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) </a:t>
            </a:r>
            <a:r>
              <a:rPr lang="en-US" sz="18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+</a:t>
            </a:r>
          </a:p>
          <a:p>
            <a:r>
              <a:rPr lang="en-US" sz="18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18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geom_point</a:t>
            </a:r>
            <a:r>
              <a:rPr lang="en-US" sz="18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170439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7478" y="356818"/>
            <a:ext cx="9144000" cy="864092"/>
          </a:xfrm>
        </p:spPr>
        <p:txBody>
          <a:bodyPr/>
          <a:lstStyle/>
          <a:p>
            <a:r>
              <a:rPr lang="en-US" dirty="0"/>
              <a:t>Color by variable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AFFECC-6A5E-BB60-7DD5-B6C8E3C75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2677" y="438523"/>
            <a:ext cx="6578600" cy="5765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7D3075-4C28-C5F1-61A2-4036B81A63FF}"/>
              </a:ext>
            </a:extLst>
          </p:cNvPr>
          <p:cNvSpPr txBox="1"/>
          <p:nvPr/>
        </p:nvSpPr>
        <p:spPr>
          <a:xfrm>
            <a:off x="257745" y="1489346"/>
            <a:ext cx="5061733" cy="1477328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(x =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gdpPercap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(y =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geom_point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() </a:t>
            </a:r>
            <a:r>
              <a:rPr lang="en-US" sz="18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+</a:t>
            </a:r>
          </a:p>
          <a:p>
            <a:r>
              <a:rPr lang="en-US" sz="18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18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18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(color = continent)</a:t>
            </a:r>
          </a:p>
        </p:txBody>
      </p:sp>
    </p:spTree>
    <p:extLst>
      <p:ext uri="{BB962C8B-B14F-4D97-AF65-F5344CB8AC3E}">
        <p14:creationId xmlns:p14="http://schemas.microsoft.com/office/powerpoint/2010/main" val="2198781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6229" y="355108"/>
            <a:ext cx="9144000" cy="864092"/>
          </a:xfrm>
        </p:spPr>
        <p:txBody>
          <a:bodyPr/>
          <a:lstStyle/>
          <a:p>
            <a:r>
              <a:rPr lang="en-US" dirty="0"/>
              <a:t>Size by population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882F62-3287-21C9-11F4-CDCE9CB61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002" y="355108"/>
            <a:ext cx="6578600" cy="5765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428D4A-A1EC-0504-24E8-F32CF600CAF8}"/>
              </a:ext>
            </a:extLst>
          </p:cNvPr>
          <p:cNvSpPr txBox="1"/>
          <p:nvPr/>
        </p:nvSpPr>
        <p:spPr>
          <a:xfrm>
            <a:off x="299066" y="1483682"/>
            <a:ext cx="5061733" cy="1754326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(x =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gdpPercap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(y =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geom_point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(color = continent) </a:t>
            </a:r>
            <a:r>
              <a:rPr lang="en-US" sz="18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+</a:t>
            </a:r>
          </a:p>
          <a:p>
            <a:r>
              <a:rPr lang="en-US" sz="18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18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18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(size = pop)</a:t>
            </a:r>
          </a:p>
        </p:txBody>
      </p:sp>
    </p:spTree>
    <p:extLst>
      <p:ext uri="{BB962C8B-B14F-4D97-AF65-F5344CB8AC3E}">
        <p14:creationId xmlns:p14="http://schemas.microsoft.com/office/powerpoint/2010/main" val="2569299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309" y="355761"/>
            <a:ext cx="9144000" cy="864092"/>
          </a:xfrm>
        </p:spPr>
        <p:txBody>
          <a:bodyPr/>
          <a:lstStyle/>
          <a:p>
            <a:r>
              <a:rPr lang="en-US" dirty="0"/>
              <a:t>Small plots by year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972E7D-1620-18C9-F324-190BC3A90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091" y="546100"/>
            <a:ext cx="6578600" cy="5765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89F089-FC9E-348D-4042-63FB6F77817C}"/>
              </a:ext>
            </a:extLst>
          </p:cNvPr>
          <p:cNvSpPr txBox="1"/>
          <p:nvPr/>
        </p:nvSpPr>
        <p:spPr>
          <a:xfrm>
            <a:off x="153358" y="1427398"/>
            <a:ext cx="5061733" cy="2031325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(x =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gdpPercap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(y =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geom_point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(color = continent) +</a:t>
            </a:r>
          </a:p>
          <a:p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(size = pop) </a:t>
            </a:r>
            <a:r>
              <a:rPr lang="en-US" sz="18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+</a:t>
            </a:r>
          </a:p>
          <a:p>
            <a:r>
              <a:rPr lang="en-US" sz="18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18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facet_wrap</a:t>
            </a:r>
            <a:r>
              <a:rPr lang="en-US" sz="18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(vars(year))</a:t>
            </a:r>
          </a:p>
        </p:txBody>
      </p:sp>
    </p:spTree>
    <p:extLst>
      <p:ext uri="{BB962C8B-B14F-4D97-AF65-F5344CB8AC3E}">
        <p14:creationId xmlns:p14="http://schemas.microsoft.com/office/powerpoint/2010/main" val="2712321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309" y="355761"/>
            <a:ext cx="9144000" cy="864092"/>
          </a:xfrm>
        </p:spPr>
        <p:txBody>
          <a:bodyPr/>
          <a:lstStyle/>
          <a:p>
            <a:r>
              <a:rPr lang="en-US" dirty="0"/>
              <a:t>Filter years (dplyr)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F22F48-40A9-EC92-7790-BF8EA5BB8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543" y="753163"/>
            <a:ext cx="6578600" cy="5511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32D3CF-FA3A-E75C-9604-8D18D63623D5}"/>
              </a:ext>
            </a:extLst>
          </p:cNvPr>
          <p:cNvSpPr txBox="1"/>
          <p:nvPr/>
        </p:nvSpPr>
        <p:spPr>
          <a:xfrm>
            <a:off x="227863" y="1363125"/>
            <a:ext cx="5061733" cy="3416320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18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%&gt;%</a:t>
            </a:r>
          </a:p>
          <a:p>
            <a:r>
              <a:rPr lang="en-US" sz="18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 filter(</a:t>
            </a:r>
          </a:p>
          <a:p>
            <a:r>
              <a:rPr lang="en-US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sz="18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year %in% c(1952, 2007)</a:t>
            </a:r>
          </a:p>
          <a:p>
            <a:r>
              <a:rPr lang="en-US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18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) %&gt;%</a:t>
            </a:r>
          </a:p>
          <a:p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(x =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gdpPercap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(y =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geom_point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(color = continent) +</a:t>
            </a:r>
          </a:p>
          <a:p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(size = pop) +</a:t>
            </a:r>
          </a:p>
          <a:p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1800" dirty="0" err="1">
                <a:latin typeface="Monaco" pitchFamily="2" charset="77"/>
                <a:cs typeface="Courier New" panose="02070309020205020404" pitchFamily="49" charset="0"/>
              </a:rPr>
              <a:t>facet_wrap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(vars(year)</a:t>
            </a:r>
            <a:r>
              <a:rPr lang="en-US" sz="18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, </a:t>
            </a:r>
          </a:p>
          <a:p>
            <a:r>
              <a:rPr lang="en-US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            </a:t>
            </a:r>
            <a:r>
              <a:rPr lang="en-US" sz="18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nrow</a:t>
            </a:r>
            <a:r>
              <a:rPr lang="en-US" sz="18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= 2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25828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5812" y="355761"/>
            <a:ext cx="9144000" cy="864092"/>
          </a:xfrm>
        </p:spPr>
        <p:txBody>
          <a:bodyPr/>
          <a:lstStyle/>
          <a:p>
            <a:r>
              <a:rPr lang="en-US" dirty="0"/>
              <a:t>Syntax Breakdown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CA96B2-40F7-7652-3F5D-00613CC32152}"/>
              </a:ext>
            </a:extLst>
          </p:cNvPr>
          <p:cNvSpPr txBox="1"/>
          <p:nvPr/>
        </p:nvSpPr>
        <p:spPr>
          <a:xfrm>
            <a:off x="524435" y="2096319"/>
            <a:ext cx="1019287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sz="24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4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(x = </a:t>
            </a:r>
            <a:r>
              <a:rPr lang="en-US" sz="2400" dirty="0" err="1">
                <a:latin typeface="Monaco" pitchFamily="2" charset="77"/>
                <a:cs typeface="Courier New" panose="02070309020205020404" pitchFamily="49" charset="0"/>
              </a:rPr>
              <a:t>gdpPercap</a:t>
            </a:r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4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(y = </a:t>
            </a:r>
            <a:r>
              <a:rPr lang="en-US" sz="2400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4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(color = continent) +</a:t>
            </a:r>
          </a:p>
          <a:p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4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(size = pop) +</a:t>
            </a:r>
          </a:p>
          <a:p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400" dirty="0" err="1">
                <a:latin typeface="Monaco" pitchFamily="2" charset="77"/>
                <a:cs typeface="Courier New" panose="02070309020205020404" pitchFamily="49" charset="0"/>
              </a:rPr>
              <a:t>geom_point</a:t>
            </a:r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400" dirty="0" err="1">
                <a:latin typeface="Monaco" pitchFamily="2" charset="77"/>
                <a:cs typeface="Courier New" panose="02070309020205020404" pitchFamily="49" charset="0"/>
              </a:rPr>
              <a:t>facet_wrap</a:t>
            </a:r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(vars(year), </a:t>
            </a:r>
          </a:p>
          <a:p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             </a:t>
            </a:r>
            <a:r>
              <a:rPr lang="en-US" sz="2400" dirty="0" err="1">
                <a:latin typeface="Monaco" pitchFamily="2" charset="77"/>
                <a:cs typeface="Courier New" panose="02070309020205020404" pitchFamily="49" charset="0"/>
              </a:rPr>
              <a:t>nrow</a:t>
            </a:r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 = 2)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85994DE8-A33B-4121-5F24-66AD75F7D64E}"/>
              </a:ext>
            </a:extLst>
          </p:cNvPr>
          <p:cNvSpPr/>
          <p:nvPr/>
        </p:nvSpPr>
        <p:spPr>
          <a:xfrm>
            <a:off x="4997823" y="2107036"/>
            <a:ext cx="206188" cy="35288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ABC9AF7E-57EF-3543-7E2E-E8639455DB9A}"/>
              </a:ext>
            </a:extLst>
          </p:cNvPr>
          <p:cNvSpPr/>
          <p:nvPr/>
        </p:nvSpPr>
        <p:spPr>
          <a:xfrm>
            <a:off x="5414681" y="2562484"/>
            <a:ext cx="206189" cy="1301304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884D86A1-98F8-5823-5633-7722EBC25BBB}"/>
              </a:ext>
            </a:extLst>
          </p:cNvPr>
          <p:cNvSpPr/>
          <p:nvPr/>
        </p:nvSpPr>
        <p:spPr>
          <a:xfrm>
            <a:off x="5728447" y="2562485"/>
            <a:ext cx="206189" cy="1796206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888E2706-DF6B-5DFA-26CF-2007214E6622}"/>
              </a:ext>
            </a:extLst>
          </p:cNvPr>
          <p:cNvSpPr/>
          <p:nvPr/>
        </p:nvSpPr>
        <p:spPr>
          <a:xfrm>
            <a:off x="6096000" y="4400339"/>
            <a:ext cx="206188" cy="568171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8A6198D-12BE-F8DA-FE02-53EFDEEC2125}"/>
              </a:ext>
            </a:extLst>
          </p:cNvPr>
          <p:cNvCxnSpPr/>
          <p:nvPr/>
        </p:nvCxnSpPr>
        <p:spPr>
          <a:xfrm>
            <a:off x="555812" y="2562484"/>
            <a:ext cx="4352365" cy="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90BAFC5-E4F3-6C95-DC57-713009AE4DAF}"/>
              </a:ext>
            </a:extLst>
          </p:cNvPr>
          <p:cNvCxnSpPr/>
          <p:nvPr/>
        </p:nvCxnSpPr>
        <p:spPr>
          <a:xfrm>
            <a:off x="658906" y="3986450"/>
            <a:ext cx="4352365" cy="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8E2EDDA-3255-34C5-4D1C-469EB7B4C7B8}"/>
              </a:ext>
            </a:extLst>
          </p:cNvPr>
          <p:cNvCxnSpPr/>
          <p:nvPr/>
        </p:nvCxnSpPr>
        <p:spPr>
          <a:xfrm>
            <a:off x="658906" y="4358690"/>
            <a:ext cx="4352365" cy="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D314698-E216-67F6-AA74-BD5978E2FCAA}"/>
              </a:ext>
            </a:extLst>
          </p:cNvPr>
          <p:cNvSpPr txBox="1"/>
          <p:nvPr/>
        </p:nvSpPr>
        <p:spPr>
          <a:xfrm>
            <a:off x="5226424" y="210703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Base plot object (requires d</a:t>
            </a:r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ata set)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3695CA-E415-AB3C-013D-77273DCD6D97}"/>
              </a:ext>
            </a:extLst>
          </p:cNvPr>
          <p:cNvSpPr txBox="1"/>
          <p:nvPr/>
        </p:nvSpPr>
        <p:spPr>
          <a:xfrm>
            <a:off x="5831542" y="30284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Aesthetics (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)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078DCD-9951-25C1-4593-26144D9EDB9C}"/>
              </a:ext>
            </a:extLst>
          </p:cNvPr>
          <p:cNvSpPr txBox="1"/>
          <p:nvPr/>
        </p:nvSpPr>
        <p:spPr>
          <a:xfrm>
            <a:off x="6037731" y="339495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Geometry (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geom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_)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9DF306-AFDB-271D-912E-2E18B162293B}"/>
              </a:ext>
            </a:extLst>
          </p:cNvPr>
          <p:cNvSpPr txBox="1"/>
          <p:nvPr/>
        </p:nvSpPr>
        <p:spPr>
          <a:xfrm>
            <a:off x="6302188" y="45019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Faceting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4740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5108"/>
            <a:ext cx="9144000" cy="864092"/>
          </a:xfrm>
        </p:spPr>
        <p:txBody>
          <a:bodyPr/>
          <a:lstStyle/>
          <a:p>
            <a:r>
              <a:rPr lang="en-US" dirty="0"/>
              <a:t>Aesthetics, </a:t>
            </a:r>
            <a:r>
              <a:rPr lang="en-US" dirty="0" err="1"/>
              <a:t>aes</a:t>
            </a:r>
            <a:r>
              <a:rPr lang="en-US" dirty="0"/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9C4389-A3E2-DB5C-227E-95071355167B}"/>
              </a:ext>
            </a:extLst>
          </p:cNvPr>
          <p:cNvSpPr txBox="1"/>
          <p:nvPr/>
        </p:nvSpPr>
        <p:spPr>
          <a:xfrm>
            <a:off x="608008" y="1247748"/>
            <a:ext cx="100094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Mapping between a column of your data and some property of the </a:t>
            </a:r>
          </a:p>
          <a:p>
            <a:r>
              <a:rPr lang="en-US" sz="2800" b="1" dirty="0"/>
              <a:t>geom</a:t>
            </a:r>
            <a:r>
              <a:rPr lang="en-US" sz="2800" dirty="0"/>
              <a:t>etry being drawn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CF66E3-1343-88D5-CDBA-14B16D744E13}"/>
              </a:ext>
            </a:extLst>
          </p:cNvPr>
          <p:cNvSpPr txBox="1"/>
          <p:nvPr/>
        </p:nvSpPr>
        <p:spPr>
          <a:xfrm>
            <a:off x="7561730" y="28087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96E7AC-5B46-6B3D-04FF-77081F834349}"/>
              </a:ext>
            </a:extLst>
          </p:cNvPr>
          <p:cNvSpPr txBox="1"/>
          <p:nvPr/>
        </p:nvSpPr>
        <p:spPr>
          <a:xfrm>
            <a:off x="1055873" y="2443061"/>
            <a:ext cx="1019287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sz="24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4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4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(x = </a:t>
            </a:r>
            <a:r>
              <a:rPr lang="en-US" sz="24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gdpPercap</a:t>
            </a:r>
            <a:r>
              <a:rPr lang="en-US" sz="24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,</a:t>
            </a:r>
          </a:p>
          <a:p>
            <a:r>
              <a:rPr lang="en-US" sz="24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     y = </a:t>
            </a:r>
            <a:r>
              <a:rPr lang="en-US" sz="24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24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,</a:t>
            </a:r>
          </a:p>
          <a:p>
            <a:r>
              <a:rPr lang="en-US" sz="24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     color = continent,</a:t>
            </a:r>
          </a:p>
          <a:p>
            <a:r>
              <a:rPr lang="en-US" sz="24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     size = pop)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913185C0-BBFE-D2A7-F05F-282DF8F8D802}"/>
              </a:ext>
            </a:extLst>
          </p:cNvPr>
          <p:cNvSpPr/>
          <p:nvPr/>
        </p:nvSpPr>
        <p:spPr>
          <a:xfrm flipH="1">
            <a:off x="661988" y="2899988"/>
            <a:ext cx="346261" cy="1482065"/>
          </a:xfrm>
          <a:prstGeom prst="rightBrac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7A5162-C474-F2BA-9E43-9B5AF6E35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289" y="2102277"/>
            <a:ext cx="4436373" cy="3888250"/>
          </a:xfrm>
          <a:prstGeom prst="rect">
            <a:avLst/>
          </a:prstGeom>
        </p:spPr>
      </p:pic>
      <p:sp>
        <p:nvSpPr>
          <p:cNvPr id="18" name="Equal 17">
            <a:extLst>
              <a:ext uri="{FF2B5EF4-FFF2-40B4-BE49-F238E27FC236}">
                <a16:creationId xmlns:a16="http://schemas.microsoft.com/office/drawing/2014/main" id="{332DE60F-D213-B2B0-EF6D-47B35449E29A}"/>
              </a:ext>
            </a:extLst>
          </p:cNvPr>
          <p:cNvSpPr/>
          <p:nvPr/>
        </p:nvSpPr>
        <p:spPr>
          <a:xfrm>
            <a:off x="2382389" y="4344627"/>
            <a:ext cx="846586" cy="613136"/>
          </a:xfrm>
          <a:prstGeom prst="mathEqual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F4E6AD-6978-E0E6-8E28-E57031624BED}"/>
              </a:ext>
            </a:extLst>
          </p:cNvPr>
          <p:cNvSpPr txBox="1"/>
          <p:nvPr/>
        </p:nvSpPr>
        <p:spPr>
          <a:xfrm>
            <a:off x="1104638" y="4482621"/>
            <a:ext cx="101928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                  </a:t>
            </a:r>
          </a:p>
          <a:p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4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4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(x = </a:t>
            </a:r>
            <a:r>
              <a:rPr lang="en-US" sz="24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gdpPercap</a:t>
            </a:r>
            <a:r>
              <a:rPr lang="en-US" sz="24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)+</a:t>
            </a:r>
          </a:p>
          <a:p>
            <a:r>
              <a:rPr lang="en-US" sz="24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4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4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(y = </a:t>
            </a:r>
            <a:r>
              <a:rPr lang="en-US" sz="24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24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) + </a:t>
            </a:r>
          </a:p>
          <a:p>
            <a:r>
              <a:rPr lang="en-US" sz="24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4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4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(color = continent) + </a:t>
            </a:r>
          </a:p>
          <a:p>
            <a:r>
              <a:rPr lang="en-US" sz="24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 …</a:t>
            </a:r>
          </a:p>
          <a:p>
            <a:r>
              <a:rPr lang="en-US" sz="24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6422995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5108"/>
            <a:ext cx="9144000" cy="864092"/>
          </a:xfrm>
        </p:spPr>
        <p:txBody>
          <a:bodyPr/>
          <a:lstStyle/>
          <a:p>
            <a:r>
              <a:rPr lang="en-US" dirty="0"/>
              <a:t>Aesthetics, </a:t>
            </a:r>
            <a:r>
              <a:rPr lang="en-US" dirty="0" err="1"/>
              <a:t>aes</a:t>
            </a:r>
            <a:r>
              <a:rPr lang="en-US" dirty="0"/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9C4389-A3E2-DB5C-227E-95071355167B}"/>
              </a:ext>
            </a:extLst>
          </p:cNvPr>
          <p:cNvSpPr txBox="1"/>
          <p:nvPr/>
        </p:nvSpPr>
        <p:spPr>
          <a:xfrm>
            <a:off x="608008" y="1238243"/>
            <a:ext cx="100094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Mapping between a column of your data and some property of the </a:t>
            </a:r>
          </a:p>
          <a:p>
            <a:r>
              <a:rPr lang="en-US" sz="2800" b="1" dirty="0"/>
              <a:t>geom</a:t>
            </a:r>
            <a:r>
              <a:rPr lang="en-US" sz="2800" dirty="0"/>
              <a:t>etry being drawn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CF66E3-1343-88D5-CDBA-14B16D744E13}"/>
              </a:ext>
            </a:extLst>
          </p:cNvPr>
          <p:cNvSpPr txBox="1"/>
          <p:nvPr/>
        </p:nvSpPr>
        <p:spPr>
          <a:xfrm>
            <a:off x="7561730" y="28087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96E7AC-5B46-6B3D-04FF-77081F834349}"/>
              </a:ext>
            </a:extLst>
          </p:cNvPr>
          <p:cNvSpPr txBox="1"/>
          <p:nvPr/>
        </p:nvSpPr>
        <p:spPr>
          <a:xfrm>
            <a:off x="1055873" y="2443061"/>
            <a:ext cx="1019287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sz="24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4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4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(x = </a:t>
            </a:r>
            <a:r>
              <a:rPr lang="en-US" sz="24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gdpPercap</a:t>
            </a:r>
            <a:r>
              <a:rPr lang="en-US" sz="24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,</a:t>
            </a:r>
          </a:p>
          <a:p>
            <a:r>
              <a:rPr lang="en-US" sz="24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     y = </a:t>
            </a:r>
            <a:r>
              <a:rPr lang="en-US" sz="24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24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,</a:t>
            </a:r>
          </a:p>
          <a:p>
            <a:r>
              <a:rPr lang="en-US" sz="24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     color = continent,</a:t>
            </a:r>
          </a:p>
          <a:p>
            <a:r>
              <a:rPr lang="en-US" sz="24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     size = pop)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913185C0-BBFE-D2A7-F05F-282DF8F8D802}"/>
              </a:ext>
            </a:extLst>
          </p:cNvPr>
          <p:cNvSpPr/>
          <p:nvPr/>
        </p:nvSpPr>
        <p:spPr>
          <a:xfrm flipH="1">
            <a:off x="661988" y="2899988"/>
            <a:ext cx="346261" cy="1482065"/>
          </a:xfrm>
          <a:prstGeom prst="rightBrac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F7A5162-C474-F2BA-9E43-9B5AF6E35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289" y="2102277"/>
            <a:ext cx="4436373" cy="3888250"/>
          </a:xfrm>
          <a:prstGeom prst="rect">
            <a:avLst/>
          </a:prstGeom>
        </p:spPr>
      </p:pic>
      <p:sp>
        <p:nvSpPr>
          <p:cNvPr id="18" name="Equal 17">
            <a:extLst>
              <a:ext uri="{FF2B5EF4-FFF2-40B4-BE49-F238E27FC236}">
                <a16:creationId xmlns:a16="http://schemas.microsoft.com/office/drawing/2014/main" id="{332DE60F-D213-B2B0-EF6D-47B35449E29A}"/>
              </a:ext>
            </a:extLst>
          </p:cNvPr>
          <p:cNvSpPr/>
          <p:nvPr/>
        </p:nvSpPr>
        <p:spPr>
          <a:xfrm>
            <a:off x="2382389" y="4344627"/>
            <a:ext cx="846586" cy="613136"/>
          </a:xfrm>
          <a:prstGeom prst="mathEqual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F4E6AD-6978-E0E6-8E28-E57031624BED}"/>
              </a:ext>
            </a:extLst>
          </p:cNvPr>
          <p:cNvSpPr txBox="1"/>
          <p:nvPr/>
        </p:nvSpPr>
        <p:spPr>
          <a:xfrm>
            <a:off x="1104638" y="4482621"/>
            <a:ext cx="101928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                  </a:t>
            </a:r>
          </a:p>
          <a:p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4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4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(x = </a:t>
            </a:r>
            <a:r>
              <a:rPr lang="en-US" sz="24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gdpPercap</a:t>
            </a:r>
            <a:r>
              <a:rPr lang="en-US" sz="24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)+</a:t>
            </a:r>
          </a:p>
          <a:p>
            <a:r>
              <a:rPr lang="en-US" sz="24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4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4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(y = </a:t>
            </a:r>
            <a:r>
              <a:rPr lang="en-US" sz="24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24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) + </a:t>
            </a:r>
          </a:p>
          <a:p>
            <a:r>
              <a:rPr lang="en-US" sz="24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4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4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(color = continent) + </a:t>
            </a:r>
          </a:p>
          <a:p>
            <a:r>
              <a:rPr lang="en-US" sz="24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 …</a:t>
            </a:r>
          </a:p>
          <a:p>
            <a:r>
              <a:rPr lang="en-US" sz="24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  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899160-0073-6C68-7C08-0D2154C822D1}"/>
              </a:ext>
            </a:extLst>
          </p:cNvPr>
          <p:cNvSpPr/>
          <p:nvPr/>
        </p:nvSpPr>
        <p:spPr>
          <a:xfrm>
            <a:off x="5767389" y="2425119"/>
            <a:ext cx="6391275" cy="272050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err="1">
                <a:solidFill>
                  <a:schemeClr val="tx1"/>
                </a:solidFill>
              </a:rPr>
              <a:t>aes</a:t>
            </a:r>
            <a:r>
              <a:rPr lang="en-US" sz="3200" dirty="0">
                <a:solidFill>
                  <a:schemeClr val="tx1"/>
                </a:solidFill>
              </a:rPr>
              <a:t>(</a:t>
            </a:r>
            <a:r>
              <a:rPr lang="en-US" sz="3200" dirty="0">
                <a:solidFill>
                  <a:schemeClr val="accent6"/>
                </a:solidFill>
              </a:rPr>
              <a:t>&lt;PROPERTY&gt;</a:t>
            </a:r>
            <a:r>
              <a:rPr lang="en-US" sz="3200" dirty="0">
                <a:solidFill>
                  <a:schemeClr val="tx1"/>
                </a:solidFill>
              </a:rPr>
              <a:t> = </a:t>
            </a:r>
            <a:r>
              <a:rPr lang="en-US" sz="3200" dirty="0">
                <a:solidFill>
                  <a:schemeClr val="accent6"/>
                </a:solidFill>
              </a:rPr>
              <a:t>&lt;VARIABLE&gt;</a:t>
            </a:r>
            <a:r>
              <a:rPr lang="en-US" sz="3200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5796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362" y="21494"/>
            <a:ext cx="9144000" cy="864092"/>
          </a:xfrm>
        </p:spPr>
        <p:txBody>
          <a:bodyPr/>
          <a:lstStyle/>
          <a:p>
            <a:r>
              <a:rPr lang="en-US" dirty="0"/>
              <a:t>Aesthetics, </a:t>
            </a:r>
            <a:r>
              <a:rPr lang="en-US" dirty="0" err="1"/>
              <a:t>aes</a:t>
            </a:r>
            <a:r>
              <a:rPr lang="en-US" dirty="0"/>
              <a:t>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9C4389-A3E2-DB5C-227E-95071355167B}"/>
              </a:ext>
            </a:extLst>
          </p:cNvPr>
          <p:cNvSpPr txBox="1"/>
          <p:nvPr/>
        </p:nvSpPr>
        <p:spPr>
          <a:xfrm>
            <a:off x="614362" y="802542"/>
            <a:ext cx="84246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Aesthetics available depend on the </a:t>
            </a:r>
            <a:r>
              <a:rPr lang="en-US" sz="2800" b="1" dirty="0"/>
              <a:t>geom</a:t>
            </a:r>
            <a:r>
              <a:rPr lang="en-US" sz="2800" dirty="0"/>
              <a:t>etry being used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CF66E3-1343-88D5-CDBA-14B16D744E13}"/>
              </a:ext>
            </a:extLst>
          </p:cNvPr>
          <p:cNvSpPr txBox="1"/>
          <p:nvPr/>
        </p:nvSpPr>
        <p:spPr>
          <a:xfrm>
            <a:off x="7561730" y="28087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9CE1DA7-CB04-8C28-6D67-144AE4EA813F}"/>
              </a:ext>
            </a:extLst>
          </p:cNvPr>
          <p:cNvCxnSpPr/>
          <p:nvPr/>
        </p:nvCxnSpPr>
        <p:spPr>
          <a:xfrm>
            <a:off x="5800725" y="2073729"/>
            <a:ext cx="0" cy="3984171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53B1512-1C8E-FA3D-9A9C-D71FB50AAAA5}"/>
              </a:ext>
            </a:extLst>
          </p:cNvPr>
          <p:cNvSpPr txBox="1"/>
          <p:nvPr/>
        </p:nvSpPr>
        <p:spPr>
          <a:xfrm>
            <a:off x="271463" y="1875458"/>
            <a:ext cx="530066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i="0" dirty="0">
                <a:solidFill>
                  <a:srgbClr val="595959"/>
                </a:solidFill>
                <a:effectLst/>
                <a:latin typeface="SF Pro Text"/>
              </a:rPr>
              <a:t>Aesthetics</a:t>
            </a:r>
          </a:p>
          <a:p>
            <a:pPr algn="l"/>
            <a:r>
              <a:rPr lang="en-US" b="0" i="0" dirty="0" err="1">
                <a:solidFill>
                  <a:srgbClr val="000000"/>
                </a:solidFill>
                <a:effectLst/>
                <a:latin typeface="SF Pro Text"/>
              </a:rPr>
              <a:t>geom_point</a:t>
            </a:r>
            <a:r>
              <a:rPr lang="en-US" b="0" i="0" dirty="0">
                <a:solidFill>
                  <a:srgbClr val="000000"/>
                </a:solidFill>
                <a:effectLst/>
                <a:latin typeface="SF Pro Text"/>
              </a:rPr>
              <a:t>() understands the following aesthetics (required aesthetics are in bold):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F Pro Text"/>
              </a:rPr>
              <a:t>x</a:t>
            </a:r>
            <a:endParaRPr lang="en-US" b="0" i="0" dirty="0">
              <a:solidFill>
                <a:srgbClr val="000000"/>
              </a:solidFill>
              <a:effectLst/>
              <a:latin typeface="SF Pro Tex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F Pro Text"/>
              </a:rPr>
              <a:t>y</a:t>
            </a:r>
            <a:endParaRPr lang="en-US" b="0" i="0" dirty="0">
              <a:solidFill>
                <a:srgbClr val="000000"/>
              </a:solidFill>
              <a:effectLst/>
              <a:latin typeface="SF Pro Tex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F Pro Text"/>
              </a:rPr>
              <a:t>alpha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00000"/>
                </a:solidFill>
                <a:effectLst/>
                <a:latin typeface="SF Pro Text"/>
              </a:rPr>
              <a:t>colour</a:t>
            </a:r>
            <a:endParaRPr lang="en-US" b="0" i="0" dirty="0">
              <a:solidFill>
                <a:srgbClr val="000000"/>
              </a:solidFill>
              <a:effectLst/>
              <a:latin typeface="SF Pro Tex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F Pro Text"/>
              </a:rPr>
              <a:t>fill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F Pro Text"/>
              </a:rPr>
              <a:t>group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F Pro Text"/>
              </a:rPr>
              <a:t>shape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F Pro Text"/>
              </a:rPr>
              <a:t>size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F Pro Text"/>
              </a:rPr>
              <a:t>stroke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1C96E7-90D9-3CE0-B3FD-93AD14E5E3ED}"/>
              </a:ext>
            </a:extLst>
          </p:cNvPr>
          <p:cNvSpPr txBox="1"/>
          <p:nvPr/>
        </p:nvSpPr>
        <p:spPr>
          <a:xfrm>
            <a:off x="5962653" y="1875458"/>
            <a:ext cx="610076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595959"/>
                </a:solidFill>
                <a:effectLst/>
                <a:latin typeface="SF Pro Text"/>
              </a:rPr>
              <a:t>Aesthetics</a:t>
            </a:r>
          </a:p>
          <a:p>
            <a:pPr algn="l"/>
            <a:r>
              <a:rPr lang="en-US" b="0" i="0" dirty="0" err="1">
                <a:solidFill>
                  <a:srgbClr val="000000"/>
                </a:solidFill>
                <a:effectLst/>
                <a:latin typeface="SF Pro Text"/>
              </a:rPr>
              <a:t>geom_boxplot</a:t>
            </a:r>
            <a:r>
              <a:rPr lang="en-US" b="0" i="0" dirty="0">
                <a:solidFill>
                  <a:srgbClr val="000000"/>
                </a:solidFill>
                <a:effectLst/>
                <a:latin typeface="SF Pro Text"/>
              </a:rPr>
              <a:t>() understands the following aesthetics (required aesthetics are in bold):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F Pro Text"/>
              </a:rPr>
              <a:t>x </a:t>
            </a:r>
            <a:r>
              <a:rPr lang="en-US" b="1" i="1" dirty="0">
                <a:solidFill>
                  <a:srgbClr val="000000"/>
                </a:solidFill>
                <a:effectLst/>
                <a:latin typeface="SF Pro Text"/>
              </a:rPr>
              <a:t>or</a:t>
            </a:r>
            <a:r>
              <a:rPr lang="en-US" b="1" i="0" dirty="0">
                <a:solidFill>
                  <a:srgbClr val="000000"/>
                </a:solidFill>
                <a:effectLst/>
                <a:latin typeface="SF Pro Text"/>
              </a:rPr>
              <a:t> y</a:t>
            </a:r>
            <a:endParaRPr lang="en-US" b="0" i="0" dirty="0">
              <a:solidFill>
                <a:srgbClr val="000000"/>
              </a:solidFill>
              <a:effectLst/>
              <a:latin typeface="SF Pro Tex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F Pro Text"/>
              </a:rPr>
              <a:t>lower </a:t>
            </a:r>
            <a:r>
              <a:rPr lang="en-US" b="1" i="1" dirty="0">
                <a:solidFill>
                  <a:srgbClr val="000000"/>
                </a:solidFill>
                <a:effectLst/>
                <a:latin typeface="SF Pro Text"/>
              </a:rPr>
              <a:t>or</a:t>
            </a:r>
            <a:r>
              <a:rPr lang="en-US" b="1" i="0" dirty="0">
                <a:solidFill>
                  <a:srgbClr val="000000"/>
                </a:solidFill>
                <a:effectLst/>
                <a:latin typeface="SF Pro Text"/>
              </a:rPr>
              <a:t> 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SF Pro Text"/>
              </a:rPr>
              <a:t>xlower</a:t>
            </a:r>
            <a:endParaRPr lang="en-US" b="0" i="0" dirty="0">
              <a:solidFill>
                <a:srgbClr val="000000"/>
              </a:solidFill>
              <a:effectLst/>
              <a:latin typeface="SF Pro Tex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F Pro Text"/>
              </a:rPr>
              <a:t>upper </a:t>
            </a:r>
            <a:r>
              <a:rPr lang="en-US" b="1" i="1" dirty="0">
                <a:solidFill>
                  <a:srgbClr val="000000"/>
                </a:solidFill>
                <a:effectLst/>
                <a:latin typeface="SF Pro Text"/>
              </a:rPr>
              <a:t>or</a:t>
            </a:r>
            <a:r>
              <a:rPr lang="en-US" b="1" i="0" dirty="0">
                <a:solidFill>
                  <a:srgbClr val="000000"/>
                </a:solidFill>
                <a:effectLst/>
                <a:latin typeface="SF Pro Text"/>
              </a:rPr>
              <a:t> 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SF Pro Text"/>
              </a:rPr>
              <a:t>xupper</a:t>
            </a:r>
            <a:endParaRPr lang="en-US" b="0" i="0" dirty="0">
              <a:solidFill>
                <a:srgbClr val="000000"/>
              </a:solidFill>
              <a:effectLst/>
              <a:latin typeface="SF Pro Tex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SF Pro Text"/>
              </a:rPr>
              <a:t>middle </a:t>
            </a:r>
            <a:r>
              <a:rPr lang="en-US" b="1" i="1" dirty="0">
                <a:solidFill>
                  <a:srgbClr val="000000"/>
                </a:solidFill>
                <a:effectLst/>
                <a:latin typeface="SF Pro Text"/>
              </a:rPr>
              <a:t>or</a:t>
            </a:r>
            <a:r>
              <a:rPr lang="en-US" b="1" i="0" dirty="0">
                <a:solidFill>
                  <a:srgbClr val="000000"/>
                </a:solidFill>
                <a:effectLst/>
                <a:latin typeface="SF Pro Text"/>
              </a:rPr>
              <a:t> 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SF Pro Text"/>
              </a:rPr>
              <a:t>xmiddle</a:t>
            </a:r>
            <a:endParaRPr lang="en-US" b="0" i="0" dirty="0">
              <a:solidFill>
                <a:srgbClr val="000000"/>
              </a:solidFill>
              <a:effectLst/>
              <a:latin typeface="SF Pro Tex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000000"/>
                </a:solidFill>
                <a:effectLst/>
                <a:latin typeface="SF Pro Text"/>
              </a:rPr>
              <a:t>ymin</a:t>
            </a:r>
            <a:r>
              <a:rPr lang="en-US" b="1" i="0" dirty="0">
                <a:solidFill>
                  <a:srgbClr val="000000"/>
                </a:solidFill>
                <a:effectLst/>
                <a:latin typeface="SF Pro Text"/>
              </a:rPr>
              <a:t> </a:t>
            </a:r>
            <a:r>
              <a:rPr lang="en-US" b="1" i="1" dirty="0">
                <a:solidFill>
                  <a:srgbClr val="000000"/>
                </a:solidFill>
                <a:effectLst/>
                <a:latin typeface="SF Pro Text"/>
              </a:rPr>
              <a:t>or</a:t>
            </a:r>
            <a:r>
              <a:rPr lang="en-US" b="1" i="0" dirty="0">
                <a:solidFill>
                  <a:srgbClr val="000000"/>
                </a:solidFill>
                <a:effectLst/>
                <a:latin typeface="SF Pro Text"/>
              </a:rPr>
              <a:t> 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SF Pro Text"/>
              </a:rPr>
              <a:t>xmin</a:t>
            </a:r>
            <a:endParaRPr lang="en-US" b="0" i="0" dirty="0">
              <a:solidFill>
                <a:srgbClr val="000000"/>
              </a:solidFill>
              <a:effectLst/>
              <a:latin typeface="SF Pro Tex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000000"/>
                </a:solidFill>
                <a:effectLst/>
                <a:latin typeface="SF Pro Text"/>
              </a:rPr>
              <a:t>ymax</a:t>
            </a:r>
            <a:r>
              <a:rPr lang="en-US" b="1" i="0" dirty="0">
                <a:solidFill>
                  <a:srgbClr val="000000"/>
                </a:solidFill>
                <a:effectLst/>
                <a:latin typeface="SF Pro Text"/>
              </a:rPr>
              <a:t> </a:t>
            </a:r>
            <a:r>
              <a:rPr lang="en-US" b="1" i="1" dirty="0">
                <a:solidFill>
                  <a:srgbClr val="000000"/>
                </a:solidFill>
                <a:effectLst/>
                <a:latin typeface="SF Pro Text"/>
              </a:rPr>
              <a:t>or</a:t>
            </a:r>
            <a:r>
              <a:rPr lang="en-US" b="1" i="0" dirty="0">
                <a:solidFill>
                  <a:srgbClr val="000000"/>
                </a:solidFill>
                <a:effectLst/>
                <a:latin typeface="SF Pro Text"/>
              </a:rPr>
              <a:t> 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SF Pro Text"/>
              </a:rPr>
              <a:t>xmax</a:t>
            </a:r>
            <a:endParaRPr lang="en-US" b="0" i="0" dirty="0">
              <a:solidFill>
                <a:srgbClr val="000000"/>
              </a:solidFill>
              <a:effectLst/>
              <a:latin typeface="SF Pro Tex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F Pro Text"/>
              </a:rPr>
              <a:t>alpha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00000"/>
                </a:solidFill>
                <a:effectLst/>
                <a:latin typeface="SF Pro Text"/>
              </a:rPr>
              <a:t>colour</a:t>
            </a:r>
            <a:endParaRPr lang="en-US" b="0" i="0" dirty="0">
              <a:solidFill>
                <a:srgbClr val="000000"/>
              </a:solidFill>
              <a:effectLst/>
              <a:latin typeface="SF Pro Tex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F Pro Text"/>
              </a:rPr>
              <a:t>fill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F Pro Text"/>
              </a:rPr>
              <a:t>group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000000"/>
                </a:solidFill>
                <a:effectLst/>
                <a:latin typeface="SF Pro Text"/>
              </a:rPr>
              <a:t>linetype</a:t>
            </a:r>
            <a:endParaRPr lang="en-US" b="0" i="0" dirty="0">
              <a:solidFill>
                <a:srgbClr val="000000"/>
              </a:solidFill>
              <a:effectLst/>
              <a:latin typeface="SF Pro Tex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SF Pro Text"/>
              </a:rPr>
              <a:t>linewidth</a:t>
            </a:r>
          </a:p>
          <a:p>
            <a:pPr algn="l"/>
            <a:r>
              <a:rPr lang="en-US" dirty="0">
                <a:solidFill>
                  <a:srgbClr val="000000"/>
                </a:solidFill>
                <a:latin typeface="SF Pro Text"/>
              </a:rPr>
              <a:t>…</a:t>
            </a:r>
            <a:endParaRPr lang="en-US" b="0" i="0" dirty="0">
              <a:solidFill>
                <a:srgbClr val="000000"/>
              </a:solidFill>
              <a:effectLst/>
              <a:latin typeface="SF Pro Text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623F06-EB82-E4A9-4E0B-D53179F0EC7D}"/>
              </a:ext>
            </a:extLst>
          </p:cNvPr>
          <p:cNvSpPr txBox="1"/>
          <p:nvPr/>
        </p:nvSpPr>
        <p:spPr>
          <a:xfrm>
            <a:off x="7178965" y="1352238"/>
            <a:ext cx="61007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?</a:t>
            </a:r>
            <a:r>
              <a:rPr lang="en-US" sz="2800" b="1" dirty="0" err="1"/>
              <a:t>geom_</a:t>
            </a:r>
            <a:r>
              <a:rPr lang="en-US" sz="2800" dirty="0" err="1"/>
              <a:t>boxplot</a:t>
            </a:r>
            <a:endParaRPr lang="en-US" sz="2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5C3E86-1B84-C37B-CA63-67B648657E4B}"/>
              </a:ext>
            </a:extLst>
          </p:cNvPr>
          <p:cNvSpPr txBox="1"/>
          <p:nvPr/>
        </p:nvSpPr>
        <p:spPr>
          <a:xfrm>
            <a:off x="1206288" y="1379354"/>
            <a:ext cx="61007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?</a:t>
            </a:r>
            <a:r>
              <a:rPr lang="en-US" sz="2800" b="1" dirty="0" err="1"/>
              <a:t>geom_</a:t>
            </a:r>
            <a:r>
              <a:rPr lang="en-US" sz="2800" dirty="0" err="1"/>
              <a:t>histogram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A71C1-DDDE-10F9-3027-40695D2754F5}"/>
              </a:ext>
            </a:extLst>
          </p:cNvPr>
          <p:cNvSpPr txBox="1"/>
          <p:nvPr/>
        </p:nvSpPr>
        <p:spPr>
          <a:xfrm>
            <a:off x="271463" y="5482354"/>
            <a:ext cx="5061733" cy="369332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?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geom_histogram</a:t>
            </a:r>
            <a:endParaRPr lang="en-US" sz="1800" dirty="0">
              <a:latin typeface="Monaco" pitchFamily="2" charset="77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6954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5108"/>
            <a:ext cx="9144000" cy="864092"/>
          </a:xfrm>
        </p:spPr>
        <p:txBody>
          <a:bodyPr/>
          <a:lstStyle/>
          <a:p>
            <a:r>
              <a:rPr lang="en-US" dirty="0"/>
              <a:t>Aesthetics, </a:t>
            </a:r>
            <a:r>
              <a:rPr lang="en-US" dirty="0" err="1"/>
              <a:t>aes</a:t>
            </a:r>
            <a:r>
              <a:rPr lang="en-US" dirty="0"/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CF66E3-1343-88D5-CDBA-14B16D744E13}"/>
              </a:ext>
            </a:extLst>
          </p:cNvPr>
          <p:cNvSpPr txBox="1"/>
          <p:nvPr/>
        </p:nvSpPr>
        <p:spPr>
          <a:xfrm>
            <a:off x="7561730" y="28087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913185C0-BBFE-D2A7-F05F-282DF8F8D802}"/>
              </a:ext>
            </a:extLst>
          </p:cNvPr>
          <p:cNvSpPr/>
          <p:nvPr/>
        </p:nvSpPr>
        <p:spPr>
          <a:xfrm flipH="1">
            <a:off x="450694" y="3098624"/>
            <a:ext cx="346261" cy="801737"/>
          </a:xfrm>
          <a:prstGeom prst="rightBrac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  <p:pic>
        <p:nvPicPr>
          <p:cNvPr id="8" name="Picture 7" descr="A purple head with gears inside&#10;&#10;Description automatically generated with low confidence">
            <a:extLst>
              <a:ext uri="{FF2B5EF4-FFF2-40B4-BE49-F238E27FC236}">
                <a16:creationId xmlns:a16="http://schemas.microsoft.com/office/drawing/2014/main" id="{B8F92A93-DA65-A6EA-683F-7690AC7A8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38" y="4906979"/>
            <a:ext cx="965200" cy="1066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C8ADEF-FAC7-A00F-FEE5-2CC0DBFDC99A}"/>
              </a:ext>
            </a:extLst>
          </p:cNvPr>
          <p:cNvSpPr txBox="1"/>
          <p:nvPr/>
        </p:nvSpPr>
        <p:spPr>
          <a:xfrm>
            <a:off x="1103800" y="4936036"/>
            <a:ext cx="49922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Can you get a different shape for each </a:t>
            </a:r>
          </a:p>
          <a:p>
            <a:r>
              <a:rPr lang="en-US" sz="2400" dirty="0"/>
              <a:t>continent?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2BD7FCE-61EB-6BF2-5287-4E570B6243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7138" y="1477180"/>
            <a:ext cx="5884862" cy="44215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EDC8E5-6279-34AC-AEDE-3874317F3F7B}"/>
              </a:ext>
            </a:extLst>
          </p:cNvPr>
          <p:cNvSpPr txBox="1"/>
          <p:nvPr/>
        </p:nvSpPr>
        <p:spPr>
          <a:xfrm>
            <a:off x="902524" y="2048369"/>
            <a:ext cx="5061733" cy="2246769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filter(year == 2007) %&gt;%</a:t>
            </a:r>
          </a:p>
          <a:p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0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(x = </a:t>
            </a:r>
            <a:r>
              <a:rPr lang="en-US" sz="20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gdpPercap</a:t>
            </a:r>
            <a:r>
              <a:rPr lang="en-US" sz="20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,</a:t>
            </a:r>
          </a:p>
          <a:p>
            <a:r>
              <a:rPr lang="en-US" sz="20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     y = </a:t>
            </a:r>
            <a:r>
              <a:rPr lang="en-US" sz="20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20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,</a:t>
            </a:r>
          </a:p>
          <a:p>
            <a:r>
              <a:rPr lang="en-US" sz="20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&lt;??&gt; = &lt;??&gt;</a:t>
            </a:r>
            <a:r>
              <a:rPr lang="en-US" sz="20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) 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+</a:t>
            </a:r>
            <a:r>
              <a:rPr lang="en-US" sz="20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</a:t>
            </a:r>
          </a:p>
          <a:p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geom_point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0959646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5108"/>
            <a:ext cx="9144000" cy="864092"/>
          </a:xfrm>
        </p:spPr>
        <p:txBody>
          <a:bodyPr/>
          <a:lstStyle/>
          <a:p>
            <a:r>
              <a:rPr lang="en-US" dirty="0"/>
              <a:t>Aesthetics, common mistakes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CF66E3-1343-88D5-CDBA-14B16D744E13}"/>
              </a:ext>
            </a:extLst>
          </p:cNvPr>
          <p:cNvSpPr txBox="1"/>
          <p:nvPr/>
        </p:nvSpPr>
        <p:spPr>
          <a:xfrm>
            <a:off x="7561730" y="28087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78E2E4-3576-F8E1-827E-336633FE4E82}"/>
              </a:ext>
            </a:extLst>
          </p:cNvPr>
          <p:cNvSpPr txBox="1"/>
          <p:nvPr/>
        </p:nvSpPr>
        <p:spPr>
          <a:xfrm>
            <a:off x="398530" y="1773046"/>
            <a:ext cx="97298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/>
                </a:solidFill>
              </a:rPr>
              <a:t>ggplot2</a:t>
            </a:r>
            <a:r>
              <a:rPr lang="en-US" sz="2800" dirty="0"/>
              <a:t> syntax, like dplyr, meant to replace much of </a:t>
            </a:r>
            <a:r>
              <a:rPr lang="en-US" sz="2800" dirty="0">
                <a:solidFill>
                  <a:srgbClr val="C00000"/>
                </a:solidFill>
              </a:rPr>
              <a:t>base R</a:t>
            </a:r>
            <a:r>
              <a:rPr lang="en-US" sz="2800" dirty="0"/>
              <a:t> syntax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A370B8-90C2-0B0F-9417-025ED382EC93}"/>
              </a:ext>
            </a:extLst>
          </p:cNvPr>
          <p:cNvSpPr txBox="1"/>
          <p:nvPr/>
        </p:nvSpPr>
        <p:spPr>
          <a:xfrm>
            <a:off x="5215854" y="2793373"/>
            <a:ext cx="49564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88FCF6-96B6-5E3A-6263-A44E938E19B2}"/>
              </a:ext>
            </a:extLst>
          </p:cNvPr>
          <p:cNvSpPr txBox="1"/>
          <p:nvPr/>
        </p:nvSpPr>
        <p:spPr>
          <a:xfrm>
            <a:off x="5240932" y="3997849"/>
            <a:ext cx="49564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35E234-C0B4-7F46-972D-82CC0C21C2CA}"/>
              </a:ext>
            </a:extLst>
          </p:cNvPr>
          <p:cNvSpPr txBox="1"/>
          <p:nvPr/>
        </p:nvSpPr>
        <p:spPr>
          <a:xfrm>
            <a:off x="2507257" y="5427976"/>
            <a:ext cx="82098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</a:rPr>
              <a:t>No more $, [ operators, or “name”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9B5AB08-AA64-BCD6-F281-77415FF6CFF9}"/>
              </a:ext>
            </a:extLst>
          </p:cNvPr>
          <p:cNvCxnSpPr>
            <a:cxnSpLocks/>
          </p:cNvCxnSpPr>
          <p:nvPr/>
        </p:nvCxnSpPr>
        <p:spPr>
          <a:xfrm>
            <a:off x="5114925" y="2296266"/>
            <a:ext cx="0" cy="313171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5F2B768-0382-D8E4-2D14-EA9FDF38817B}"/>
              </a:ext>
            </a:extLst>
          </p:cNvPr>
          <p:cNvSpPr txBox="1"/>
          <p:nvPr/>
        </p:nvSpPr>
        <p:spPr>
          <a:xfrm>
            <a:off x="522033" y="2955556"/>
            <a:ext cx="4211808" cy="2246769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filter(year == 2007) %&gt;%</a:t>
            </a:r>
          </a:p>
          <a:p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(x =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gdpPercap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,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  y =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,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  color = continent) + </a:t>
            </a:r>
          </a:p>
          <a:p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geom_point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A8F2B7-A120-651A-1845-CBD77B94E245}"/>
              </a:ext>
            </a:extLst>
          </p:cNvPr>
          <p:cNvSpPr txBox="1"/>
          <p:nvPr/>
        </p:nvSpPr>
        <p:spPr>
          <a:xfrm>
            <a:off x="5736581" y="2955556"/>
            <a:ext cx="6171421" cy="2246769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d =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[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gapminder$year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== 2007, ]</a:t>
            </a:r>
          </a:p>
          <a:p>
            <a:endParaRPr lang="en-US" sz="2000" dirty="0">
              <a:latin typeface="Monaco" pitchFamily="2" charset="77"/>
              <a:cs typeface="Courier New" panose="02070309020205020404" pitchFamily="49" charset="0"/>
            </a:endParaRPr>
          </a:p>
          <a:p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(d)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(x =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d$gdpPercap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,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  y = d[[“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”]],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  color =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d$continent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) + </a:t>
            </a:r>
          </a:p>
          <a:p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geom_point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8136885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5108"/>
            <a:ext cx="9144000" cy="864092"/>
          </a:xfrm>
        </p:spPr>
        <p:txBody>
          <a:bodyPr/>
          <a:lstStyle/>
          <a:p>
            <a:r>
              <a:rPr lang="en-US" dirty="0"/>
              <a:t>Geometries: </a:t>
            </a:r>
            <a:r>
              <a:rPr lang="en-US" dirty="0" err="1"/>
              <a:t>geom</a:t>
            </a:r>
            <a:r>
              <a:rPr lang="en-US" dirty="0"/>
              <a:t>_&lt;&gt;()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CF66E3-1343-88D5-CDBA-14B16D744E13}"/>
              </a:ext>
            </a:extLst>
          </p:cNvPr>
          <p:cNvSpPr txBox="1"/>
          <p:nvPr/>
        </p:nvSpPr>
        <p:spPr>
          <a:xfrm>
            <a:off x="7561730" y="28087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C8ADEF-FAC7-A00F-FEE5-2CC0DBFDC99A}"/>
              </a:ext>
            </a:extLst>
          </p:cNvPr>
          <p:cNvSpPr txBox="1"/>
          <p:nvPr/>
        </p:nvSpPr>
        <p:spPr>
          <a:xfrm>
            <a:off x="432288" y="1612064"/>
            <a:ext cx="1049765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C00000"/>
                </a:solidFill>
                <a:latin typeface="Monaco" pitchFamily="2" charset="77"/>
              </a:rPr>
              <a:t>geom_point</a:t>
            </a:r>
            <a:r>
              <a:rPr lang="en-US" sz="2400" dirty="0">
                <a:solidFill>
                  <a:srgbClr val="C00000"/>
                </a:solidFill>
                <a:latin typeface="Monaco" pitchFamily="2" charset="77"/>
              </a:rPr>
              <a:t>() </a:t>
            </a:r>
            <a:r>
              <a:rPr lang="en-US" sz="2400" dirty="0"/>
              <a:t>just one of many geometries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Used to make scatter plots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Works if you have </a:t>
            </a:r>
            <a:r>
              <a:rPr lang="en-US" sz="2400" dirty="0">
                <a:solidFill>
                  <a:schemeClr val="accent6"/>
                </a:solidFill>
              </a:rPr>
              <a:t>two</a:t>
            </a:r>
            <a:r>
              <a:rPr lang="en-US" sz="2400" dirty="0"/>
              <a:t> continuous variables</a:t>
            </a:r>
          </a:p>
          <a:p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What if we wanted to study the distribution of a </a:t>
            </a:r>
            <a:r>
              <a:rPr lang="en-US" sz="2800" dirty="0">
                <a:solidFill>
                  <a:schemeClr val="accent6"/>
                </a:solidFill>
              </a:rPr>
              <a:t>single</a:t>
            </a:r>
            <a:r>
              <a:rPr lang="en-US" sz="2800" dirty="0"/>
              <a:t> variable?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Or the distribution of a single variable by </a:t>
            </a:r>
            <a:r>
              <a:rPr lang="en-US" sz="2800" dirty="0">
                <a:solidFill>
                  <a:schemeClr val="accent6"/>
                </a:solidFill>
              </a:rPr>
              <a:t>groups</a:t>
            </a:r>
            <a:r>
              <a:rPr lang="en-US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431379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162" y="340820"/>
            <a:ext cx="9144000" cy="864092"/>
          </a:xfrm>
        </p:spPr>
        <p:txBody>
          <a:bodyPr/>
          <a:lstStyle/>
          <a:p>
            <a:r>
              <a:rPr lang="en-US" dirty="0" err="1"/>
              <a:t>geom</a:t>
            </a:r>
            <a:r>
              <a:rPr lang="en-US" dirty="0"/>
              <a:t>_&lt;&gt;()   Single variable plots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CF66E3-1343-88D5-CDBA-14B16D744E13}"/>
              </a:ext>
            </a:extLst>
          </p:cNvPr>
          <p:cNvSpPr txBox="1"/>
          <p:nvPr/>
        </p:nvSpPr>
        <p:spPr>
          <a:xfrm>
            <a:off x="7561730" y="28087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D4984-49DA-ED80-2EBC-1E1A7D3B0968}"/>
              </a:ext>
            </a:extLst>
          </p:cNvPr>
          <p:cNvSpPr txBox="1"/>
          <p:nvPr/>
        </p:nvSpPr>
        <p:spPr>
          <a:xfrm>
            <a:off x="280987" y="1483617"/>
            <a:ext cx="100439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Plot the distribution of a single continuous variable from </a:t>
            </a:r>
            <a:r>
              <a:rPr lang="en-US" sz="2800" dirty="0" err="1"/>
              <a:t>gapminder</a:t>
            </a:r>
            <a:endParaRPr lang="en-US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2D289E4-9368-4737-D7B0-679361E1B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688" y="2002291"/>
            <a:ext cx="6410325" cy="46167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FE645B-F168-21F1-D5CA-37A182707CAE}"/>
              </a:ext>
            </a:extLst>
          </p:cNvPr>
          <p:cNvSpPr txBox="1"/>
          <p:nvPr/>
        </p:nvSpPr>
        <p:spPr>
          <a:xfrm>
            <a:off x="538162" y="3235507"/>
            <a:ext cx="4211808" cy="1631216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filter(year == 1952)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(x =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geom_histogram</a:t>
            </a:r>
            <a:r>
              <a:rPr lang="en-US" sz="20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4862996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162" y="340820"/>
            <a:ext cx="10989468" cy="864092"/>
          </a:xfrm>
        </p:spPr>
        <p:txBody>
          <a:bodyPr/>
          <a:lstStyle/>
          <a:p>
            <a:r>
              <a:rPr lang="en-US" dirty="0" err="1"/>
              <a:t>geom</a:t>
            </a:r>
            <a:r>
              <a:rPr lang="en-US" dirty="0"/>
              <a:t>_&lt;&gt;()   Single variable plots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CF66E3-1343-88D5-CDBA-14B16D744E13}"/>
              </a:ext>
            </a:extLst>
          </p:cNvPr>
          <p:cNvSpPr txBox="1"/>
          <p:nvPr/>
        </p:nvSpPr>
        <p:spPr>
          <a:xfrm>
            <a:off x="7561730" y="28087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D4984-49DA-ED80-2EBC-1E1A7D3B0968}"/>
              </a:ext>
            </a:extLst>
          </p:cNvPr>
          <p:cNvSpPr txBox="1"/>
          <p:nvPr/>
        </p:nvSpPr>
        <p:spPr>
          <a:xfrm>
            <a:off x="280987" y="1483617"/>
            <a:ext cx="100439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Plot the distribution of a single continuous variable from </a:t>
            </a:r>
            <a:r>
              <a:rPr lang="en-US" sz="2800" dirty="0" err="1"/>
              <a:t>gapminder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BD37D5-C78B-CC24-73E3-88999D1A1696}"/>
              </a:ext>
            </a:extLst>
          </p:cNvPr>
          <p:cNvSpPr txBox="1"/>
          <p:nvPr/>
        </p:nvSpPr>
        <p:spPr>
          <a:xfrm>
            <a:off x="538162" y="5352649"/>
            <a:ext cx="36296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Kernel density estimate = </a:t>
            </a:r>
          </a:p>
          <a:p>
            <a:r>
              <a:rPr lang="en-US" sz="2000" dirty="0"/>
              <a:t>Smoothed version of a histogram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6927DA9-19F4-487C-9AC3-ADE667A98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814" y="2006837"/>
            <a:ext cx="6553199" cy="47196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EE4DD3-284E-D4EA-6ED9-F33C9692C018}"/>
              </a:ext>
            </a:extLst>
          </p:cNvPr>
          <p:cNvSpPr txBox="1"/>
          <p:nvPr/>
        </p:nvSpPr>
        <p:spPr>
          <a:xfrm>
            <a:off x="610990" y="3062134"/>
            <a:ext cx="4211808" cy="1631216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filter(year == 1952)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(x =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sz="20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geom_density</a:t>
            </a:r>
            <a:r>
              <a:rPr lang="en-US" sz="20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9991434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162" y="340820"/>
            <a:ext cx="11020426" cy="864092"/>
          </a:xfrm>
        </p:spPr>
        <p:txBody>
          <a:bodyPr/>
          <a:lstStyle/>
          <a:p>
            <a:r>
              <a:rPr lang="en-US" dirty="0" err="1"/>
              <a:t>geom</a:t>
            </a:r>
            <a:r>
              <a:rPr lang="en-US" dirty="0"/>
              <a:t>_&lt;&gt;()   Single variable plots</a:t>
            </a:r>
            <a:r>
              <a:rPr lang="en-US" dirty="0">
                <a:solidFill>
                  <a:srgbClr val="C00000"/>
                </a:solidFill>
              </a:rPr>
              <a:t> by group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CF66E3-1343-88D5-CDBA-14B16D744E13}"/>
              </a:ext>
            </a:extLst>
          </p:cNvPr>
          <p:cNvSpPr txBox="1"/>
          <p:nvPr/>
        </p:nvSpPr>
        <p:spPr>
          <a:xfrm>
            <a:off x="7561730" y="28087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D4984-49DA-ED80-2EBC-1E1A7D3B0968}"/>
              </a:ext>
            </a:extLst>
          </p:cNvPr>
          <p:cNvSpPr txBox="1"/>
          <p:nvPr/>
        </p:nvSpPr>
        <p:spPr>
          <a:xfrm>
            <a:off x="280987" y="1483617"/>
            <a:ext cx="100439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Plot the distribution of a single continuous variable from </a:t>
            </a:r>
            <a:r>
              <a:rPr lang="en-US" sz="2800" dirty="0" err="1"/>
              <a:t>gapminder</a:t>
            </a:r>
            <a:endParaRPr lang="en-US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CB392E-03D8-FEE3-5FFE-44B236312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113" y="2063741"/>
            <a:ext cx="6438900" cy="46373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88D86A-D2DF-FA48-30DB-F2DDE53518D3}"/>
              </a:ext>
            </a:extLst>
          </p:cNvPr>
          <p:cNvSpPr txBox="1"/>
          <p:nvPr/>
        </p:nvSpPr>
        <p:spPr>
          <a:xfrm>
            <a:off x="445469" y="2993428"/>
            <a:ext cx="4482579" cy="1938992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filter(year == 1952)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(x =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,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  color = continent)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geom_density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</a:t>
            </a:r>
            <a:endParaRPr lang="en-US" sz="2000" dirty="0">
              <a:solidFill>
                <a:schemeClr val="accent6"/>
              </a:solidFill>
              <a:latin typeface="Monaco" pitchFamily="2" charset="77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0389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162" y="340820"/>
            <a:ext cx="11020426" cy="864092"/>
          </a:xfrm>
        </p:spPr>
        <p:txBody>
          <a:bodyPr/>
          <a:lstStyle/>
          <a:p>
            <a:r>
              <a:rPr lang="en-US" dirty="0" err="1"/>
              <a:t>geom</a:t>
            </a:r>
            <a:r>
              <a:rPr lang="en-US" dirty="0"/>
              <a:t>_&lt;&gt;()   Single variable plots</a:t>
            </a:r>
            <a:r>
              <a:rPr lang="en-US" dirty="0">
                <a:solidFill>
                  <a:srgbClr val="C00000"/>
                </a:solidFill>
              </a:rPr>
              <a:t> by group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CF66E3-1343-88D5-CDBA-14B16D744E13}"/>
              </a:ext>
            </a:extLst>
          </p:cNvPr>
          <p:cNvSpPr txBox="1"/>
          <p:nvPr/>
        </p:nvSpPr>
        <p:spPr>
          <a:xfrm>
            <a:off x="7561730" y="28087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D4984-49DA-ED80-2EBC-1E1A7D3B0968}"/>
              </a:ext>
            </a:extLst>
          </p:cNvPr>
          <p:cNvSpPr txBox="1"/>
          <p:nvPr/>
        </p:nvSpPr>
        <p:spPr>
          <a:xfrm>
            <a:off x="280987" y="1483617"/>
            <a:ext cx="100439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Plot the distribution of a single continuous variable from </a:t>
            </a:r>
            <a:r>
              <a:rPr lang="en-US" sz="2800" dirty="0" err="1"/>
              <a:t>gapminder</a:t>
            </a: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747D7A-C3CA-9C8A-6DB3-E85DEA082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289" y="1975675"/>
            <a:ext cx="6448422" cy="4644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BBEE12-D0DB-63CA-0CC8-4828E7D003FA}"/>
              </a:ext>
            </a:extLst>
          </p:cNvPr>
          <p:cNvSpPr txBox="1"/>
          <p:nvPr/>
        </p:nvSpPr>
        <p:spPr>
          <a:xfrm>
            <a:off x="353343" y="2913419"/>
            <a:ext cx="4949628" cy="2554545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filter(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year == 1952,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continent != ‘Oceania’)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(x =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,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  color = continent)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geom_density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</a:t>
            </a:r>
            <a:endParaRPr lang="en-US" sz="2000" dirty="0">
              <a:solidFill>
                <a:schemeClr val="accent6"/>
              </a:solidFill>
              <a:latin typeface="Monaco" pitchFamily="2" charset="77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3767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85B3A80-D905-5035-4CFD-985CFBB1C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25" y="2006837"/>
            <a:ext cx="6619875" cy="47676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162" y="340820"/>
            <a:ext cx="11020426" cy="864092"/>
          </a:xfrm>
        </p:spPr>
        <p:txBody>
          <a:bodyPr/>
          <a:lstStyle/>
          <a:p>
            <a:r>
              <a:rPr lang="en-US" dirty="0" err="1"/>
              <a:t>geom</a:t>
            </a:r>
            <a:r>
              <a:rPr lang="en-US" dirty="0"/>
              <a:t>_&lt;&gt;()   Single variable plots</a:t>
            </a:r>
            <a:r>
              <a:rPr lang="en-US" dirty="0">
                <a:solidFill>
                  <a:srgbClr val="C00000"/>
                </a:solidFill>
              </a:rPr>
              <a:t> by group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CF66E3-1343-88D5-CDBA-14B16D744E13}"/>
              </a:ext>
            </a:extLst>
          </p:cNvPr>
          <p:cNvSpPr txBox="1"/>
          <p:nvPr/>
        </p:nvSpPr>
        <p:spPr>
          <a:xfrm>
            <a:off x="7561730" y="28087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D4984-49DA-ED80-2EBC-1E1A7D3B0968}"/>
              </a:ext>
            </a:extLst>
          </p:cNvPr>
          <p:cNvSpPr txBox="1"/>
          <p:nvPr/>
        </p:nvSpPr>
        <p:spPr>
          <a:xfrm>
            <a:off x="280987" y="1483617"/>
            <a:ext cx="100439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Plot the distribution of a single continuous variable from </a:t>
            </a:r>
            <a:r>
              <a:rPr lang="en-US" sz="2800" dirty="0" err="1"/>
              <a:t>gapminder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9482A4-A753-5D23-67ED-DBFDF997277D}"/>
              </a:ext>
            </a:extLst>
          </p:cNvPr>
          <p:cNvSpPr txBox="1"/>
          <p:nvPr/>
        </p:nvSpPr>
        <p:spPr>
          <a:xfrm>
            <a:off x="223870" y="2808762"/>
            <a:ext cx="4949628" cy="2554545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filter(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year == 1952,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continent != 'Oceania')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(x =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,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  </a:t>
            </a:r>
            <a:r>
              <a:rPr lang="en-US" sz="20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fill = 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continent)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geom_density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rgbClr val="C00000"/>
                </a:solidFill>
                <a:latin typeface="Monaco" pitchFamily="2" charset="77"/>
                <a:cs typeface="Courier New" panose="02070309020205020404" pitchFamily="49" charset="0"/>
              </a:rPr>
              <a:t>alpha = 0.2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)</a:t>
            </a:r>
            <a:endParaRPr lang="en-US" sz="2000" dirty="0">
              <a:solidFill>
                <a:schemeClr val="accent6"/>
              </a:solidFill>
              <a:latin typeface="Monaco" pitchFamily="2" charset="77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7968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586A6F-AA5B-3021-46AA-B2C4D9294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5185" y="2006837"/>
            <a:ext cx="6626815" cy="47726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162" y="340820"/>
            <a:ext cx="11020426" cy="864092"/>
          </a:xfrm>
        </p:spPr>
        <p:txBody>
          <a:bodyPr/>
          <a:lstStyle/>
          <a:p>
            <a:r>
              <a:rPr lang="en-US" dirty="0" err="1"/>
              <a:t>geom</a:t>
            </a:r>
            <a:r>
              <a:rPr lang="en-US" dirty="0"/>
              <a:t>_&lt;&gt;()   Single variable plots</a:t>
            </a:r>
            <a:r>
              <a:rPr lang="en-US" dirty="0">
                <a:solidFill>
                  <a:srgbClr val="C00000"/>
                </a:solidFill>
              </a:rPr>
              <a:t> by group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CF66E3-1343-88D5-CDBA-14B16D744E13}"/>
              </a:ext>
            </a:extLst>
          </p:cNvPr>
          <p:cNvSpPr txBox="1"/>
          <p:nvPr/>
        </p:nvSpPr>
        <p:spPr>
          <a:xfrm>
            <a:off x="7561730" y="28087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D4984-49DA-ED80-2EBC-1E1A7D3B0968}"/>
              </a:ext>
            </a:extLst>
          </p:cNvPr>
          <p:cNvSpPr txBox="1"/>
          <p:nvPr/>
        </p:nvSpPr>
        <p:spPr>
          <a:xfrm>
            <a:off x="280987" y="1483617"/>
            <a:ext cx="100439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Plot the distribution of a single continuous variable from </a:t>
            </a:r>
            <a:r>
              <a:rPr lang="en-US" sz="2800" dirty="0" err="1"/>
              <a:t>gapminder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3354AA-8300-09BC-E474-2EFB643B72FB}"/>
              </a:ext>
            </a:extLst>
          </p:cNvPr>
          <p:cNvSpPr txBox="1"/>
          <p:nvPr/>
        </p:nvSpPr>
        <p:spPr>
          <a:xfrm>
            <a:off x="280987" y="2890509"/>
            <a:ext cx="4949628" cy="2554545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filter(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year == 1952,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continent != 'Oceania')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(x =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,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  fill = continent)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geom_boxplot</a:t>
            </a:r>
            <a:r>
              <a:rPr lang="en-US" sz="20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2208640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1F44AF6-2DE9-2191-C25A-70DC292B2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064" y="2073729"/>
            <a:ext cx="6533936" cy="47057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162" y="340820"/>
            <a:ext cx="11020426" cy="864092"/>
          </a:xfrm>
        </p:spPr>
        <p:txBody>
          <a:bodyPr/>
          <a:lstStyle/>
          <a:p>
            <a:r>
              <a:rPr lang="en-US" dirty="0" err="1"/>
              <a:t>geom</a:t>
            </a:r>
            <a:r>
              <a:rPr lang="en-US" dirty="0"/>
              <a:t>_&lt;&gt;()   Single variable plots</a:t>
            </a:r>
            <a:r>
              <a:rPr lang="en-US" dirty="0">
                <a:solidFill>
                  <a:srgbClr val="C00000"/>
                </a:solidFill>
              </a:rPr>
              <a:t> by group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CF66E3-1343-88D5-CDBA-14B16D744E13}"/>
              </a:ext>
            </a:extLst>
          </p:cNvPr>
          <p:cNvSpPr txBox="1"/>
          <p:nvPr/>
        </p:nvSpPr>
        <p:spPr>
          <a:xfrm>
            <a:off x="7561730" y="28087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D4984-49DA-ED80-2EBC-1E1A7D3B0968}"/>
              </a:ext>
            </a:extLst>
          </p:cNvPr>
          <p:cNvSpPr txBox="1"/>
          <p:nvPr/>
        </p:nvSpPr>
        <p:spPr>
          <a:xfrm>
            <a:off x="280987" y="1483617"/>
            <a:ext cx="100439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Plot the distribution of a single continuous variable from </a:t>
            </a:r>
            <a:r>
              <a:rPr lang="en-US" sz="2800" dirty="0" err="1"/>
              <a:t>gapminder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AD305E-B1A3-C1E9-AF94-EA993763603E}"/>
              </a:ext>
            </a:extLst>
          </p:cNvPr>
          <p:cNvSpPr txBox="1"/>
          <p:nvPr/>
        </p:nvSpPr>
        <p:spPr>
          <a:xfrm>
            <a:off x="280987" y="2819838"/>
            <a:ext cx="4949628" cy="2554545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filter(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year == 1952,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continent != 'Oceania')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(x =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,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  </a:t>
            </a:r>
            <a:r>
              <a:rPr lang="en-US" sz="20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y = 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continent)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geom_boxplot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</a:t>
            </a:r>
            <a:endParaRPr lang="en-US" sz="2000" dirty="0">
              <a:solidFill>
                <a:schemeClr val="accent6"/>
              </a:solidFill>
              <a:latin typeface="Monaco" pitchFamily="2" charset="77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3612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A picture containing text, screenshot, font&#10;&#10;Description automatically generated">
            <a:extLst>
              <a:ext uri="{FF2B5EF4-FFF2-40B4-BE49-F238E27FC236}">
                <a16:creationId xmlns:a16="http://schemas.microsoft.com/office/drawing/2014/main" id="{C483C9EB-3EAD-355F-ED85-6A0A663B9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" y="512270"/>
            <a:ext cx="6314985" cy="5502768"/>
          </a:xfrm>
          <a:prstGeom prst="rect">
            <a:avLst/>
          </a:prstGeom>
        </p:spPr>
      </p:pic>
      <p:pic>
        <p:nvPicPr>
          <p:cNvPr id="9" name="Picture 8" descr="A black text on a white background&#10;&#10;Description automatically generated with low confidence">
            <a:extLst>
              <a:ext uri="{FF2B5EF4-FFF2-40B4-BE49-F238E27FC236}">
                <a16:creationId xmlns:a16="http://schemas.microsoft.com/office/drawing/2014/main" id="{C61A2D93-313D-8532-BE7A-4A14B05737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755" y="2443061"/>
            <a:ext cx="5119044" cy="153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9296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162" y="340820"/>
            <a:ext cx="11020426" cy="864092"/>
          </a:xfrm>
        </p:spPr>
        <p:txBody>
          <a:bodyPr/>
          <a:lstStyle/>
          <a:p>
            <a:r>
              <a:rPr lang="en-US" dirty="0" err="1"/>
              <a:t>geom</a:t>
            </a:r>
            <a:r>
              <a:rPr lang="en-US" dirty="0"/>
              <a:t>_&lt;&gt;()   Change across 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CF66E3-1343-88D5-CDBA-14B16D744E13}"/>
              </a:ext>
            </a:extLst>
          </p:cNvPr>
          <p:cNvSpPr txBox="1"/>
          <p:nvPr/>
        </p:nvSpPr>
        <p:spPr>
          <a:xfrm>
            <a:off x="7561730" y="28087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D4984-49DA-ED80-2EBC-1E1A7D3B0968}"/>
              </a:ext>
            </a:extLst>
          </p:cNvPr>
          <p:cNvSpPr txBox="1"/>
          <p:nvPr/>
        </p:nvSpPr>
        <p:spPr>
          <a:xfrm>
            <a:off x="280987" y="1483617"/>
            <a:ext cx="114291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Make a </a:t>
            </a:r>
            <a:r>
              <a:rPr lang="en-US" sz="2800" dirty="0" err="1"/>
              <a:t>lineplot</a:t>
            </a:r>
            <a:r>
              <a:rPr lang="en-US" sz="2800" dirty="0"/>
              <a:t> displaying trend in life expectancy over time using </a:t>
            </a:r>
            <a:r>
              <a:rPr lang="en-US" sz="2800" dirty="0" err="1"/>
              <a:t>gapminder</a:t>
            </a:r>
            <a:endParaRPr lang="en-US" sz="2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4847BE-4BC9-0CF5-9ECC-027DD4AE9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6863" y="2285542"/>
            <a:ext cx="7772400" cy="41053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E73701-32D6-8F2C-1333-6790AA3C4652}"/>
              </a:ext>
            </a:extLst>
          </p:cNvPr>
          <p:cNvSpPr txBox="1"/>
          <p:nvPr/>
        </p:nvSpPr>
        <p:spPr>
          <a:xfrm>
            <a:off x="112124" y="3073495"/>
            <a:ext cx="3861065" cy="1631216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(x = year,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  y =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geom_point</a:t>
            </a:r>
            <a:r>
              <a:rPr lang="en-US" sz="20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8975891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162" y="340820"/>
            <a:ext cx="11020426" cy="864092"/>
          </a:xfrm>
        </p:spPr>
        <p:txBody>
          <a:bodyPr/>
          <a:lstStyle/>
          <a:p>
            <a:r>
              <a:rPr lang="en-US" dirty="0" err="1"/>
              <a:t>geom</a:t>
            </a:r>
            <a:r>
              <a:rPr lang="en-US" dirty="0"/>
              <a:t>_&lt;&gt;()   Change across 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CF66E3-1343-88D5-CDBA-14B16D744E13}"/>
              </a:ext>
            </a:extLst>
          </p:cNvPr>
          <p:cNvSpPr txBox="1"/>
          <p:nvPr/>
        </p:nvSpPr>
        <p:spPr>
          <a:xfrm>
            <a:off x="7561730" y="28087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D4984-49DA-ED80-2EBC-1E1A7D3B0968}"/>
              </a:ext>
            </a:extLst>
          </p:cNvPr>
          <p:cNvSpPr txBox="1"/>
          <p:nvPr/>
        </p:nvSpPr>
        <p:spPr>
          <a:xfrm>
            <a:off x="280987" y="1483617"/>
            <a:ext cx="114291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Make a </a:t>
            </a:r>
            <a:r>
              <a:rPr lang="en-US" sz="2800" dirty="0" err="1"/>
              <a:t>lineplot</a:t>
            </a:r>
            <a:r>
              <a:rPr lang="en-US" sz="2800" dirty="0"/>
              <a:t> displaying trend in life expectancy over time using </a:t>
            </a:r>
            <a:r>
              <a:rPr lang="en-US" sz="2800" dirty="0" err="1"/>
              <a:t>gapminder</a:t>
            </a:r>
            <a:endParaRPr lang="en-US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9A83FD1-369C-C4A1-2F68-BC7656E0E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00" y="2285542"/>
            <a:ext cx="7772400" cy="41053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78037A-DD0E-4C6B-DE82-4D6A00CF5A75}"/>
              </a:ext>
            </a:extLst>
          </p:cNvPr>
          <p:cNvSpPr txBox="1"/>
          <p:nvPr/>
        </p:nvSpPr>
        <p:spPr>
          <a:xfrm>
            <a:off x="179988" y="3178094"/>
            <a:ext cx="3861065" cy="1631216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(x = year,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  y =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geom_line</a:t>
            </a:r>
            <a:r>
              <a:rPr lang="en-US" sz="20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2112313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3B49F6-8288-35A9-C748-AE67E95A7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2362275"/>
            <a:ext cx="7772400" cy="41053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162" y="340820"/>
            <a:ext cx="11020426" cy="864092"/>
          </a:xfrm>
        </p:spPr>
        <p:txBody>
          <a:bodyPr/>
          <a:lstStyle/>
          <a:p>
            <a:r>
              <a:rPr lang="en-US" dirty="0" err="1"/>
              <a:t>geom</a:t>
            </a:r>
            <a:r>
              <a:rPr lang="en-US" dirty="0"/>
              <a:t>_&lt;&gt;()   Change across 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CF66E3-1343-88D5-CDBA-14B16D744E13}"/>
              </a:ext>
            </a:extLst>
          </p:cNvPr>
          <p:cNvSpPr txBox="1"/>
          <p:nvPr/>
        </p:nvSpPr>
        <p:spPr>
          <a:xfrm>
            <a:off x="7561730" y="28087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D4984-49DA-ED80-2EBC-1E1A7D3B0968}"/>
              </a:ext>
            </a:extLst>
          </p:cNvPr>
          <p:cNvSpPr txBox="1"/>
          <p:nvPr/>
        </p:nvSpPr>
        <p:spPr>
          <a:xfrm>
            <a:off x="280987" y="1483617"/>
            <a:ext cx="116616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Display a </a:t>
            </a:r>
            <a:r>
              <a:rPr lang="en-US" sz="2800" dirty="0" err="1"/>
              <a:t>lineplot</a:t>
            </a:r>
            <a:r>
              <a:rPr lang="en-US" sz="2800" dirty="0"/>
              <a:t> displaying trend in life expectancy over time using </a:t>
            </a:r>
            <a:r>
              <a:rPr lang="en-US" sz="2800" dirty="0" err="1"/>
              <a:t>gapminder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6CAA6C-A043-EE31-1C9B-006F619D9754}"/>
              </a:ext>
            </a:extLst>
          </p:cNvPr>
          <p:cNvSpPr txBox="1"/>
          <p:nvPr/>
        </p:nvSpPr>
        <p:spPr>
          <a:xfrm>
            <a:off x="199068" y="3089773"/>
            <a:ext cx="3861065" cy="1938992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(x = year,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  y =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,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  </a:t>
            </a:r>
            <a:r>
              <a:rPr lang="en-US" sz="20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group = country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geom_line</a:t>
            </a:r>
            <a:r>
              <a:rPr lang="en-US" sz="20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5042656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8E4EB8D-8F90-9B6F-69ED-0F0BB1804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2557463"/>
            <a:ext cx="7772400" cy="41053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162" y="340820"/>
            <a:ext cx="11020426" cy="864092"/>
          </a:xfrm>
        </p:spPr>
        <p:txBody>
          <a:bodyPr/>
          <a:lstStyle/>
          <a:p>
            <a:r>
              <a:rPr lang="en-US" dirty="0" err="1"/>
              <a:t>geom</a:t>
            </a:r>
            <a:r>
              <a:rPr lang="en-US" dirty="0"/>
              <a:t>_&lt;&gt;()   Change across 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CF66E3-1343-88D5-CDBA-14B16D744E13}"/>
              </a:ext>
            </a:extLst>
          </p:cNvPr>
          <p:cNvSpPr txBox="1"/>
          <p:nvPr/>
        </p:nvSpPr>
        <p:spPr>
          <a:xfrm>
            <a:off x="7561730" y="28087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D4984-49DA-ED80-2EBC-1E1A7D3B0968}"/>
              </a:ext>
            </a:extLst>
          </p:cNvPr>
          <p:cNvSpPr txBox="1"/>
          <p:nvPr/>
        </p:nvSpPr>
        <p:spPr>
          <a:xfrm>
            <a:off x="280987" y="1483617"/>
            <a:ext cx="1114574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Display a smoothing line displaying trend in life expectancy over time using </a:t>
            </a:r>
          </a:p>
          <a:p>
            <a:r>
              <a:rPr lang="en-US" sz="2800" dirty="0" err="1"/>
              <a:t>gapminder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40D742-F27A-CEE2-E488-E50EF61FA16E}"/>
              </a:ext>
            </a:extLst>
          </p:cNvPr>
          <p:cNvSpPr txBox="1"/>
          <p:nvPr/>
        </p:nvSpPr>
        <p:spPr>
          <a:xfrm>
            <a:off x="199068" y="3109435"/>
            <a:ext cx="3861065" cy="1938992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(x = year,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  y =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,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  </a:t>
            </a:r>
            <a:r>
              <a:rPr lang="en-US" sz="20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group = country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geom_smooth</a:t>
            </a:r>
            <a:r>
              <a:rPr lang="en-US" sz="20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4105774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92CFAD-BA1D-637F-23DE-0117FED9D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2437724"/>
            <a:ext cx="7772400" cy="41053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162" y="340820"/>
            <a:ext cx="11020426" cy="864092"/>
          </a:xfrm>
        </p:spPr>
        <p:txBody>
          <a:bodyPr/>
          <a:lstStyle/>
          <a:p>
            <a:r>
              <a:rPr lang="en-US" dirty="0" err="1"/>
              <a:t>geom</a:t>
            </a:r>
            <a:r>
              <a:rPr lang="en-US" dirty="0"/>
              <a:t>_&lt;&gt;()   Change across 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CF66E3-1343-88D5-CDBA-14B16D744E13}"/>
              </a:ext>
            </a:extLst>
          </p:cNvPr>
          <p:cNvSpPr txBox="1"/>
          <p:nvPr/>
        </p:nvSpPr>
        <p:spPr>
          <a:xfrm>
            <a:off x="7561730" y="28087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D4984-49DA-ED80-2EBC-1E1A7D3B0968}"/>
              </a:ext>
            </a:extLst>
          </p:cNvPr>
          <p:cNvSpPr txBox="1"/>
          <p:nvPr/>
        </p:nvSpPr>
        <p:spPr>
          <a:xfrm>
            <a:off x="280987" y="1483617"/>
            <a:ext cx="1114574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Display a smoothing line displaying trend in life expectancy over time using </a:t>
            </a:r>
          </a:p>
          <a:p>
            <a:r>
              <a:rPr lang="en-US" sz="2800" dirty="0" err="1"/>
              <a:t>gapminder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AFD4D0-F4B7-5648-CD35-E6513238D6EF}"/>
              </a:ext>
            </a:extLst>
          </p:cNvPr>
          <p:cNvSpPr txBox="1"/>
          <p:nvPr/>
        </p:nvSpPr>
        <p:spPr>
          <a:xfrm>
            <a:off x="181913" y="2969794"/>
            <a:ext cx="3861065" cy="2554545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(x = year,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  y =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,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  group = country)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geom_smooth</a:t>
            </a:r>
            <a:r>
              <a:rPr lang="en-US" sz="20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(</a:t>
            </a:r>
          </a:p>
          <a:p>
            <a:r>
              <a:rPr lang="en-US" sz="20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   method = '</a:t>
            </a:r>
            <a:r>
              <a:rPr lang="en-US" sz="20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lm</a:t>
            </a:r>
            <a:r>
              <a:rPr lang="en-US" sz="20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',</a:t>
            </a:r>
          </a:p>
          <a:p>
            <a:r>
              <a:rPr lang="en-US" sz="20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    se = FALSE)</a:t>
            </a:r>
          </a:p>
        </p:txBody>
      </p:sp>
    </p:spTree>
    <p:extLst>
      <p:ext uri="{BB962C8B-B14F-4D97-AF65-F5344CB8AC3E}">
        <p14:creationId xmlns:p14="http://schemas.microsoft.com/office/powerpoint/2010/main" val="17662170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162" y="340820"/>
            <a:ext cx="11020426" cy="864092"/>
          </a:xfrm>
        </p:spPr>
        <p:txBody>
          <a:bodyPr/>
          <a:lstStyle/>
          <a:p>
            <a:r>
              <a:rPr lang="en-US" dirty="0" err="1"/>
              <a:t>geom</a:t>
            </a:r>
            <a:r>
              <a:rPr lang="en-US" dirty="0"/>
              <a:t>_&lt;&gt;()   Change across 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CF66E3-1343-88D5-CDBA-14B16D744E13}"/>
              </a:ext>
            </a:extLst>
          </p:cNvPr>
          <p:cNvSpPr txBox="1"/>
          <p:nvPr/>
        </p:nvSpPr>
        <p:spPr>
          <a:xfrm>
            <a:off x="7561730" y="28087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D4984-49DA-ED80-2EBC-1E1A7D3B0968}"/>
              </a:ext>
            </a:extLst>
          </p:cNvPr>
          <p:cNvSpPr txBox="1"/>
          <p:nvPr/>
        </p:nvSpPr>
        <p:spPr>
          <a:xfrm>
            <a:off x="280987" y="1483617"/>
            <a:ext cx="85238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Compare trends in </a:t>
            </a:r>
            <a:r>
              <a:rPr lang="en-US" sz="2800" dirty="0">
                <a:solidFill>
                  <a:schemeClr val="accent6"/>
                </a:solidFill>
              </a:rPr>
              <a:t>per capita GDP</a:t>
            </a:r>
            <a:r>
              <a:rPr lang="en-US" sz="2800" dirty="0"/>
              <a:t> over </a:t>
            </a:r>
            <a:r>
              <a:rPr lang="en-US" sz="2800" dirty="0">
                <a:solidFill>
                  <a:schemeClr val="accent6"/>
                </a:solidFill>
              </a:rPr>
              <a:t>time</a:t>
            </a:r>
            <a:r>
              <a:rPr lang="en-US" sz="2800" dirty="0"/>
              <a:t> by </a:t>
            </a:r>
            <a:r>
              <a:rPr lang="en-US" sz="2800" dirty="0">
                <a:solidFill>
                  <a:schemeClr val="accent6"/>
                </a:solidFill>
              </a:rPr>
              <a:t>continent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EA1317-48F4-542F-2149-0F97BBE73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343" y="2443061"/>
            <a:ext cx="7772400" cy="4105329"/>
          </a:xfrm>
          <a:prstGeom prst="rect">
            <a:avLst/>
          </a:prstGeom>
        </p:spPr>
      </p:pic>
      <p:pic>
        <p:nvPicPr>
          <p:cNvPr id="10" name="Picture 9" descr="A purple head with gears inside&#10;&#10;Description automatically generated with low confidence">
            <a:extLst>
              <a:ext uri="{FF2B5EF4-FFF2-40B4-BE49-F238E27FC236}">
                <a16:creationId xmlns:a16="http://schemas.microsoft.com/office/drawing/2014/main" id="{6FB2BD2F-737B-1DF4-6F2E-5ADE89FD2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38" y="2808762"/>
            <a:ext cx="965200" cy="1066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0119B84-3B2D-ABC7-B45C-E0847007621C}"/>
              </a:ext>
            </a:extLst>
          </p:cNvPr>
          <p:cNvSpPr txBox="1"/>
          <p:nvPr/>
        </p:nvSpPr>
        <p:spPr>
          <a:xfrm>
            <a:off x="1103800" y="2837819"/>
            <a:ext cx="32965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How can we plot the </a:t>
            </a:r>
          </a:p>
          <a:p>
            <a:r>
              <a:rPr lang="en-US" sz="2400" dirty="0"/>
              <a:t>trend line per continent?</a:t>
            </a:r>
          </a:p>
        </p:txBody>
      </p:sp>
    </p:spTree>
    <p:extLst>
      <p:ext uri="{BB962C8B-B14F-4D97-AF65-F5344CB8AC3E}">
        <p14:creationId xmlns:p14="http://schemas.microsoft.com/office/powerpoint/2010/main" val="30832218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162" y="340820"/>
            <a:ext cx="11020426" cy="864092"/>
          </a:xfrm>
        </p:spPr>
        <p:txBody>
          <a:bodyPr/>
          <a:lstStyle/>
          <a:p>
            <a:r>
              <a:rPr lang="en-US" dirty="0" err="1"/>
              <a:t>geom</a:t>
            </a:r>
            <a:r>
              <a:rPr lang="en-US" dirty="0"/>
              <a:t>_&lt;&gt;()   Change across 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CF66E3-1343-88D5-CDBA-14B16D744E13}"/>
              </a:ext>
            </a:extLst>
          </p:cNvPr>
          <p:cNvSpPr txBox="1"/>
          <p:nvPr/>
        </p:nvSpPr>
        <p:spPr>
          <a:xfrm>
            <a:off x="7561730" y="28087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D4984-49DA-ED80-2EBC-1E1A7D3B0968}"/>
              </a:ext>
            </a:extLst>
          </p:cNvPr>
          <p:cNvSpPr txBox="1"/>
          <p:nvPr/>
        </p:nvSpPr>
        <p:spPr>
          <a:xfrm>
            <a:off x="280987" y="1483617"/>
            <a:ext cx="85238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Compare trends in </a:t>
            </a:r>
            <a:r>
              <a:rPr lang="en-US" sz="2800" dirty="0">
                <a:solidFill>
                  <a:schemeClr val="accent6"/>
                </a:solidFill>
              </a:rPr>
              <a:t>per capita GDP</a:t>
            </a:r>
            <a:r>
              <a:rPr lang="en-US" sz="2800" dirty="0"/>
              <a:t> over </a:t>
            </a:r>
            <a:r>
              <a:rPr lang="en-US" sz="2800" dirty="0">
                <a:solidFill>
                  <a:schemeClr val="accent6"/>
                </a:solidFill>
              </a:rPr>
              <a:t>time</a:t>
            </a:r>
            <a:r>
              <a:rPr lang="en-US" sz="2800" dirty="0"/>
              <a:t> by </a:t>
            </a:r>
            <a:r>
              <a:rPr lang="en-US" sz="2800" dirty="0">
                <a:solidFill>
                  <a:schemeClr val="accent6"/>
                </a:solidFill>
              </a:rPr>
              <a:t>continent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EA1317-48F4-542F-2149-0F97BBE73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343" y="2443061"/>
            <a:ext cx="7772400" cy="4105329"/>
          </a:xfrm>
          <a:prstGeom prst="rect">
            <a:avLst/>
          </a:prstGeom>
        </p:spPr>
      </p:pic>
      <p:pic>
        <p:nvPicPr>
          <p:cNvPr id="10" name="Picture 9" descr="A purple head with gears inside&#10;&#10;Description automatically generated with low confidence">
            <a:extLst>
              <a:ext uri="{FF2B5EF4-FFF2-40B4-BE49-F238E27FC236}">
                <a16:creationId xmlns:a16="http://schemas.microsoft.com/office/drawing/2014/main" id="{6FB2BD2F-737B-1DF4-6F2E-5ADE89FD2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38" y="2808762"/>
            <a:ext cx="965200" cy="10668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0119B84-3B2D-ABC7-B45C-E0847007621C}"/>
              </a:ext>
            </a:extLst>
          </p:cNvPr>
          <p:cNvSpPr txBox="1"/>
          <p:nvPr/>
        </p:nvSpPr>
        <p:spPr>
          <a:xfrm>
            <a:off x="1103800" y="2837819"/>
            <a:ext cx="32965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How can we plot the </a:t>
            </a:r>
          </a:p>
          <a:p>
            <a:r>
              <a:rPr lang="en-US" sz="2400" dirty="0"/>
              <a:t>trend line per continent?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C394D3-ADC8-A52A-7A81-F4D7CB1330CA}"/>
              </a:ext>
            </a:extLst>
          </p:cNvPr>
          <p:cNvSpPr txBox="1"/>
          <p:nvPr/>
        </p:nvSpPr>
        <p:spPr>
          <a:xfrm>
            <a:off x="211138" y="4446883"/>
            <a:ext cx="3861065" cy="1323439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(??)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geom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_??(??)</a:t>
            </a:r>
            <a:endParaRPr lang="en-US" sz="2000" dirty="0">
              <a:solidFill>
                <a:schemeClr val="accent6"/>
              </a:solidFill>
              <a:latin typeface="Monaco" pitchFamily="2" charset="77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5517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2437" y="283670"/>
            <a:ext cx="9144000" cy="864092"/>
          </a:xfrm>
        </p:spPr>
        <p:txBody>
          <a:bodyPr/>
          <a:lstStyle/>
          <a:p>
            <a:r>
              <a:rPr lang="en-US" dirty="0"/>
              <a:t>Bar charts (for counts)</a:t>
            </a:r>
          </a:p>
        </p:txBody>
      </p:sp>
      <p:pic>
        <p:nvPicPr>
          <p:cNvPr id="9" name="Picture 8" descr="A black text on a white background&#10;&#10;Description automatically generated with low confidence">
            <a:extLst>
              <a:ext uri="{FF2B5EF4-FFF2-40B4-BE49-F238E27FC236}">
                <a16:creationId xmlns:a16="http://schemas.microsoft.com/office/drawing/2014/main" id="{C61A2D93-313D-8532-BE7A-4A14B0573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519" y="313215"/>
            <a:ext cx="5119044" cy="15398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E487CE-0BE9-5078-E272-B804BFB992EE}"/>
              </a:ext>
            </a:extLst>
          </p:cNvPr>
          <p:cNvSpPr txBox="1"/>
          <p:nvPr/>
        </p:nvSpPr>
        <p:spPr>
          <a:xfrm>
            <a:off x="266700" y="1812119"/>
            <a:ext cx="8162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Plot the </a:t>
            </a:r>
            <a:r>
              <a:rPr lang="en-US" sz="2800" dirty="0">
                <a:solidFill>
                  <a:schemeClr val="accent6"/>
                </a:solidFill>
              </a:rPr>
              <a:t>number</a:t>
            </a:r>
            <a:r>
              <a:rPr lang="en-US" sz="2800" dirty="0"/>
              <a:t> of countries in each </a:t>
            </a:r>
            <a:r>
              <a:rPr lang="en-US" sz="2800" dirty="0">
                <a:solidFill>
                  <a:schemeClr val="accent6"/>
                </a:solidFill>
              </a:rPr>
              <a:t>continent </a:t>
            </a:r>
            <a:r>
              <a:rPr lang="en-US" sz="2800" dirty="0"/>
              <a:t>in 2007</a:t>
            </a:r>
            <a:endParaRPr lang="en-US" sz="2800" dirty="0">
              <a:solidFill>
                <a:schemeClr val="accent6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2EC5DA-6658-F3B2-60D1-6752715B6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9610" y="2469001"/>
            <a:ext cx="7772400" cy="41053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4B3201-C345-C7C4-1D72-237A269AB734}"/>
              </a:ext>
            </a:extLst>
          </p:cNvPr>
          <p:cNvSpPr txBox="1"/>
          <p:nvPr/>
        </p:nvSpPr>
        <p:spPr>
          <a:xfrm>
            <a:off x="146281" y="3303075"/>
            <a:ext cx="4173329" cy="1631216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filter(year == 2007)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(x = continent)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geom_bar</a:t>
            </a:r>
            <a:r>
              <a:rPr lang="en-US" sz="20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0677255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AC12244-0D44-081E-9C6B-310046FA119A}"/>
              </a:ext>
            </a:extLst>
          </p:cNvPr>
          <p:cNvSpPr/>
          <p:nvPr/>
        </p:nvSpPr>
        <p:spPr>
          <a:xfrm>
            <a:off x="4294981" y="280969"/>
            <a:ext cx="7897019" cy="28479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2437" y="283670"/>
            <a:ext cx="9144000" cy="864092"/>
          </a:xfrm>
        </p:spPr>
        <p:txBody>
          <a:bodyPr/>
          <a:lstStyle/>
          <a:p>
            <a:r>
              <a:rPr lang="en-US" dirty="0"/>
              <a:t>Tidy data</a:t>
            </a:r>
          </a:p>
        </p:txBody>
      </p:sp>
      <p:pic>
        <p:nvPicPr>
          <p:cNvPr id="6" name="Picture 5" descr="A picture containing text, font, screenshot, white&#10;&#10;Description automatically generated">
            <a:extLst>
              <a:ext uri="{FF2B5EF4-FFF2-40B4-BE49-F238E27FC236}">
                <a16:creationId xmlns:a16="http://schemas.microsoft.com/office/drawing/2014/main" id="{0D53AD76-868E-33D4-7905-11CDB627D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6545" y="406386"/>
            <a:ext cx="7293890" cy="259715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E487CE-0BE9-5078-E272-B804BFB992EE}"/>
              </a:ext>
            </a:extLst>
          </p:cNvPr>
          <p:cNvSpPr txBox="1"/>
          <p:nvPr/>
        </p:nvSpPr>
        <p:spPr>
          <a:xfrm>
            <a:off x="112772" y="1703518"/>
            <a:ext cx="1166336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ggplot</a:t>
            </a:r>
            <a:r>
              <a:rPr lang="en-US" sz="2800" dirty="0"/>
              <a:t> works best with tidy data</a:t>
            </a:r>
          </a:p>
          <a:p>
            <a:endParaRPr lang="en-US" sz="2800" dirty="0">
              <a:solidFill>
                <a:schemeClr val="accent6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Rules for tidy data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Each variable in the data set is placed in its own column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Each observation is placed in its own row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Each value is placed in its own cell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Your data (usually) should be in a single data table (tibble, </a:t>
            </a:r>
            <a:r>
              <a:rPr lang="en-US" sz="2800" dirty="0" err="1"/>
              <a:t>data.frame</a:t>
            </a:r>
            <a:r>
              <a:rPr lang="en-US" sz="28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You may need to transform data prior to plotting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Some </a:t>
            </a:r>
            <a:r>
              <a:rPr lang="en-US" sz="2800" b="1" dirty="0" err="1"/>
              <a:t>geom</a:t>
            </a:r>
            <a:r>
              <a:rPr lang="en-US" sz="2800" dirty="0" err="1"/>
              <a:t>s</a:t>
            </a:r>
            <a:r>
              <a:rPr lang="en-US" sz="2800" dirty="0"/>
              <a:t> will do basic summarization for you, as in the case of bar charts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8291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AD48A7F-BA17-ACE9-F73A-AFDA95BA5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306" y="2073728"/>
            <a:ext cx="7035693" cy="47490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778" y="420807"/>
            <a:ext cx="9144000" cy="864092"/>
          </a:xfrm>
        </p:spPr>
        <p:txBody>
          <a:bodyPr/>
          <a:lstStyle/>
          <a:p>
            <a:r>
              <a:rPr lang="en-US" dirty="0"/>
              <a:t>Tidy data for column chart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E487CE-0BE9-5078-E272-B804BFB992EE}"/>
              </a:ext>
            </a:extLst>
          </p:cNvPr>
          <p:cNvSpPr txBox="1"/>
          <p:nvPr/>
        </p:nvSpPr>
        <p:spPr>
          <a:xfrm>
            <a:off x="344180" y="1599739"/>
            <a:ext cx="94306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Can you create the same bar chart using </a:t>
            </a:r>
            <a:r>
              <a:rPr lang="en-US" sz="2800" dirty="0">
                <a:solidFill>
                  <a:srgbClr val="C00000"/>
                </a:solidFill>
              </a:rPr>
              <a:t>dplyr </a:t>
            </a:r>
            <a:r>
              <a:rPr lang="en-US" sz="2800" dirty="0"/>
              <a:t>to tidy the data? </a:t>
            </a:r>
            <a:endParaRPr lang="en-US" sz="2800" dirty="0">
              <a:solidFill>
                <a:schemeClr val="accent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F013A5-D9F9-B376-769F-FB8354494C7B}"/>
              </a:ext>
            </a:extLst>
          </p:cNvPr>
          <p:cNvSpPr txBox="1"/>
          <p:nvPr/>
        </p:nvSpPr>
        <p:spPr>
          <a:xfrm>
            <a:off x="221778" y="2930736"/>
            <a:ext cx="4655022" cy="2554545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%&gt;% 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filter(year == 2007) %&gt;% 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group_by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(continent) %&gt;% 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summarize(count = n()) %&gt;% 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 + 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(x = continent,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  y = count) + 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geom_col</a:t>
            </a:r>
            <a:r>
              <a:rPr lang="en-US" sz="20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5269643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DB86244-7C2E-2743-BDCA-A5CBF385D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0494" y="2443062"/>
            <a:ext cx="5671506" cy="38282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778" y="420807"/>
            <a:ext cx="9144000" cy="864092"/>
          </a:xfrm>
        </p:spPr>
        <p:txBody>
          <a:bodyPr/>
          <a:lstStyle/>
          <a:p>
            <a:r>
              <a:rPr lang="en-US" dirty="0"/>
              <a:t>Column charts (for multiple groups)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E487CE-0BE9-5078-E272-B804BFB992EE}"/>
              </a:ext>
            </a:extLst>
          </p:cNvPr>
          <p:cNvSpPr txBox="1"/>
          <p:nvPr/>
        </p:nvSpPr>
        <p:spPr>
          <a:xfrm>
            <a:off x="101293" y="1457301"/>
            <a:ext cx="11713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Plot the </a:t>
            </a:r>
            <a:r>
              <a:rPr lang="en-US" sz="2800" dirty="0">
                <a:solidFill>
                  <a:schemeClr val="accent6"/>
                </a:solidFill>
              </a:rPr>
              <a:t>average life expectancy </a:t>
            </a:r>
            <a:r>
              <a:rPr lang="en-US" sz="2800" dirty="0"/>
              <a:t>for each </a:t>
            </a:r>
            <a:r>
              <a:rPr lang="en-US" sz="2800" dirty="0">
                <a:solidFill>
                  <a:schemeClr val="accent6"/>
                </a:solidFill>
              </a:rPr>
              <a:t>continent</a:t>
            </a:r>
            <a:r>
              <a:rPr lang="en-US" sz="2800" dirty="0"/>
              <a:t> for the </a:t>
            </a:r>
            <a:r>
              <a:rPr lang="en-US" sz="2800" dirty="0">
                <a:solidFill>
                  <a:schemeClr val="accent6"/>
                </a:solidFill>
              </a:rPr>
              <a:t>years</a:t>
            </a:r>
            <a:r>
              <a:rPr lang="en-US" sz="2800" dirty="0"/>
              <a:t> 1952 and 2007</a:t>
            </a:r>
            <a:endParaRPr lang="en-US" sz="2800" dirty="0">
              <a:solidFill>
                <a:schemeClr val="accent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4E2173-2D4E-C4A3-182E-EF2866898569}"/>
              </a:ext>
            </a:extLst>
          </p:cNvPr>
          <p:cNvSpPr txBox="1"/>
          <p:nvPr/>
        </p:nvSpPr>
        <p:spPr>
          <a:xfrm>
            <a:off x="60628" y="2630628"/>
            <a:ext cx="6459866" cy="2862322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filter(year == 2007 | year == 1952)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group_by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(continent, year)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summarize(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avglife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= mean(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))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(x = continent,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  y =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avglife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,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  </a:t>
            </a:r>
            <a:r>
              <a:rPr lang="en-US" sz="20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fill = year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geom_col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</a:t>
            </a:r>
            <a:endParaRPr lang="en-US" sz="2000" dirty="0">
              <a:solidFill>
                <a:schemeClr val="accent6"/>
              </a:solidFill>
              <a:latin typeface="Monaco" pitchFamily="2" charset="77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5202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BCFF63-863E-79CE-09B7-AA3281662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551" y="2443061"/>
            <a:ext cx="5731448" cy="38687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778" y="420807"/>
            <a:ext cx="9144000" cy="864092"/>
          </a:xfrm>
        </p:spPr>
        <p:txBody>
          <a:bodyPr/>
          <a:lstStyle/>
          <a:p>
            <a:r>
              <a:rPr lang="en-US" dirty="0"/>
              <a:t>Column charts (for multiple groups)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E487CE-0BE9-5078-E272-B804BFB992EE}"/>
              </a:ext>
            </a:extLst>
          </p:cNvPr>
          <p:cNvSpPr txBox="1"/>
          <p:nvPr/>
        </p:nvSpPr>
        <p:spPr>
          <a:xfrm>
            <a:off x="101293" y="1457301"/>
            <a:ext cx="11713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Plot the </a:t>
            </a:r>
            <a:r>
              <a:rPr lang="en-US" sz="2800" dirty="0">
                <a:solidFill>
                  <a:schemeClr val="accent6"/>
                </a:solidFill>
              </a:rPr>
              <a:t>average life expectancy </a:t>
            </a:r>
            <a:r>
              <a:rPr lang="en-US" sz="2800" dirty="0"/>
              <a:t>for each </a:t>
            </a:r>
            <a:r>
              <a:rPr lang="en-US" sz="2800" dirty="0">
                <a:solidFill>
                  <a:schemeClr val="accent6"/>
                </a:solidFill>
              </a:rPr>
              <a:t>continent</a:t>
            </a:r>
            <a:r>
              <a:rPr lang="en-US" sz="2800" dirty="0"/>
              <a:t> for the </a:t>
            </a:r>
            <a:r>
              <a:rPr lang="en-US" sz="2800" dirty="0">
                <a:solidFill>
                  <a:schemeClr val="accent6"/>
                </a:solidFill>
              </a:rPr>
              <a:t>years</a:t>
            </a:r>
            <a:r>
              <a:rPr lang="en-US" sz="2800" dirty="0"/>
              <a:t> 1952 and 2007</a:t>
            </a:r>
            <a:endParaRPr lang="en-US" sz="2800" dirty="0">
              <a:solidFill>
                <a:schemeClr val="accent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E56AC8-9D48-714B-4F2C-7627B54BE600}"/>
              </a:ext>
            </a:extLst>
          </p:cNvPr>
          <p:cNvSpPr txBox="1"/>
          <p:nvPr/>
        </p:nvSpPr>
        <p:spPr>
          <a:xfrm>
            <a:off x="0" y="2679180"/>
            <a:ext cx="6459866" cy="2862322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filter(year == 2007 | year == 1952)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group_by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(continent, year)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summarize(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avglife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= mean(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))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(x = continent,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  y =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avglife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,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  fill = </a:t>
            </a:r>
            <a:r>
              <a:rPr lang="en-US" sz="20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factor(year)) 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geom_col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0696487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F452E8D-680D-7790-AF1F-61D7B8F6D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866" y="2626097"/>
            <a:ext cx="5646068" cy="38110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778" y="420807"/>
            <a:ext cx="9144000" cy="864092"/>
          </a:xfrm>
        </p:spPr>
        <p:txBody>
          <a:bodyPr/>
          <a:lstStyle/>
          <a:p>
            <a:r>
              <a:rPr lang="en-US" dirty="0"/>
              <a:t>Column charts (for multiple groups)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E487CE-0BE9-5078-E272-B804BFB992EE}"/>
              </a:ext>
            </a:extLst>
          </p:cNvPr>
          <p:cNvSpPr txBox="1"/>
          <p:nvPr/>
        </p:nvSpPr>
        <p:spPr>
          <a:xfrm>
            <a:off x="101293" y="1457301"/>
            <a:ext cx="11713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Plot the </a:t>
            </a:r>
            <a:r>
              <a:rPr lang="en-US" sz="2800" dirty="0">
                <a:solidFill>
                  <a:schemeClr val="accent6"/>
                </a:solidFill>
              </a:rPr>
              <a:t>average life expectancy </a:t>
            </a:r>
            <a:r>
              <a:rPr lang="en-US" sz="2800" dirty="0"/>
              <a:t>for each </a:t>
            </a:r>
            <a:r>
              <a:rPr lang="en-US" sz="2800" dirty="0">
                <a:solidFill>
                  <a:schemeClr val="accent6"/>
                </a:solidFill>
              </a:rPr>
              <a:t>continent</a:t>
            </a:r>
            <a:r>
              <a:rPr lang="en-US" sz="2800" dirty="0"/>
              <a:t> for the </a:t>
            </a:r>
            <a:r>
              <a:rPr lang="en-US" sz="2800" dirty="0">
                <a:solidFill>
                  <a:schemeClr val="accent6"/>
                </a:solidFill>
              </a:rPr>
              <a:t>years</a:t>
            </a:r>
            <a:r>
              <a:rPr lang="en-US" sz="2800" dirty="0"/>
              <a:t> 1952 and 2007</a:t>
            </a:r>
            <a:endParaRPr lang="en-US" sz="2800" dirty="0">
              <a:solidFill>
                <a:schemeClr val="accent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32BD77-D3BF-A581-D3CB-57C8DD5AE68C}"/>
              </a:ext>
            </a:extLst>
          </p:cNvPr>
          <p:cNvSpPr txBox="1"/>
          <p:nvPr/>
        </p:nvSpPr>
        <p:spPr>
          <a:xfrm>
            <a:off x="0" y="2735620"/>
            <a:ext cx="6459866" cy="2862322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filter(year == 2007 | year == 1952)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group_by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(continent, year)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summarize(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avglife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= mean(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))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(x = continent,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  y =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avglife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,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  fill = factor(year))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geom_col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chemeClr val="accent6"/>
                </a:solidFill>
                <a:latin typeface="Monaco" pitchFamily="2" charset="77"/>
                <a:cs typeface="Courier New" panose="02070309020205020404" pitchFamily="49" charset="0"/>
              </a:rPr>
              <a:t>position = 'dodge')</a:t>
            </a:r>
            <a:endParaRPr lang="en-US" sz="2000" dirty="0">
              <a:latin typeface="Monaco" pitchFamily="2" charset="77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6259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2" name="Picture 11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C7F5BE07-349E-30C5-CFA2-CF7DC78E8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65" y="157162"/>
            <a:ext cx="5248402" cy="6200775"/>
          </a:xfrm>
          <a:prstGeom prst="rect">
            <a:avLst/>
          </a:prstGeom>
        </p:spPr>
      </p:pic>
      <p:pic>
        <p:nvPicPr>
          <p:cNvPr id="14" name="Picture 13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03EE6E71-1AE4-8A16-FD32-7C2D78669C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5025" y="157162"/>
            <a:ext cx="5917851" cy="627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9096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 descr="A black text on a light green background&#10;&#10;Description automatically generated with low confidence">
            <a:extLst>
              <a:ext uri="{FF2B5EF4-FFF2-40B4-BE49-F238E27FC236}">
                <a16:creationId xmlns:a16="http://schemas.microsoft.com/office/drawing/2014/main" id="{527DB7BB-CA51-B352-ADB5-56E0B7CB9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662" y="215900"/>
            <a:ext cx="2349500" cy="368300"/>
          </a:xfrm>
          <a:prstGeom prst="rect">
            <a:avLst/>
          </a:prstGeom>
        </p:spPr>
      </p:pic>
      <p:pic>
        <p:nvPicPr>
          <p:cNvPr id="6" name="Picture 5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A1F5F6C4-17D3-DF26-4737-E0584C36D8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797" y="0"/>
            <a:ext cx="5947541" cy="6858000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656C3D6F-DE21-7A29-AC71-5A2BB9682A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46" y="130175"/>
            <a:ext cx="5917851" cy="627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2146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3" name="Picture 2" descr="A hexagon with a graph and blue dots&#10;&#10;Description automatically generated with low confidence">
            <a:extLst>
              <a:ext uri="{FF2B5EF4-FFF2-40B4-BE49-F238E27FC236}">
                <a16:creationId xmlns:a16="http://schemas.microsoft.com/office/drawing/2014/main" id="{56F52EE6-7DF7-B149-A00F-73EBF0046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584" y="140795"/>
            <a:ext cx="2339974" cy="27124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27EEDC-389E-395A-A0EF-F5A24AF6AE3D}"/>
              </a:ext>
            </a:extLst>
          </p:cNvPr>
          <p:cNvSpPr txBox="1"/>
          <p:nvPr/>
        </p:nvSpPr>
        <p:spPr>
          <a:xfrm>
            <a:off x="0" y="3067568"/>
            <a:ext cx="5355110" cy="2862322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tibble(x = 1, y = 1,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   status = 'break’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   )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(x, y, 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  label = status)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geom_text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(size = 50)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theme(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axis.text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=                 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    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element_blank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())</a:t>
            </a:r>
            <a:endParaRPr lang="en-US" sz="2000" dirty="0">
              <a:solidFill>
                <a:schemeClr val="accent6"/>
              </a:solidFill>
              <a:latin typeface="Monaco" pitchFamily="2" charset="77"/>
              <a:cs typeface="Courier New" panose="02070309020205020404" pitchFamily="49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DE98D1-C7EA-EA5D-DCC0-7F4C10DDD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1256522"/>
            <a:ext cx="7772400" cy="524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997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6EA7E8-8DB6-9D05-F9B4-9552E6B1EDE0}"/>
              </a:ext>
            </a:extLst>
          </p:cNvPr>
          <p:cNvSpPr txBox="1">
            <a:spLocks/>
          </p:cNvSpPr>
          <p:nvPr/>
        </p:nvSpPr>
        <p:spPr>
          <a:xfrm>
            <a:off x="206209" y="8290"/>
            <a:ext cx="9144000" cy="86409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rgbClr val="00274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does </a:t>
            </a:r>
            <a:r>
              <a:rPr lang="en-US" dirty="0" err="1"/>
              <a:t>ggplot</a:t>
            </a:r>
            <a:r>
              <a:rPr lang="en-US" dirty="0"/>
              <a:t>() do?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91921-B245-F709-8A3C-CEFA7522072F}"/>
              </a:ext>
            </a:extLst>
          </p:cNvPr>
          <p:cNvSpPr txBox="1"/>
          <p:nvPr/>
        </p:nvSpPr>
        <p:spPr>
          <a:xfrm>
            <a:off x="396462" y="872382"/>
            <a:ext cx="10719213" cy="2870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The </a:t>
            </a:r>
            <a:r>
              <a:rPr lang="en-US" sz="2800" dirty="0" err="1"/>
              <a:t>ggplot</a:t>
            </a:r>
            <a:r>
              <a:rPr lang="en-US" sz="2800" dirty="0"/>
              <a:t>() function creates a ‘’gg/</a:t>
            </a:r>
            <a:r>
              <a:rPr lang="en-US" sz="2800" dirty="0" err="1"/>
              <a:t>ggplot</a:t>
            </a:r>
            <a:r>
              <a:rPr lang="en-US" sz="2800" dirty="0"/>
              <a:t>” object (a plot object)</a:t>
            </a:r>
          </a:p>
          <a:p>
            <a:pPr marL="457200" indent="-4572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You use the plotting pipe (+) to add addition instructions to the object to build your plot (Note: do not use %&gt;% to add layers)</a:t>
            </a:r>
          </a:p>
          <a:p>
            <a:pPr marL="457200" indent="-4572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Can be saved to a variable</a:t>
            </a:r>
          </a:p>
          <a:p>
            <a:pPr marL="457200" indent="-4572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Doesn’t actually “draw” the plot, that only happens until you try to print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2F4CDB-F7E3-9EE1-F152-2BC6B42B3373}"/>
              </a:ext>
            </a:extLst>
          </p:cNvPr>
          <p:cNvSpPr txBox="1"/>
          <p:nvPr/>
        </p:nvSpPr>
        <p:spPr>
          <a:xfrm>
            <a:off x="821853" y="3799818"/>
            <a:ext cx="10293822" cy="2246769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p =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%&gt;%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gdpPercap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,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geom_point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p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print(p)</a:t>
            </a:r>
            <a:endParaRPr lang="en-US" sz="2000" dirty="0">
              <a:solidFill>
                <a:schemeClr val="accent6"/>
              </a:solidFill>
              <a:latin typeface="Monaco" pitchFamily="2" charset="77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4400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6EA7E8-8DB6-9D05-F9B4-9552E6B1EDE0}"/>
              </a:ext>
            </a:extLst>
          </p:cNvPr>
          <p:cNvSpPr txBox="1">
            <a:spLocks/>
          </p:cNvSpPr>
          <p:nvPr/>
        </p:nvSpPr>
        <p:spPr>
          <a:xfrm>
            <a:off x="206209" y="8290"/>
            <a:ext cx="9144000" cy="86409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rgbClr val="00274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Global options vs layer options</a:t>
            </a:r>
          </a:p>
        </p:txBody>
      </p:sp>
      <p:pic>
        <p:nvPicPr>
          <p:cNvPr id="9" name="Picture 8" descr="A picture containing text, screenshot, font, diagram&#10;&#10;Description automatically generated">
            <a:extLst>
              <a:ext uri="{FF2B5EF4-FFF2-40B4-BE49-F238E27FC236}">
                <a16:creationId xmlns:a16="http://schemas.microsoft.com/office/drawing/2014/main" id="{F5092729-D02A-E559-F664-11652D621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500" y="1558949"/>
            <a:ext cx="7772400" cy="374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8009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6EA7E8-8DB6-9D05-F9B4-9552E6B1EDE0}"/>
              </a:ext>
            </a:extLst>
          </p:cNvPr>
          <p:cNvSpPr txBox="1">
            <a:spLocks/>
          </p:cNvSpPr>
          <p:nvPr/>
        </p:nvSpPr>
        <p:spPr>
          <a:xfrm>
            <a:off x="206209" y="8290"/>
            <a:ext cx="9144000" cy="86409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rgbClr val="00274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More about </a:t>
            </a:r>
            <a:r>
              <a:rPr lang="en-US" dirty="0" err="1"/>
              <a:t>aes</a:t>
            </a:r>
            <a:r>
              <a:rPr lang="en-US" dirty="0"/>
              <a:t>()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C22CC4-F541-F1B6-4839-F3F04D38D52E}"/>
              </a:ext>
            </a:extLst>
          </p:cNvPr>
          <p:cNvSpPr txBox="1"/>
          <p:nvPr/>
        </p:nvSpPr>
        <p:spPr>
          <a:xfrm>
            <a:off x="396461" y="1113086"/>
            <a:ext cx="10719213" cy="151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By default, layer </a:t>
            </a:r>
            <a:r>
              <a:rPr lang="en-US" sz="2800" dirty="0" err="1"/>
              <a:t>aes</a:t>
            </a:r>
            <a:r>
              <a:rPr lang="en-US" sz="2800" dirty="0"/>
              <a:t>() values are inherited from </a:t>
            </a:r>
            <a:r>
              <a:rPr lang="en-US" sz="2800" dirty="0" err="1"/>
              <a:t>ggplot</a:t>
            </a:r>
            <a:r>
              <a:rPr lang="en-US" sz="2800" dirty="0"/>
              <a:t>()</a:t>
            </a:r>
          </a:p>
          <a:p>
            <a:pPr marL="457200" indent="-4572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Disable inheritance with </a:t>
            </a:r>
            <a:r>
              <a:rPr lang="en-US" sz="2800" dirty="0" err="1"/>
              <a:t>geom</a:t>
            </a:r>
            <a:r>
              <a:rPr lang="en-US" sz="2800" dirty="0"/>
              <a:t>_&lt;name&gt;(…, </a:t>
            </a:r>
            <a:r>
              <a:rPr lang="en-US" sz="2800" dirty="0" err="1"/>
              <a:t>inherit.aes</a:t>
            </a:r>
            <a:r>
              <a:rPr lang="en-US" sz="2800" dirty="0"/>
              <a:t> = FALSE)</a:t>
            </a:r>
          </a:p>
          <a:p>
            <a:pPr marL="457200" indent="-4572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You may also add, override, or remove </a:t>
            </a:r>
            <a:r>
              <a:rPr lang="en-US" sz="2800" dirty="0" err="1"/>
              <a:t>aes</a:t>
            </a:r>
            <a:r>
              <a:rPr lang="en-US" sz="2800" dirty="0"/>
              <a:t>() values</a:t>
            </a:r>
          </a:p>
        </p:txBody>
      </p:sp>
      <p:pic>
        <p:nvPicPr>
          <p:cNvPr id="4" name="Picture 3" descr="A picture containing text, screenshot, font&#10;&#10;Description automatically generated">
            <a:extLst>
              <a:ext uri="{FF2B5EF4-FFF2-40B4-BE49-F238E27FC236}">
                <a16:creationId xmlns:a16="http://schemas.microsoft.com/office/drawing/2014/main" id="{3BE75872-2B79-9BF6-208B-AF20832F5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867" y="2972343"/>
            <a:ext cx="7772400" cy="251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2172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6EA7E8-8DB6-9D05-F9B4-9552E6B1EDE0}"/>
              </a:ext>
            </a:extLst>
          </p:cNvPr>
          <p:cNvSpPr txBox="1">
            <a:spLocks/>
          </p:cNvSpPr>
          <p:nvPr/>
        </p:nvSpPr>
        <p:spPr>
          <a:xfrm>
            <a:off x="206209" y="8290"/>
            <a:ext cx="9144000" cy="86409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rgbClr val="00274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is the final mapping?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91921-B245-F709-8A3C-CEFA7522072F}"/>
              </a:ext>
            </a:extLst>
          </p:cNvPr>
          <p:cNvSpPr txBox="1"/>
          <p:nvPr/>
        </p:nvSpPr>
        <p:spPr>
          <a:xfrm>
            <a:off x="4778209" y="3704945"/>
            <a:ext cx="10719213" cy="1762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US" sz="2400" dirty="0">
                <a:latin typeface="Monaco" pitchFamily="2" charset="77"/>
              </a:rPr>
              <a:t>a) </a:t>
            </a:r>
            <a:r>
              <a:rPr lang="en-US" sz="2400" dirty="0" err="1">
                <a:latin typeface="Monaco" pitchFamily="2" charset="77"/>
              </a:rPr>
              <a:t>aes</a:t>
            </a:r>
            <a:r>
              <a:rPr lang="en-US" sz="2400" dirty="0">
                <a:latin typeface="Monaco" pitchFamily="2" charset="77"/>
              </a:rPr>
              <a:t>(x = year, y = pop)</a:t>
            </a:r>
          </a:p>
          <a:p>
            <a:pPr>
              <a:spcAft>
                <a:spcPts val="500"/>
              </a:spcAft>
            </a:pPr>
            <a:r>
              <a:rPr lang="en-US" sz="2400" dirty="0">
                <a:latin typeface="Monaco" pitchFamily="2" charset="77"/>
              </a:rPr>
              <a:t>b) </a:t>
            </a:r>
            <a:r>
              <a:rPr lang="en-US" sz="2400" dirty="0" err="1">
                <a:latin typeface="Monaco" pitchFamily="2" charset="77"/>
              </a:rPr>
              <a:t>aes</a:t>
            </a:r>
            <a:r>
              <a:rPr lang="en-US" sz="2400" dirty="0">
                <a:latin typeface="Monaco" pitchFamily="2" charset="77"/>
              </a:rPr>
              <a:t>(x = year, y = country)</a:t>
            </a:r>
          </a:p>
          <a:p>
            <a:pPr>
              <a:spcAft>
                <a:spcPts val="500"/>
              </a:spcAft>
            </a:pPr>
            <a:r>
              <a:rPr lang="en-US" sz="2400" dirty="0">
                <a:latin typeface="Monaco" pitchFamily="2" charset="77"/>
              </a:rPr>
              <a:t>c) </a:t>
            </a:r>
            <a:r>
              <a:rPr lang="en-US" sz="2400" dirty="0" err="1">
                <a:latin typeface="Monaco" pitchFamily="2" charset="77"/>
              </a:rPr>
              <a:t>aes</a:t>
            </a:r>
            <a:r>
              <a:rPr lang="en-US" sz="2400" dirty="0">
                <a:latin typeface="Monaco" pitchFamily="2" charset="77"/>
              </a:rPr>
              <a:t>(x = year, y = </a:t>
            </a:r>
            <a:r>
              <a:rPr lang="en-US" sz="2400" dirty="0" err="1">
                <a:latin typeface="Monaco" pitchFamily="2" charset="77"/>
              </a:rPr>
              <a:t>gdpPercap</a:t>
            </a:r>
            <a:r>
              <a:rPr lang="en-US" sz="2400" dirty="0">
                <a:latin typeface="Monaco" pitchFamily="2" charset="77"/>
              </a:rPr>
              <a:t>)</a:t>
            </a:r>
          </a:p>
          <a:p>
            <a:pPr>
              <a:spcAft>
                <a:spcPts val="500"/>
              </a:spcAft>
            </a:pPr>
            <a:r>
              <a:rPr lang="en-US" sz="2400" dirty="0">
                <a:latin typeface="Monaco" pitchFamily="2" charset="77"/>
              </a:rPr>
              <a:t>d) </a:t>
            </a:r>
            <a:r>
              <a:rPr lang="en-US" sz="2400" dirty="0" err="1">
                <a:latin typeface="Monaco" pitchFamily="2" charset="77"/>
              </a:rPr>
              <a:t>aes</a:t>
            </a:r>
            <a:r>
              <a:rPr lang="en-US" sz="2400" dirty="0">
                <a:latin typeface="Monaco" pitchFamily="2" charset="77"/>
              </a:rPr>
              <a:t>(x = year, y = </a:t>
            </a:r>
            <a:r>
              <a:rPr lang="en-US" sz="2400" dirty="0" err="1">
                <a:latin typeface="Monaco" pitchFamily="2" charset="77"/>
              </a:rPr>
              <a:t>lifeExp</a:t>
            </a:r>
            <a:r>
              <a:rPr lang="en-US" sz="2400" dirty="0">
                <a:latin typeface="Monaco" pitchFamily="2" charset="77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2F4CDB-F7E3-9EE1-F152-2BC6B42B3373}"/>
              </a:ext>
            </a:extLst>
          </p:cNvPr>
          <p:cNvSpPr txBox="1"/>
          <p:nvPr/>
        </p:nvSpPr>
        <p:spPr>
          <a:xfrm>
            <a:off x="630467" y="1442787"/>
            <a:ext cx="10293822" cy="1631216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%&gt;% 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() + 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(year, pop) + 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geom_point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(y =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gdpPercap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)) + </a:t>
            </a:r>
          </a:p>
          <a:p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(y = </a:t>
            </a:r>
            <a:r>
              <a:rPr lang="en-US" sz="2000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2000" dirty="0">
                <a:latin typeface="Monaco" pitchFamily="2" charset="77"/>
                <a:cs typeface="Courier New" panose="02070309020205020404" pitchFamily="49" charset="0"/>
              </a:rPr>
              <a:t>)</a:t>
            </a:r>
            <a:endParaRPr lang="en-US" sz="2000" dirty="0">
              <a:solidFill>
                <a:schemeClr val="accent6"/>
              </a:solidFill>
              <a:latin typeface="Monaco" pitchFamily="2" charset="77"/>
              <a:cs typeface="Courier New" panose="02070309020205020404" pitchFamily="49" charset="0"/>
            </a:endParaRPr>
          </a:p>
        </p:txBody>
      </p:sp>
      <p:pic>
        <p:nvPicPr>
          <p:cNvPr id="2" name="Picture 1" descr="A purple head with gears inside&#10;&#10;Description automatically generated with low confidence">
            <a:extLst>
              <a:ext uri="{FF2B5EF4-FFF2-40B4-BE49-F238E27FC236}">
                <a16:creationId xmlns:a16="http://schemas.microsoft.com/office/drawing/2014/main" id="{548BC60E-EC06-EAD8-B45D-EA2A48B52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09" y="4031507"/>
            <a:ext cx="965200" cy="1066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9F772F-75CD-3C96-839B-52F5CFA33D6C}"/>
              </a:ext>
            </a:extLst>
          </p:cNvPr>
          <p:cNvSpPr txBox="1"/>
          <p:nvPr/>
        </p:nvSpPr>
        <p:spPr>
          <a:xfrm>
            <a:off x="1098872" y="4060564"/>
            <a:ext cx="33349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will be the final mapping of the points?</a:t>
            </a:r>
          </a:p>
        </p:txBody>
      </p:sp>
    </p:spTree>
    <p:extLst>
      <p:ext uri="{BB962C8B-B14F-4D97-AF65-F5344CB8AC3E}">
        <p14:creationId xmlns:p14="http://schemas.microsoft.com/office/powerpoint/2010/main" val="25265387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6EA7E8-8DB6-9D05-F9B4-9552E6B1EDE0}"/>
              </a:ext>
            </a:extLst>
          </p:cNvPr>
          <p:cNvSpPr txBox="1">
            <a:spLocks/>
          </p:cNvSpPr>
          <p:nvPr/>
        </p:nvSpPr>
        <p:spPr>
          <a:xfrm>
            <a:off x="206209" y="8290"/>
            <a:ext cx="9144000" cy="86409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rgbClr val="00274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Different data for different layers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2F4CDB-F7E3-9EE1-F152-2BC6B42B3373}"/>
              </a:ext>
            </a:extLst>
          </p:cNvPr>
          <p:cNvSpPr txBox="1"/>
          <p:nvPr/>
        </p:nvSpPr>
        <p:spPr>
          <a:xfrm>
            <a:off x="74429" y="1857456"/>
            <a:ext cx="7012172" cy="3139321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gap2007 =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%&gt;%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filter(year == 2007)</a:t>
            </a:r>
          </a:p>
          <a:p>
            <a:endParaRPr lang="en-US" dirty="0">
              <a:latin typeface="Monaco" pitchFamily="2" charset="77"/>
              <a:cs typeface="Courier New" panose="02070309020205020404" pitchFamily="49" charset="0"/>
            </a:endParaRPr>
          </a:p>
          <a:p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dlab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= gap2007 %&gt;%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filter(pop &gt; 2e8)</a:t>
            </a:r>
          </a:p>
          <a:p>
            <a:endParaRPr lang="en-US" dirty="0">
              <a:latin typeface="Monaco" pitchFamily="2" charset="77"/>
              <a:cs typeface="Courier New" panose="02070309020205020404" pitchFamily="49" charset="0"/>
            </a:endParaRP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gap2007 %&gt;%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gdpPercap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geom_point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(size = pop, color = continent)) +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geom_text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(label = country), data =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dlab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)</a:t>
            </a:r>
            <a:endParaRPr lang="en-US" dirty="0">
              <a:solidFill>
                <a:schemeClr val="accent6"/>
              </a:solidFill>
              <a:latin typeface="Monaco" pitchFamily="2" charset="77"/>
              <a:cs typeface="Courier New" panose="020703090202050204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0062DB-7601-1608-4901-0CA146136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8224" y="1037303"/>
            <a:ext cx="5003776" cy="510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7698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6EA7E8-8DB6-9D05-F9B4-9552E6B1EDE0}"/>
              </a:ext>
            </a:extLst>
          </p:cNvPr>
          <p:cNvSpPr txBox="1">
            <a:spLocks/>
          </p:cNvSpPr>
          <p:nvPr/>
        </p:nvSpPr>
        <p:spPr>
          <a:xfrm>
            <a:off x="206209" y="8290"/>
            <a:ext cx="9144000" cy="86409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rgbClr val="00274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Faceting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F58EFA-C062-FAF8-4E75-25E546F47C16}"/>
              </a:ext>
            </a:extLst>
          </p:cNvPr>
          <p:cNvSpPr txBox="1"/>
          <p:nvPr/>
        </p:nvSpPr>
        <p:spPr>
          <a:xfrm>
            <a:off x="396461" y="1113086"/>
            <a:ext cx="10719213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Divide plot into subgroups and draw layers for each set</a:t>
            </a:r>
          </a:p>
          <a:p>
            <a:pPr marL="457200" indent="-4572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Two primary options:</a:t>
            </a:r>
          </a:p>
          <a:p>
            <a:pPr marL="914400" lvl="1" indent="-4572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Grid – up to two variables: one for rows, other for columns</a:t>
            </a:r>
          </a:p>
          <a:p>
            <a:pPr marL="914400" lvl="1" indent="-4572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Wrap – no panel structure</a:t>
            </a:r>
          </a:p>
          <a:p>
            <a:pPr marL="457200" indent="-4572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Each facet gets all layers</a:t>
            </a:r>
          </a:p>
          <a:p>
            <a:pPr marL="457200" indent="-4572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Each layer’s data split on </a:t>
            </a:r>
          </a:p>
          <a:p>
            <a:pPr>
              <a:spcAft>
                <a:spcPts val="500"/>
              </a:spcAft>
            </a:pPr>
            <a:r>
              <a:rPr lang="en-US" sz="2800" dirty="0"/>
              <a:t>        same variables</a:t>
            </a:r>
          </a:p>
        </p:txBody>
      </p:sp>
      <p:pic>
        <p:nvPicPr>
          <p:cNvPr id="4" name="Picture 3" descr="A picture containing text, font, screenshot&#10;&#10;Description automatically generated">
            <a:extLst>
              <a:ext uri="{FF2B5EF4-FFF2-40B4-BE49-F238E27FC236}">
                <a16:creationId xmlns:a16="http://schemas.microsoft.com/office/drawing/2014/main" id="{0989AEA7-8784-1707-3CA5-EFD810DD8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3945" y="3204494"/>
            <a:ext cx="7511189" cy="3268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7655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6EA7E8-8DB6-9D05-F9B4-9552E6B1EDE0}"/>
              </a:ext>
            </a:extLst>
          </p:cNvPr>
          <p:cNvSpPr txBox="1">
            <a:spLocks/>
          </p:cNvSpPr>
          <p:nvPr/>
        </p:nvSpPr>
        <p:spPr>
          <a:xfrm>
            <a:off x="206209" y="8290"/>
            <a:ext cx="9144000" cy="86409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rgbClr val="00274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facet_wrap</a:t>
            </a:r>
            <a:r>
              <a:rPr lang="en-US" dirty="0"/>
              <a:t>()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F58EFA-C062-FAF8-4E75-25E546F47C16}"/>
              </a:ext>
            </a:extLst>
          </p:cNvPr>
          <p:cNvSpPr txBox="1"/>
          <p:nvPr/>
        </p:nvSpPr>
        <p:spPr>
          <a:xfrm>
            <a:off x="195624" y="1049290"/>
            <a:ext cx="4708940" cy="3926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Requires list of column names wrapped in vars()</a:t>
            </a:r>
          </a:p>
          <a:p>
            <a:pPr marL="457200" indent="-4572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Each combination of columns gets its own panel</a:t>
            </a:r>
          </a:p>
          <a:p>
            <a:pPr marL="457200" indent="-4572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scales = options</a:t>
            </a:r>
          </a:p>
          <a:p>
            <a:pPr marL="914400" lvl="1" indent="-4572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”fixed” scales same in all</a:t>
            </a:r>
          </a:p>
          <a:p>
            <a:pPr marL="914400" lvl="1" indent="-4572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“</a:t>
            </a:r>
            <a:r>
              <a:rPr lang="en-US" sz="2000" dirty="0" err="1"/>
              <a:t>free_x</a:t>
            </a:r>
            <a:r>
              <a:rPr lang="en-US" sz="2000" dirty="0"/>
              <a:t>” x range can vary</a:t>
            </a:r>
          </a:p>
          <a:p>
            <a:pPr marL="914400" lvl="1" indent="-4572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“</a:t>
            </a:r>
            <a:r>
              <a:rPr lang="en-US" sz="2000" dirty="0" err="1"/>
              <a:t>free_y</a:t>
            </a:r>
            <a:r>
              <a:rPr lang="en-US" sz="2000" dirty="0"/>
              <a:t>” y range can vary</a:t>
            </a:r>
          </a:p>
          <a:p>
            <a:pPr marL="914400" lvl="1" indent="-4572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“free” domain and range can change for each panel</a:t>
            </a:r>
          </a:p>
          <a:p>
            <a:pPr marL="914400" lvl="1" indent="-4572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ncol</a:t>
            </a:r>
            <a:r>
              <a:rPr lang="en-US" sz="2000" dirty="0"/>
              <a:t> = number of columns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43EFC2-8532-7B0E-3312-EA84E958878A}"/>
              </a:ext>
            </a:extLst>
          </p:cNvPr>
          <p:cNvSpPr txBox="1"/>
          <p:nvPr/>
        </p:nvSpPr>
        <p:spPr>
          <a:xfrm>
            <a:off x="4904564" y="1796006"/>
            <a:ext cx="7012172" cy="1754326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%&gt;%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filter(year == 2007) %&gt;%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geom_density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(fill = 'grey') +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facet_wrap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(vars(continent))</a:t>
            </a:r>
            <a:endParaRPr lang="en-US" dirty="0">
              <a:solidFill>
                <a:schemeClr val="accent6"/>
              </a:solidFill>
              <a:latin typeface="Monaco" pitchFamily="2" charset="77"/>
              <a:cs typeface="Courier New" panose="020703090202050204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6ECBDF-5037-5220-2711-A8F0FFDF3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570" y="3727240"/>
            <a:ext cx="7772400" cy="285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7529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6EA7E8-8DB6-9D05-F9B4-9552E6B1EDE0}"/>
              </a:ext>
            </a:extLst>
          </p:cNvPr>
          <p:cNvSpPr txBox="1">
            <a:spLocks/>
          </p:cNvSpPr>
          <p:nvPr/>
        </p:nvSpPr>
        <p:spPr>
          <a:xfrm>
            <a:off x="206209" y="8290"/>
            <a:ext cx="9144000" cy="86409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rgbClr val="00274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facet_grid</a:t>
            </a:r>
            <a:r>
              <a:rPr lang="en-US" dirty="0"/>
              <a:t>()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F58EFA-C062-FAF8-4E75-25E546F47C16}"/>
              </a:ext>
            </a:extLst>
          </p:cNvPr>
          <p:cNvSpPr txBox="1"/>
          <p:nvPr/>
        </p:nvSpPr>
        <p:spPr>
          <a:xfrm>
            <a:off x="195624" y="1049290"/>
            <a:ext cx="4708940" cy="2131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 can specify a list of column names wrapped in vars() to map to rows, cols, or both</a:t>
            </a:r>
          </a:p>
          <a:p>
            <a:pPr marL="457200" indent="-4572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Shares axis across panels</a:t>
            </a:r>
          </a:p>
          <a:p>
            <a:pPr marL="457200" indent="-45720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Results in “rectangular” output</a:t>
            </a:r>
          </a:p>
          <a:p>
            <a:pPr marL="457200" indent="-457200"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43EFC2-8532-7B0E-3312-EA84E958878A}"/>
              </a:ext>
            </a:extLst>
          </p:cNvPr>
          <p:cNvSpPr txBox="1"/>
          <p:nvPr/>
        </p:nvSpPr>
        <p:spPr>
          <a:xfrm>
            <a:off x="4989181" y="1674674"/>
            <a:ext cx="7012172" cy="3416320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p = 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%&gt;%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  mutate(decade = year %/% 10 * 10) %&gt;%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  select(-year) %&gt;%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  group_by(continent, country, decade) %&gt;%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summarize_all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(mean) %&gt;%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   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gdpPercap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   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geom_point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p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p +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facet_grid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(vars(decade), vars(continent))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p +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facet_grid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(vars(decade))</a:t>
            </a:r>
            <a:endParaRPr lang="en-US" dirty="0">
              <a:solidFill>
                <a:schemeClr val="accent6"/>
              </a:solidFill>
              <a:latin typeface="Monaco" pitchFamily="2" charset="77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932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6EA7E8-8DB6-9D05-F9B4-9552E6B1EDE0}"/>
              </a:ext>
            </a:extLst>
          </p:cNvPr>
          <p:cNvSpPr txBox="1">
            <a:spLocks/>
          </p:cNvSpPr>
          <p:nvPr/>
        </p:nvSpPr>
        <p:spPr>
          <a:xfrm>
            <a:off x="268325" y="92409"/>
            <a:ext cx="1911349" cy="86409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rgbClr val="00274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Scales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F58EFA-C062-FAF8-4E75-25E546F47C16}"/>
              </a:ext>
            </a:extLst>
          </p:cNvPr>
          <p:cNvSpPr txBox="1"/>
          <p:nvPr/>
        </p:nvSpPr>
        <p:spPr>
          <a:xfrm>
            <a:off x="268325" y="956501"/>
            <a:ext cx="11515800" cy="3883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Scales describe how raw data values should be converted to aesthetic values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Default scales are determined by the class of the variables in your data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Each aesthetic (</a:t>
            </a:r>
            <a:r>
              <a:rPr lang="en-US" sz="2400" dirty="0" err="1"/>
              <a:t>eg</a:t>
            </a:r>
            <a:r>
              <a:rPr lang="en-US" sz="2400" dirty="0"/>
              <a:t>, color, fill, size, shape) can have at most one scale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Scales can have guides</a:t>
            </a:r>
          </a:p>
          <a:p>
            <a:pPr marL="914400" lvl="1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Axes for positions</a:t>
            </a:r>
          </a:p>
          <a:p>
            <a:pPr marL="914400" lvl="1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Legends for everything</a:t>
            </a:r>
          </a:p>
          <a:p>
            <a:pPr lvl="1">
              <a:spcAft>
                <a:spcPts val="1000"/>
              </a:spcAft>
            </a:pPr>
            <a:r>
              <a:rPr lang="en-US" sz="2400" dirty="0"/>
              <a:t>         else</a:t>
            </a:r>
          </a:p>
          <a:p>
            <a:pPr marL="457200" indent="-457200">
              <a:spcAft>
                <a:spcPts val="5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3" name="Picture 2" descr="A picture containing text, font, screenshot, line&#10;&#10;Description automatically generated">
            <a:extLst>
              <a:ext uri="{FF2B5EF4-FFF2-40B4-BE49-F238E27FC236}">
                <a16:creationId xmlns:a16="http://schemas.microsoft.com/office/drawing/2014/main" id="{2AB925B7-FC99-409A-C026-B61CF5ABB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275" y="2686384"/>
            <a:ext cx="7772400" cy="331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4478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6EA7E8-8DB6-9D05-F9B4-9552E6B1EDE0}"/>
              </a:ext>
            </a:extLst>
          </p:cNvPr>
          <p:cNvSpPr txBox="1">
            <a:spLocks/>
          </p:cNvSpPr>
          <p:nvPr/>
        </p:nvSpPr>
        <p:spPr>
          <a:xfrm>
            <a:off x="268325" y="92409"/>
            <a:ext cx="10251321" cy="86409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rgbClr val="00274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Scales based on type</a:t>
            </a:r>
          </a:p>
        </p:txBody>
      </p:sp>
      <p:pic>
        <p:nvPicPr>
          <p:cNvPr id="3" name="Picture 2" descr="A picture containing text, font, screenshot, line&#10;&#10;Description automatically generated">
            <a:extLst>
              <a:ext uri="{FF2B5EF4-FFF2-40B4-BE49-F238E27FC236}">
                <a16:creationId xmlns:a16="http://schemas.microsoft.com/office/drawing/2014/main" id="{2AB925B7-FC99-409A-C026-B61CF5ABB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56" y="148839"/>
            <a:ext cx="5669819" cy="24155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2F1080-5F62-E53F-36AC-73354F7A2564}"/>
              </a:ext>
            </a:extLst>
          </p:cNvPr>
          <p:cNvSpPr txBox="1"/>
          <p:nvPr/>
        </p:nvSpPr>
        <p:spPr>
          <a:xfrm>
            <a:off x="268325" y="2750286"/>
            <a:ext cx="7012172" cy="2862322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p =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%&gt;%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filter(country == 'United States') %&gt;%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gdpPercap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geom_point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()</a:t>
            </a:r>
          </a:p>
          <a:p>
            <a:endParaRPr lang="en-US" dirty="0">
              <a:latin typeface="Monaco" pitchFamily="2" charset="77"/>
              <a:cs typeface="Courier New" panose="02070309020205020404" pitchFamily="49" charset="0"/>
            </a:endParaRP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p</a:t>
            </a:r>
          </a:p>
          <a:p>
            <a:endParaRPr lang="en-US" dirty="0">
              <a:latin typeface="Monaco" pitchFamily="2" charset="77"/>
              <a:cs typeface="Courier New" panose="02070309020205020404" pitchFamily="49" charset="0"/>
            </a:endParaRP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p +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(color = year)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p +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(color = factor(year))</a:t>
            </a:r>
          </a:p>
        </p:txBody>
      </p:sp>
    </p:spTree>
    <p:extLst>
      <p:ext uri="{BB962C8B-B14F-4D97-AF65-F5344CB8AC3E}">
        <p14:creationId xmlns:p14="http://schemas.microsoft.com/office/powerpoint/2010/main" val="3817534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6EA7E8-8DB6-9D05-F9B4-9552E6B1EDE0}"/>
              </a:ext>
            </a:extLst>
          </p:cNvPr>
          <p:cNvSpPr txBox="1">
            <a:spLocks/>
          </p:cNvSpPr>
          <p:nvPr/>
        </p:nvSpPr>
        <p:spPr>
          <a:xfrm>
            <a:off x="268325" y="92409"/>
            <a:ext cx="10251321" cy="86409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rgbClr val="00274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Manual scales</a:t>
            </a:r>
          </a:p>
        </p:txBody>
      </p:sp>
      <p:pic>
        <p:nvPicPr>
          <p:cNvPr id="3" name="Picture 2" descr="A picture containing text, font, screenshot, line&#10;&#10;Description automatically generated">
            <a:extLst>
              <a:ext uri="{FF2B5EF4-FFF2-40B4-BE49-F238E27FC236}">
                <a16:creationId xmlns:a16="http://schemas.microsoft.com/office/drawing/2014/main" id="{2AB925B7-FC99-409A-C026-B61CF5ABB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56" y="148839"/>
            <a:ext cx="5669819" cy="24155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2F1080-5F62-E53F-36AC-73354F7A2564}"/>
              </a:ext>
            </a:extLst>
          </p:cNvPr>
          <p:cNvSpPr txBox="1"/>
          <p:nvPr/>
        </p:nvSpPr>
        <p:spPr>
          <a:xfrm>
            <a:off x="268325" y="2750286"/>
            <a:ext cx="11655350" cy="2585323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p =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%&gt;%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filter(country == 'United States', year &gt; 1990) %&gt;%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gdpPercap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geom_point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()</a:t>
            </a:r>
          </a:p>
          <a:p>
            <a:endParaRPr lang="en-US" dirty="0">
              <a:latin typeface="Monaco" pitchFamily="2" charset="77"/>
              <a:cs typeface="Courier New" panose="02070309020205020404" pitchFamily="49" charset="0"/>
            </a:endParaRP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p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p +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(color = factor(year)) +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scale_&lt;</a:t>
            </a:r>
            <a:r>
              <a:rPr lang="en-US" dirty="0">
                <a:solidFill>
                  <a:srgbClr val="C00000"/>
                </a:solidFill>
                <a:latin typeface="Monaco" pitchFamily="2" charset="77"/>
                <a:cs typeface="Courier New" panose="02070309020205020404" pitchFamily="49" charset="0"/>
              </a:rPr>
              <a:t>??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&gt;_&lt;</a:t>
            </a:r>
            <a:r>
              <a:rPr lang="en-US" dirty="0">
                <a:solidFill>
                  <a:srgbClr val="C00000"/>
                </a:solidFill>
                <a:latin typeface="Monaco" pitchFamily="2" charset="77"/>
                <a:cs typeface="Courier New" panose="02070309020205020404" pitchFamily="49" charset="0"/>
              </a:rPr>
              <a:t>??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&gt;(values = ??)</a:t>
            </a:r>
          </a:p>
        </p:txBody>
      </p:sp>
      <p:pic>
        <p:nvPicPr>
          <p:cNvPr id="2" name="Picture 1" descr="A purple head with gears inside&#10;&#10;Description automatically generated with low confidence">
            <a:extLst>
              <a:ext uri="{FF2B5EF4-FFF2-40B4-BE49-F238E27FC236}">
                <a16:creationId xmlns:a16="http://schemas.microsoft.com/office/drawing/2014/main" id="{BCF5F872-B644-48F2-4B3F-8AE38EF1F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875" y="1319993"/>
            <a:ext cx="965200" cy="1066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6A5A4F-DF0C-F8C1-956A-8D78F8FABAAD}"/>
              </a:ext>
            </a:extLst>
          </p:cNvPr>
          <p:cNvSpPr txBox="1"/>
          <p:nvPr/>
        </p:nvSpPr>
        <p:spPr>
          <a:xfrm>
            <a:off x="1221538" y="1349050"/>
            <a:ext cx="47827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can you manually scale the levels of the factor year to plot your own colors?</a:t>
            </a:r>
          </a:p>
        </p:txBody>
      </p:sp>
    </p:spTree>
    <p:extLst>
      <p:ext uri="{BB962C8B-B14F-4D97-AF65-F5344CB8AC3E}">
        <p14:creationId xmlns:p14="http://schemas.microsoft.com/office/powerpoint/2010/main" val="5583925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6EA7E8-8DB6-9D05-F9B4-9552E6B1EDE0}"/>
              </a:ext>
            </a:extLst>
          </p:cNvPr>
          <p:cNvSpPr txBox="1">
            <a:spLocks/>
          </p:cNvSpPr>
          <p:nvPr/>
        </p:nvSpPr>
        <p:spPr>
          <a:xfrm>
            <a:off x="268325" y="92409"/>
            <a:ext cx="10251321" cy="86409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rgbClr val="00274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Manual scales</a:t>
            </a:r>
          </a:p>
        </p:txBody>
      </p:sp>
      <p:pic>
        <p:nvPicPr>
          <p:cNvPr id="3" name="Picture 2" descr="A picture containing text, font, screenshot, line&#10;&#10;Description automatically generated">
            <a:extLst>
              <a:ext uri="{FF2B5EF4-FFF2-40B4-BE49-F238E27FC236}">
                <a16:creationId xmlns:a16="http://schemas.microsoft.com/office/drawing/2014/main" id="{2AB925B7-FC99-409A-C026-B61CF5ABB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56" y="148839"/>
            <a:ext cx="5669819" cy="24155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2F1080-5F62-E53F-36AC-73354F7A2564}"/>
              </a:ext>
            </a:extLst>
          </p:cNvPr>
          <p:cNvSpPr txBox="1"/>
          <p:nvPr/>
        </p:nvSpPr>
        <p:spPr>
          <a:xfrm>
            <a:off x="268325" y="2750286"/>
            <a:ext cx="11655350" cy="2862322"/>
          </a:xfrm>
          <a:prstGeom prst="rect">
            <a:avLst/>
          </a:prstGeom>
          <a:solidFill>
            <a:srgbClr val="F0F6FA"/>
          </a:solidFill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p =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%&gt;%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filter(country == 'United States', year &gt; 1990) %&gt;%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() +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gdpPercap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geom_point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()</a:t>
            </a:r>
          </a:p>
          <a:p>
            <a:endParaRPr lang="en-US" dirty="0">
              <a:latin typeface="Monaco" pitchFamily="2" charset="77"/>
              <a:cs typeface="Courier New" panose="02070309020205020404" pitchFamily="49" charset="0"/>
            </a:endParaRP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p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p + 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(color = factor(year)) +</a:t>
            </a:r>
          </a:p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  scale_&lt;??&gt;_&lt;??&gt;(values = c('1992' = 'green', '1997' = 'red', '2002' = 'blue', '2007' = 'purple'))</a:t>
            </a:r>
          </a:p>
        </p:txBody>
      </p:sp>
      <p:pic>
        <p:nvPicPr>
          <p:cNvPr id="2" name="Picture 1" descr="A purple head with gears inside&#10;&#10;Description automatically generated with low confidence">
            <a:extLst>
              <a:ext uri="{FF2B5EF4-FFF2-40B4-BE49-F238E27FC236}">
                <a16:creationId xmlns:a16="http://schemas.microsoft.com/office/drawing/2014/main" id="{BCF5F872-B644-48F2-4B3F-8AE38EF1F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875" y="1319993"/>
            <a:ext cx="965200" cy="1066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6A5A4F-DF0C-F8C1-956A-8D78F8FABAAD}"/>
              </a:ext>
            </a:extLst>
          </p:cNvPr>
          <p:cNvSpPr txBox="1"/>
          <p:nvPr/>
        </p:nvSpPr>
        <p:spPr>
          <a:xfrm>
            <a:off x="1221538" y="1349050"/>
            <a:ext cx="47827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can you manually scale the levels of the factor year to plot your own colors?</a:t>
            </a:r>
          </a:p>
        </p:txBody>
      </p:sp>
    </p:spTree>
    <p:extLst>
      <p:ext uri="{BB962C8B-B14F-4D97-AF65-F5344CB8AC3E}">
        <p14:creationId xmlns:p14="http://schemas.microsoft.com/office/powerpoint/2010/main" val="403564406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6EA7E8-8DB6-9D05-F9B4-9552E6B1EDE0}"/>
              </a:ext>
            </a:extLst>
          </p:cNvPr>
          <p:cNvSpPr txBox="1">
            <a:spLocks/>
          </p:cNvSpPr>
          <p:nvPr/>
        </p:nvSpPr>
        <p:spPr>
          <a:xfrm>
            <a:off x="268325" y="230633"/>
            <a:ext cx="11055349" cy="86409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rgbClr val="00274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Some common scales</a:t>
            </a:r>
          </a:p>
        </p:txBody>
      </p:sp>
      <p:pic>
        <p:nvPicPr>
          <p:cNvPr id="4" name="Picture 3" descr="A picture containing text, screenshot, font&#10;&#10;Description automatically generated">
            <a:extLst>
              <a:ext uri="{FF2B5EF4-FFF2-40B4-BE49-F238E27FC236}">
                <a16:creationId xmlns:a16="http://schemas.microsoft.com/office/drawing/2014/main" id="{97A5466A-C4BC-8ACD-F7F6-70A92517F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25" y="1924050"/>
            <a:ext cx="5295900" cy="3009900"/>
          </a:xfrm>
          <a:prstGeom prst="rect">
            <a:avLst/>
          </a:prstGeom>
        </p:spPr>
      </p:pic>
      <p:pic>
        <p:nvPicPr>
          <p:cNvPr id="8" name="Picture 7" descr="A picture containing text, font, screenshot, white&#10;&#10;Description automatically generated">
            <a:extLst>
              <a:ext uri="{FF2B5EF4-FFF2-40B4-BE49-F238E27FC236}">
                <a16:creationId xmlns:a16="http://schemas.microsoft.com/office/drawing/2014/main" id="{55404BAE-B037-2941-B905-880A7F4EF6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674" y="673705"/>
            <a:ext cx="4953000" cy="1384300"/>
          </a:xfrm>
          <a:prstGeom prst="rect">
            <a:avLst/>
          </a:prstGeom>
        </p:spPr>
      </p:pic>
      <p:pic>
        <p:nvPicPr>
          <p:cNvPr id="10" name="Picture 9" descr="A picture containing text, screenshot, font&#10;&#10;Description automatically generated">
            <a:extLst>
              <a:ext uri="{FF2B5EF4-FFF2-40B4-BE49-F238E27FC236}">
                <a16:creationId xmlns:a16="http://schemas.microsoft.com/office/drawing/2014/main" id="{A658B660-AEC9-BCC8-A519-5ECCE055B4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074" y="2639060"/>
            <a:ext cx="5410200" cy="302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04969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6EA7E8-8DB6-9D05-F9B4-9552E6B1EDE0}"/>
              </a:ext>
            </a:extLst>
          </p:cNvPr>
          <p:cNvSpPr txBox="1">
            <a:spLocks/>
          </p:cNvSpPr>
          <p:nvPr/>
        </p:nvSpPr>
        <p:spPr>
          <a:xfrm>
            <a:off x="268325" y="230633"/>
            <a:ext cx="11055349" cy="86409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rgbClr val="00274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Themes</a:t>
            </a:r>
          </a:p>
        </p:txBody>
      </p:sp>
      <p:pic>
        <p:nvPicPr>
          <p:cNvPr id="4" name="Picture 3" descr="A picture containing text, screenshot, font, black and white&#10;&#10;Description automatically generated">
            <a:extLst>
              <a:ext uri="{FF2B5EF4-FFF2-40B4-BE49-F238E27FC236}">
                <a16:creationId xmlns:a16="http://schemas.microsoft.com/office/drawing/2014/main" id="{A44A9B5F-9AD6-C1B9-CB12-035FC0479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25" y="1094725"/>
            <a:ext cx="7772400" cy="4816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70959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B6EA7E8-8DB6-9D05-F9B4-9552E6B1EDE0}"/>
              </a:ext>
            </a:extLst>
          </p:cNvPr>
          <p:cNvSpPr txBox="1">
            <a:spLocks/>
          </p:cNvSpPr>
          <p:nvPr/>
        </p:nvSpPr>
        <p:spPr>
          <a:xfrm>
            <a:off x="268325" y="230633"/>
            <a:ext cx="11055349" cy="86409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rgbClr val="00274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ggsave</a:t>
            </a:r>
            <a:r>
              <a:rPr lang="en-US" dirty="0"/>
              <a:t>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0ABF66-4075-EB41-A493-5D150449C67B}"/>
              </a:ext>
            </a:extLst>
          </p:cNvPr>
          <p:cNvSpPr txBox="1"/>
          <p:nvPr/>
        </p:nvSpPr>
        <p:spPr>
          <a:xfrm>
            <a:off x="191384" y="1400239"/>
            <a:ext cx="11844672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Once you’ve made your masterpiece, use </a:t>
            </a:r>
            <a:r>
              <a:rPr lang="en-US" sz="2400" dirty="0" err="1"/>
              <a:t>ggave</a:t>
            </a:r>
            <a:r>
              <a:rPr lang="en-US" sz="2400" dirty="0"/>
              <a:t>() to save it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Creates file in your current working directory (</a:t>
            </a:r>
            <a:r>
              <a:rPr lang="en-US" sz="2400" dirty="0" err="1"/>
              <a:t>getwd</a:t>
            </a:r>
            <a:r>
              <a:rPr lang="en-US" sz="2400" dirty="0"/>
              <a:t>()/</a:t>
            </a:r>
            <a:r>
              <a:rPr lang="en-US" sz="2400" dirty="0" err="1"/>
              <a:t>setwd</a:t>
            </a:r>
            <a:r>
              <a:rPr lang="en-US" sz="2400" dirty="0"/>
              <a:t>())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Saves last plot printed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Looks at filename to determine type</a:t>
            </a:r>
          </a:p>
          <a:p>
            <a:pPr marL="914400" lvl="1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ggsave</a:t>
            </a:r>
            <a:r>
              <a:rPr lang="en-US" sz="2400" dirty="0"/>
              <a:t>(‘</a:t>
            </a:r>
            <a:r>
              <a:rPr lang="en-US" sz="2400" dirty="0" err="1"/>
              <a:t>plot.pdf</a:t>
            </a:r>
            <a:r>
              <a:rPr lang="en-US" sz="2400" dirty="0"/>
              <a:t>’); </a:t>
            </a:r>
            <a:r>
              <a:rPr lang="en-US" sz="2400" dirty="0" err="1"/>
              <a:t>ggsave</a:t>
            </a:r>
            <a:r>
              <a:rPr lang="en-US" sz="2400" dirty="0"/>
              <a:t>(‘</a:t>
            </a:r>
            <a:r>
              <a:rPr lang="en-US" sz="2400" dirty="0" err="1"/>
              <a:t>plot.jpg</a:t>
            </a:r>
            <a:r>
              <a:rPr lang="en-US" sz="2400" dirty="0"/>
              <a:t>’)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Can also pass plot objects to save any plot:</a:t>
            </a:r>
          </a:p>
        </p:txBody>
      </p:sp>
    </p:spTree>
    <p:extLst>
      <p:ext uri="{BB962C8B-B14F-4D97-AF65-F5344CB8AC3E}">
        <p14:creationId xmlns:p14="http://schemas.microsoft.com/office/powerpoint/2010/main" val="237212051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0683C30-4E27-4A8C-8E9C-F0F53216D422}"/>
              </a:ext>
            </a:extLst>
          </p:cNvPr>
          <p:cNvSpPr txBox="1"/>
          <p:nvPr/>
        </p:nvSpPr>
        <p:spPr>
          <a:xfrm>
            <a:off x="7086600" y="20737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E3158-8D15-9636-C88C-D641DC6BB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5812" y="355761"/>
            <a:ext cx="9144000" cy="864092"/>
          </a:xfrm>
        </p:spPr>
        <p:txBody>
          <a:bodyPr/>
          <a:lstStyle/>
          <a:p>
            <a:r>
              <a:rPr lang="en-US" dirty="0"/>
              <a:t>Syntax Breakdown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CA96B2-40F7-7652-3F5D-00613CC32152}"/>
              </a:ext>
            </a:extLst>
          </p:cNvPr>
          <p:cNvSpPr txBox="1"/>
          <p:nvPr/>
        </p:nvSpPr>
        <p:spPr>
          <a:xfrm>
            <a:off x="318246" y="1382707"/>
            <a:ext cx="1019287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Monaco" pitchFamily="2" charset="77"/>
                <a:cs typeface="Courier New" panose="02070309020205020404" pitchFamily="49" charset="0"/>
              </a:rPr>
              <a:t>ggplot</a:t>
            </a:r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(</a:t>
            </a:r>
            <a:r>
              <a:rPr lang="en-US" sz="2400" dirty="0" err="1">
                <a:latin typeface="Monaco" pitchFamily="2" charset="77"/>
                <a:cs typeface="Courier New" panose="02070309020205020404" pitchFamily="49" charset="0"/>
              </a:rPr>
              <a:t>gapminder</a:t>
            </a:r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) +</a:t>
            </a:r>
          </a:p>
          <a:p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400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(x = </a:t>
            </a:r>
            <a:r>
              <a:rPr lang="en-US" sz="2400" dirty="0" err="1">
                <a:latin typeface="Monaco" pitchFamily="2" charset="77"/>
                <a:cs typeface="Courier New" panose="02070309020205020404" pitchFamily="49" charset="0"/>
              </a:rPr>
              <a:t>gdpPercap</a:t>
            </a:r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,</a:t>
            </a:r>
          </a:p>
          <a:p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      y = </a:t>
            </a:r>
            <a:r>
              <a:rPr lang="en-US" sz="2400" dirty="0" err="1">
                <a:latin typeface="Monaco" pitchFamily="2" charset="77"/>
                <a:cs typeface="Courier New" panose="02070309020205020404" pitchFamily="49" charset="0"/>
              </a:rPr>
              <a:t>lifeExp</a:t>
            </a:r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,</a:t>
            </a:r>
          </a:p>
          <a:p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      color = continent,</a:t>
            </a:r>
          </a:p>
          <a:p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      size = pop) +</a:t>
            </a:r>
          </a:p>
          <a:p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400" dirty="0" err="1">
                <a:latin typeface="Monaco" pitchFamily="2" charset="77"/>
                <a:cs typeface="Courier New" panose="02070309020205020404" pitchFamily="49" charset="0"/>
              </a:rPr>
              <a:t>geom_point</a:t>
            </a:r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(.,</a:t>
            </a:r>
          </a:p>
          <a:p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      stat=STAT, position=POSITION) +</a:t>
            </a:r>
          </a:p>
          <a:p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400" dirty="0" err="1">
                <a:latin typeface="Monaco" pitchFamily="2" charset="77"/>
                <a:cs typeface="Courier New" panose="02070309020205020404" pitchFamily="49" charset="0"/>
              </a:rPr>
              <a:t>facet_wrap</a:t>
            </a:r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(vars(year)) + </a:t>
            </a:r>
          </a:p>
          <a:p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  </a:t>
            </a:r>
            <a:r>
              <a:rPr lang="en-US" sz="2400" dirty="0" err="1">
                <a:latin typeface="Monaco" pitchFamily="2" charset="77"/>
                <a:cs typeface="Courier New" panose="02070309020205020404" pitchFamily="49" charset="0"/>
              </a:rPr>
              <a:t>coord</a:t>
            </a:r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_&lt;&gt;()</a:t>
            </a:r>
          </a:p>
          <a:p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  scale_&lt;&gt;_&lt;&gt;()+ </a:t>
            </a:r>
          </a:p>
          <a:p>
            <a:r>
              <a:rPr lang="en-US" sz="2400" dirty="0">
                <a:latin typeface="Monaco" pitchFamily="2" charset="77"/>
                <a:cs typeface="Courier New" panose="02070309020205020404" pitchFamily="49" charset="0"/>
              </a:rPr>
              <a:t>  theme()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85994DE8-A33B-4121-5F24-66AD75F7D64E}"/>
              </a:ext>
            </a:extLst>
          </p:cNvPr>
          <p:cNvSpPr/>
          <p:nvPr/>
        </p:nvSpPr>
        <p:spPr>
          <a:xfrm>
            <a:off x="4909843" y="1391516"/>
            <a:ext cx="206188" cy="35288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ABC9AF7E-57EF-3543-7E2E-E8639455DB9A}"/>
              </a:ext>
            </a:extLst>
          </p:cNvPr>
          <p:cNvSpPr/>
          <p:nvPr/>
        </p:nvSpPr>
        <p:spPr>
          <a:xfrm>
            <a:off x="5394511" y="1911832"/>
            <a:ext cx="206189" cy="1301304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884D86A1-98F8-5823-5633-7722EBC25BBB}"/>
              </a:ext>
            </a:extLst>
          </p:cNvPr>
          <p:cNvSpPr/>
          <p:nvPr/>
        </p:nvSpPr>
        <p:spPr>
          <a:xfrm>
            <a:off x="7268515" y="3429000"/>
            <a:ext cx="206188" cy="502043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888E2706-DF6B-5DFA-26CF-2007214E6622}"/>
              </a:ext>
            </a:extLst>
          </p:cNvPr>
          <p:cNvSpPr/>
          <p:nvPr/>
        </p:nvSpPr>
        <p:spPr>
          <a:xfrm>
            <a:off x="5795681" y="4039228"/>
            <a:ext cx="206188" cy="35288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314698-E216-67F6-AA74-BD5978E2FCAA}"/>
              </a:ext>
            </a:extLst>
          </p:cNvPr>
          <p:cNvSpPr txBox="1"/>
          <p:nvPr/>
        </p:nvSpPr>
        <p:spPr>
          <a:xfrm>
            <a:off x="5123329" y="13815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Data set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3695CA-E415-AB3C-013D-77273DCD6D97}"/>
              </a:ext>
            </a:extLst>
          </p:cNvPr>
          <p:cNvSpPr txBox="1"/>
          <p:nvPr/>
        </p:nvSpPr>
        <p:spPr>
          <a:xfrm>
            <a:off x="5600700" y="23501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Aesthetics (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aes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)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078DCD-9951-25C1-4593-26144D9EDB9C}"/>
              </a:ext>
            </a:extLst>
          </p:cNvPr>
          <p:cNvSpPr txBox="1"/>
          <p:nvPr/>
        </p:nvSpPr>
        <p:spPr>
          <a:xfrm>
            <a:off x="7463116" y="34953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Geometry (</a:t>
            </a:r>
            <a:r>
              <a:rPr lang="en-US" dirty="0" err="1">
                <a:latin typeface="Monaco" pitchFamily="2" charset="77"/>
                <a:cs typeface="Courier New" panose="02070309020205020404" pitchFamily="49" charset="0"/>
              </a:rPr>
              <a:t>geom</a:t>
            </a:r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_)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9DF306-AFDB-271D-912E-2E18B162293B}"/>
              </a:ext>
            </a:extLst>
          </p:cNvPr>
          <p:cNvSpPr txBox="1"/>
          <p:nvPr/>
        </p:nvSpPr>
        <p:spPr>
          <a:xfrm>
            <a:off x="6001869" y="40477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Faceting</a:t>
            </a:r>
            <a:endParaRPr lang="en-US" dirty="0"/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0BDB2484-50AE-111F-D327-354B7CE69027}"/>
              </a:ext>
            </a:extLst>
          </p:cNvPr>
          <p:cNvSpPr/>
          <p:nvPr/>
        </p:nvSpPr>
        <p:spPr>
          <a:xfrm>
            <a:off x="9776391" y="1369389"/>
            <a:ext cx="251012" cy="2578659"/>
          </a:xfrm>
          <a:prstGeom prst="rightBrac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68563D-3C6D-DE70-75B0-E3339DD51AEF}"/>
              </a:ext>
            </a:extLst>
          </p:cNvPr>
          <p:cNvSpPr txBox="1"/>
          <p:nvPr/>
        </p:nvSpPr>
        <p:spPr>
          <a:xfrm>
            <a:off x="10027403" y="247436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Monaco" pitchFamily="2" charset="77"/>
                <a:cs typeface="Courier New" panose="02070309020205020404" pitchFamily="49" charset="0"/>
              </a:rPr>
              <a:t>Required</a:t>
            </a:r>
            <a:endParaRPr lang="en-US" dirty="0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C8AC41D8-D38B-1A08-2B9B-617ABC7E4ACC}"/>
              </a:ext>
            </a:extLst>
          </p:cNvPr>
          <p:cNvSpPr/>
          <p:nvPr/>
        </p:nvSpPr>
        <p:spPr>
          <a:xfrm>
            <a:off x="5703794" y="4426412"/>
            <a:ext cx="206188" cy="35288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330ACC-BD94-D4F7-C09F-8F24E3605375}"/>
              </a:ext>
            </a:extLst>
          </p:cNvPr>
          <p:cNvSpPr txBox="1"/>
          <p:nvPr/>
        </p:nvSpPr>
        <p:spPr>
          <a:xfrm>
            <a:off x="5909982" y="44349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Coordinate system</a:t>
            </a:r>
            <a:endParaRPr lang="en-US" dirty="0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D7F7549F-FA21-EFE4-F6C0-ED2B090D94E0}"/>
              </a:ext>
            </a:extLst>
          </p:cNvPr>
          <p:cNvSpPr/>
          <p:nvPr/>
        </p:nvSpPr>
        <p:spPr>
          <a:xfrm>
            <a:off x="5497606" y="4779301"/>
            <a:ext cx="206188" cy="35288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2175B3-87DD-1750-0467-E7613DF8F464}"/>
              </a:ext>
            </a:extLst>
          </p:cNvPr>
          <p:cNvSpPr txBox="1"/>
          <p:nvPr/>
        </p:nvSpPr>
        <p:spPr>
          <a:xfrm>
            <a:off x="5703794" y="47878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Scales</a:t>
            </a:r>
            <a:endParaRPr lang="en-US" dirty="0"/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D819529F-9328-0923-339C-91F7DD188C88}"/>
              </a:ext>
            </a:extLst>
          </p:cNvPr>
          <p:cNvSpPr/>
          <p:nvPr/>
        </p:nvSpPr>
        <p:spPr>
          <a:xfrm>
            <a:off x="5795681" y="5083141"/>
            <a:ext cx="206188" cy="35288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371440-3116-54AD-BF14-7B36F62821A6}"/>
              </a:ext>
            </a:extLst>
          </p:cNvPr>
          <p:cNvSpPr txBox="1"/>
          <p:nvPr/>
        </p:nvSpPr>
        <p:spPr>
          <a:xfrm>
            <a:off x="6001869" y="509170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Monaco" pitchFamily="2" charset="77"/>
                <a:cs typeface="Courier New" panose="02070309020205020404" pitchFamily="49" charset="0"/>
              </a:rPr>
              <a:t>Themes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410947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 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 Slide 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itle Slide 4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itle Slide 5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ontent Slide 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Content Slide 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Content Slide 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Content Slide 4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Content Slide 5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Content Slide 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22112</TotalTime>
  <Words>3506</Words>
  <Application>Microsoft Macintosh PowerPoint</Application>
  <PresentationFormat>Widescreen</PresentationFormat>
  <Paragraphs>656</Paragraphs>
  <Slides>68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68</vt:i4>
      </vt:variant>
    </vt:vector>
  </HeadingPairs>
  <TitlesOfParts>
    <vt:vector size="85" baseType="lpstr">
      <vt:lpstr>Arial</vt:lpstr>
      <vt:lpstr>Calibri</vt:lpstr>
      <vt:lpstr>Calibri Light</vt:lpstr>
      <vt:lpstr>Courier New</vt:lpstr>
      <vt:lpstr>Monaco</vt:lpstr>
      <vt:lpstr>SF Pro Text</vt:lpstr>
      <vt:lpstr>System Font Regular</vt:lpstr>
      <vt:lpstr>Title Slide 2</vt:lpstr>
      <vt:lpstr>Title Slide 3</vt:lpstr>
      <vt:lpstr>Title Slide 4</vt:lpstr>
      <vt:lpstr>Title Slide 5</vt:lpstr>
      <vt:lpstr>Content Slide 1</vt:lpstr>
      <vt:lpstr>Content Slide 2</vt:lpstr>
      <vt:lpstr>Content Slide 3</vt:lpstr>
      <vt:lpstr>Content Slide 4</vt:lpstr>
      <vt:lpstr>Content Slide 5</vt:lpstr>
      <vt:lpstr>Content Slide 6</vt:lpstr>
      <vt:lpstr>Data visualization with ggplot2</vt:lpstr>
      <vt:lpstr>About me</vt:lpstr>
      <vt:lpstr>R workshop setup</vt:lpstr>
      <vt:lpstr>Roadmap</vt:lpstr>
      <vt:lpstr>Roadmap</vt:lpstr>
      <vt:lpstr>Tidyverse: dplyr        and ggplot2</vt:lpstr>
      <vt:lpstr>Why plot?</vt:lpstr>
      <vt:lpstr>Why plot?</vt:lpstr>
      <vt:lpstr>PowerPoint Presentation</vt:lpstr>
      <vt:lpstr>Install/library() the package</vt:lpstr>
      <vt:lpstr>Gapminder Data</vt:lpstr>
      <vt:lpstr>Gapminder Data</vt:lpstr>
      <vt:lpstr>Gapminder Data</vt:lpstr>
      <vt:lpstr>Start Plot</vt:lpstr>
      <vt:lpstr>Add x variable</vt:lpstr>
      <vt:lpstr>Add y variable</vt:lpstr>
      <vt:lpstr>Draw points</vt:lpstr>
      <vt:lpstr>Color by variable</vt:lpstr>
      <vt:lpstr>Size by population</vt:lpstr>
      <vt:lpstr>Small plots by year</vt:lpstr>
      <vt:lpstr>Filter years (dplyr)</vt:lpstr>
      <vt:lpstr>Syntax Breakdown</vt:lpstr>
      <vt:lpstr>Aesthetics, aes()</vt:lpstr>
      <vt:lpstr>Aesthetics, aes()</vt:lpstr>
      <vt:lpstr>Aesthetics, aes()</vt:lpstr>
      <vt:lpstr>Aesthetics, aes()</vt:lpstr>
      <vt:lpstr>Aesthetics, common mistakes</vt:lpstr>
      <vt:lpstr>Geometries: geom_&lt;&gt;()</vt:lpstr>
      <vt:lpstr>geom_&lt;&gt;()   Single variable plots</vt:lpstr>
      <vt:lpstr>geom_&lt;&gt;()   Single variable plots</vt:lpstr>
      <vt:lpstr>geom_&lt;&gt;()   Single variable plots by group</vt:lpstr>
      <vt:lpstr>geom_&lt;&gt;()   Single variable plots by group</vt:lpstr>
      <vt:lpstr>geom_&lt;&gt;()   Single variable plots by group</vt:lpstr>
      <vt:lpstr>geom_&lt;&gt;()   Single variable plots by group</vt:lpstr>
      <vt:lpstr>geom_&lt;&gt;()   Single variable plots by group</vt:lpstr>
      <vt:lpstr>PowerPoint Presentation</vt:lpstr>
      <vt:lpstr>geom_&lt;&gt;()   Change across time</vt:lpstr>
      <vt:lpstr>geom_&lt;&gt;()   Change across time</vt:lpstr>
      <vt:lpstr>geom_&lt;&gt;()   Change across time</vt:lpstr>
      <vt:lpstr>geom_&lt;&gt;()   Change across time</vt:lpstr>
      <vt:lpstr>geom_&lt;&gt;()   Change across time</vt:lpstr>
      <vt:lpstr>geom_&lt;&gt;()   Change across time</vt:lpstr>
      <vt:lpstr>geom_&lt;&gt;()   Change across time</vt:lpstr>
      <vt:lpstr>Bar charts (for counts)</vt:lpstr>
      <vt:lpstr>Tidy data</vt:lpstr>
      <vt:lpstr>Tidy data for column chart</vt:lpstr>
      <vt:lpstr>Column charts (for multiple groups)</vt:lpstr>
      <vt:lpstr>Column charts (for multiple groups)</vt:lpstr>
      <vt:lpstr>Column charts (for multiple groups)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Syntax Breakdown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Microsoft Office User</dc:creator>
  <cp:lastModifiedBy>Kleinsasser, Mike</cp:lastModifiedBy>
  <cp:revision>209</cp:revision>
  <dcterms:created xsi:type="dcterms:W3CDTF">2019-11-08T16:47:49Z</dcterms:created>
  <dcterms:modified xsi:type="dcterms:W3CDTF">2023-08-24T21:07:11Z</dcterms:modified>
</cp:coreProperties>
</file>