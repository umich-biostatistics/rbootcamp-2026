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68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40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Open by framing Day 2 as a practical survival skill: errors are not failure; they are information. Emphasize that the project file now contains a separate student template for this block.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Tell students that this is a guided block, not a race. The goal is to practice a process they can reuse when their own code breaks.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Ask students to resist the urge to rewrite the whole analysis. The slide should become a repeated reference during every lab bug.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slide as a live translation exercise. Read an error, name the likely issue, and name the first check. Avoid solving too quickly.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Demonstrate how a missing parenthesis prevents later errors from being meaningful. After the syntax fix, show that BMI is not a column name and use names(health_raw).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Recommended flow: assign pairs, have them choose 4-5 bugs first, then debrief as a group. Remind students to write the fix in the template rather than editing the broken example directly.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Before moving to functions, have students name one inspection command they trust more now than at the start of the lab.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Connect functions to student pain points: copy-paste analysis can hide mistakes. A function makes the changing pieces explicit.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Teach functions as a refactoring move rather than a syntax trick. Students should begin with working code, identify what changes, then name arguments and test the returned object. Keep the examples small and concrete.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curly-curly briefly as the tidyverse way to let students pass unquoted column names. Keep the focus on arguments, defaults, and returned values.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Have students run the working repeated code first, then fill in the function scaffold in the Quarto template. Emphasize the test calls.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is the capstone task in the student template. Keep the statistics lightweight; the goal is that students can read the model call and verify the data used.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Tell students that model-reading means knowing the outcome, predictors, data object, and family. Do not linger on coefficient interpretation beyond what the group is ready for.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slide anchors responsible AI use. Emphasize minimal reproducible examples, fake data, and local verification before trusting a suggestion.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as a quick exit check or poll. If time is short, ask students to complete the checklist in the Quarto file after the session.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Closing slide. Encourage students to keep the template open as a reference while they work on their first course assignments.
[Sources]
- User-provided Day 2 workshop outline in the chat.
- Provided PowerPoint: Rbootcamp-2026-Debugging-and-Functions.pptx.
- Provided R project: Rbootcamp-2026.zip.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7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3195"/>
            <a:ext cx="2880360" cy="600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45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B05"/>
                </a:solidFill>
              </a:rPr>
              <a:t>2026 R BOOTCAMP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2057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+ Functions with AI + Tools for AI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907792"/>
            <a:ext cx="3840480" cy="0"/>
          </a:xfrm>
          <a:prstGeom prst="line">
            <a:avLst/>
          </a:prstGeom>
          <a:noFill/>
          <a:ln w="27940">
            <a:solidFill>
              <a:srgbClr val="FFCB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227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Day 2 guided workshop • 10:30am-12:00pm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064240" y="64465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C7"/>
                </a:solidFill>
              </a:rPr>
              <a:t>1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58368" y="37307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 skills + reproducible habits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59893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C7D6"/>
                </a:solidFill>
              </a:rPr>
              <a:t>Incoming graduate students • University of Michigan Department of Biostatistics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3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795527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block covers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664208"/>
            <a:ext cx="914400" cy="658368"/>
          </a:xfrm>
          <a:prstGeom prst="rect">
            <a:avLst/>
          </a:prstGeom>
          <a:solidFill>
            <a:srgbClr val="FFCB05"/>
          </a:solidFill>
          <a:ln>
            <a:solidFill>
              <a:srgbClr val="FFCB0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74C"/>
                </a:solidFill>
              </a:rPr>
              <a:t>10 min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09928" y="1664208"/>
            <a:ext cx="813816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74C"/>
                </a:solidFill>
              </a:rPr>
              <a:t>Workflow
</a:t>
            </a:r>
            <a:r>
              <a:rPr lang="en-US" sz="1400" dirty="0">
                <a:solidFill>
                  <a:srgbClr val="1F2933"/>
                </a:solidFill>
              </a:rPr>
              <a:t>Reproduce, read, isolate, inspect, test, verify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2487168"/>
            <a:ext cx="914400" cy="658368"/>
          </a:xfrm>
          <a:prstGeom prst="rect">
            <a:avLst/>
          </a:prstGeom>
          <a:solidFill>
            <a:srgbClr val="FFCB05"/>
          </a:solidFill>
          <a:ln>
            <a:solidFill>
              <a:srgbClr val="FFCB0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74C"/>
                </a:solidFill>
              </a:rPr>
              <a:t>25 min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09928" y="2487168"/>
            <a:ext cx="8138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74C"/>
                </a:solidFill>
              </a:rPr>
              <a:t>Broken-code lab
</a:t>
            </a:r>
            <a:r>
              <a:rPr lang="en-US" sz="1400" dirty="0">
                <a:solidFill>
                  <a:srgbClr val="1F2933"/>
                </a:solidFill>
              </a:rPr>
              <a:t>Syntax, objects, packages, types, paths, grouping, plots, models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3310128"/>
            <a:ext cx="914400" cy="658368"/>
          </a:xfrm>
          <a:prstGeom prst="rect">
            <a:avLst/>
          </a:prstGeom>
          <a:solidFill>
            <a:srgbClr val="FFCB05"/>
          </a:solidFill>
          <a:ln>
            <a:solidFill>
              <a:srgbClr val="FFCB0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74C"/>
                </a:solidFill>
              </a:rPr>
              <a:t>20 min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09928" y="3310128"/>
            <a:ext cx="813816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74C"/>
                </a:solidFill>
              </a:rPr>
              <a:t>Functions
</a:t>
            </a:r>
            <a:r>
              <a:rPr lang="en-US" sz="1400" dirty="0">
                <a:solidFill>
                  <a:srgbClr val="1F2933"/>
                </a:solidFill>
              </a:rPr>
              <a:t>Arguments, defaults, returned values, refactoring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4133088"/>
            <a:ext cx="914400" cy="658368"/>
          </a:xfrm>
          <a:prstGeom prst="rect">
            <a:avLst/>
          </a:prstGeom>
          <a:solidFill>
            <a:srgbClr val="FFCB05"/>
          </a:solidFill>
          <a:ln>
            <a:solidFill>
              <a:srgbClr val="FFCB0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74C"/>
                </a:solidFill>
              </a:rPr>
              <a:t>25 min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09928" y="4133088"/>
            <a:ext cx="8138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74C"/>
                </a:solidFill>
              </a:rPr>
              <a:t>Mini-task
</a:t>
            </a:r>
            <a:r>
              <a:rPr lang="en-US" sz="1400" dirty="0">
                <a:solidFill>
                  <a:srgbClr val="1F2933"/>
                </a:solidFill>
              </a:rPr>
              <a:t>Clean, plot, and read a simple lm/glm call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" y="4956048"/>
            <a:ext cx="914400" cy="658368"/>
          </a:xfrm>
          <a:prstGeom prst="rect">
            <a:avLst/>
          </a:prstGeom>
          <a:solidFill>
            <a:srgbClr val="FFCB05"/>
          </a:solidFill>
          <a:ln>
            <a:solidFill>
              <a:srgbClr val="FFCB0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74C"/>
                </a:solidFill>
              </a:rPr>
              <a:t>10 min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09928" y="4956048"/>
            <a:ext cx="813816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74C"/>
                </a:solidFill>
              </a:rPr>
              <a:t>Check + resources
</a:t>
            </a:r>
            <a:r>
              <a:rPr lang="en-US" sz="1400" dirty="0">
                <a:solidFill>
                  <a:srgbClr val="1F2933"/>
                </a:solidFill>
              </a:rPr>
              <a:t>Competency check and follow-up materials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8368" y="5983942"/>
            <a:ext cx="7680960" cy="329184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    Files: analysis/02_debugging_functions_template.qmd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4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debugging ladder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1664208"/>
            <a:ext cx="352044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1  Reproduce
   </a:t>
            </a: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you make the error happen again?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43400" y="1664208"/>
            <a:ext cx="352044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2  Read
   </a:t>
            </a: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error literally say?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65008" y="1664208"/>
            <a:ext cx="352044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3  Isolate
   </a:t>
            </a: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line first fails?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792" y="2788920"/>
            <a:ext cx="352044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4  Inspect
   </a:t>
            </a: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object names, types, and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dimensions?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43400" y="2788920"/>
            <a:ext cx="352044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5  Test
   </a:t>
            </a: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assumption was false?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65008" y="2788920"/>
            <a:ext cx="352044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6  Verify
   </a:t>
            </a: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fix solve the original problem?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1792" y="4572000"/>
            <a:ext cx="6858000" cy="475488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	AI can help at steps 2-5, but students still run the checks.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9808" y="5257800"/>
            <a:ext cx="8046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Read the exact message out loud.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Inspect one object before editing code.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Rerun the smallest possible section.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5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29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R errors are clues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1700784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   object not found
     </a:t>
            </a:r>
            <a:r>
              <a:rPr lang="en-US" sz="1600" dirty="0">
                <a:solidFill>
                  <a:srgbClr val="1F2933"/>
                </a:solidFill>
              </a:rPr>
              <a:t>Name mismatch or object not created
     </a:t>
            </a:r>
            <a:r>
              <a:rPr lang="en-US" sz="1600" dirty="0">
                <a:solidFill>
                  <a:srgbClr val="5E6A71"/>
                </a:solidFill>
              </a:rPr>
              <a:t>First check: ls(); names(data)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" y="2706624"/>
            <a:ext cx="525780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   could not find function
     </a:t>
            </a:r>
            <a:r>
              <a:rPr lang="en-US" sz="1600" dirty="0">
                <a:solidFill>
                  <a:srgbClr val="1F2933"/>
                </a:solidFill>
              </a:rPr>
              <a:t>Package not loaded or typo
     </a:t>
            </a:r>
            <a:r>
              <a:rPr lang="en-US" sz="1600" dirty="0">
                <a:solidFill>
                  <a:srgbClr val="5E6A71"/>
                </a:solidFill>
              </a:rPr>
              <a:t>First check: library(pkg); ?function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3712464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   unexpected symbol
     </a:t>
            </a:r>
            <a:r>
              <a:rPr lang="en-US" sz="1600" dirty="0">
                <a:solidFill>
                  <a:srgbClr val="1F2933"/>
                </a:solidFill>
              </a:rPr>
              <a:t>Syntax problem before the error
     </a:t>
            </a:r>
            <a:r>
              <a:rPr lang="en-US" sz="1600" dirty="0">
                <a:solidFill>
                  <a:srgbClr val="5E6A71"/>
                </a:solidFill>
              </a:rPr>
              <a:t>First check: Check commas, parentheses, quotes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63640" y="1700784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   replacement has ... rows
     </a:t>
            </a:r>
            <a:r>
              <a:rPr lang="en-US" sz="1600" dirty="0">
                <a:solidFill>
                  <a:srgbClr val="1F2933"/>
                </a:solidFill>
              </a:rPr>
              <a:t>Length or dimension mismatch
     </a:t>
            </a:r>
            <a:r>
              <a:rPr lang="en-US" sz="1600" dirty="0">
                <a:solidFill>
                  <a:srgbClr val="5E6A71"/>
                </a:solidFill>
              </a:rPr>
              <a:t>First check: nrow(); length(); str()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63640" y="2706624"/>
            <a:ext cx="5257800" cy="841248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   non-numeric argument
     </a:t>
            </a:r>
            <a:r>
              <a:rPr lang="en-US" sz="1600" dirty="0">
                <a:solidFill>
                  <a:srgbClr val="1F2933"/>
                </a:solidFill>
              </a:rPr>
              <a:t>Wrong type
     </a:t>
            </a:r>
            <a:r>
              <a:rPr lang="en-US" sz="1600" dirty="0">
                <a:solidFill>
                  <a:srgbClr val="5E6A71"/>
                </a:solidFill>
              </a:rPr>
              <a:t>First check: class(); glimpse()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63640" y="3712464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   aesthetics are not valid
     </a:t>
            </a:r>
            <a:r>
              <a:rPr lang="en-US" sz="1600" dirty="0">
                <a:solidFill>
                  <a:srgbClr val="1F2933"/>
                </a:solidFill>
              </a:rPr>
              <a:t>Plot variable missing or wrong length
     </a:t>
            </a:r>
            <a:r>
              <a:rPr lang="en-US" sz="1600" dirty="0">
                <a:solidFill>
                  <a:srgbClr val="5E6A71"/>
                </a:solidFill>
              </a:rPr>
              <a:t>First check: names(data); count()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6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2579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demo: isolate the first failing line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700785"/>
            <a:ext cx="6420164" cy="2344090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health_raw &lt;- read_csv("data/bootcamp_health.csv"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health_raw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summarize(mean_bmi = mean(BMI, na.rm = TRUE))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04443" y="1782699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74C"/>
                </a:solidFill>
              </a:rPr>
              <a:t>Do not fix everything at once.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87323" y="2423160"/>
            <a:ext cx="45262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Run the first line only.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Read whether the error is syntax or object-related.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Inspect names only after the file imports.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Make one small edit, then rerun.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" y="4937760"/>
            <a:ext cx="7863840" cy="475488"/>
          </a:xfrm>
          <a:prstGeom prst="rect">
            <a:avLst/>
          </a:prstGeom>
          <a:solidFill>
            <a:srgbClr val="EAF6EA"/>
          </a:solidFill>
          <a:ln w="10160">
            <a:solidFill>
              <a:srgbClr val="7DB77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	Verification is part of the fix: run the line that failed again.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7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29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Broken-code lab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799" y="1719072"/>
            <a:ext cx="6855312" cy="2261256"/>
          </a:xfrm>
          <a:prstGeom prst="rect">
            <a:avLst/>
          </a:prstGeom>
          <a:solidFill>
            <a:srgbClr val="F8FAFC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Open: </a:t>
            </a:r>
            <a:r>
              <a:rPr lang="en-US" sz="16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analysis/02_debugging_functions_template.qmd</a:t>
            </a:r>
            <a:endParaRPr lang="en-US" sz="1600" b="1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one bug at a time.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 not source the whole file.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 the error, line, inspection step, fix, and 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verification.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68235" y="1719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74C"/>
                </a:solidFill>
              </a:rPr>
              <a:t>Coverage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68235" y="2203704"/>
            <a:ext cx="42976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syntax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missing objects/packages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incorrect types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paths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grouping mistakes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plotting errors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model formula errors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40876" y="4617951"/>
            <a:ext cx="8285205" cy="1172889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  </a:t>
            </a:r>
            <a:r>
              <a:rPr lang="en-US" sz="1600" b="1" u="sng" dirty="0">
                <a:solidFill>
                  <a:srgbClr val="1F2933"/>
                </a:solidFill>
              </a:rPr>
              <a:t>Pair programming activity</a:t>
            </a:r>
            <a:r>
              <a:rPr lang="en-US" sz="1600" b="1" dirty="0">
                <a:solidFill>
                  <a:srgbClr val="1F2933"/>
                </a:solidFill>
              </a:rPr>
              <a:t>: designate one driver, one navigator. The navigator reads the   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  debugging rule, the driver runs the checks. Use the list of debugging rules to guide you.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8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29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Debrief: fix the bug, keep the lesson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74C"/>
                </a:solidFill>
              </a:rPr>
              <a:t>After each bug, ask: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493776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did the error say?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object did we inspect?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assumption was wrong?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How did we verify the fix?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would we do faster next time?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1755648"/>
            <a:ext cx="4800600" cy="2606040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Example verification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names(health)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class(health$visit_date)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sum(is.na(health$systolic_bp))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Then rerun the line that failed.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4983480"/>
            <a:ext cx="7589520" cy="457200"/>
          </a:xfrm>
          <a:prstGeom prst="rect">
            <a:avLst/>
          </a:prstGeom>
          <a:solidFill>
            <a:srgbClr val="EAF6EA"/>
          </a:solidFill>
          <a:ln w="10160">
            <a:solidFill>
              <a:srgbClr val="7DB77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	NOTE: repeated fixes become candidates for functions.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9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565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functions?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7007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74C"/>
                </a:solidFill>
              </a:rPr>
              <a:t>Use a function when repeated code differs by only a few ingredients.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" y="2262769"/>
            <a:ext cx="10607040" cy="2499753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 |&gt; group_by(cohort) |&gt; summarize(mean_bmi = mean(bmi, na.rm = TRUE))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marL="0" indent="0">
              <a:buNone/>
            </a:pPr>
            <a:endParaRPr lang="en-US" sz="1600" dirty="0">
              <a:solidFill>
                <a:srgbClr val="1F293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 |&gt; group_by(sex)    |&gt; summarize(mean_bmi = mean(bmi, na.rm = TRUE))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marL="0" indent="0">
              <a:buNone/>
            </a:pPr>
            <a:endParaRPr lang="en-US" sz="1600" dirty="0">
              <a:solidFill>
                <a:srgbClr val="1F293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 |&gt; group_by(cohort) |&gt; summarize(mean_sbp = mean(systolic_bp, na.rm = TRUE))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515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74C"/>
                </a:solidFill>
              </a:rPr>
              <a:t>Before writing the function: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731864" y="5078587"/>
            <a:ext cx="38404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Circle what changes.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Name the arguments.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Decide the return value.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Test with the simplest call.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1136" y="6272022"/>
            <a:ext cx="7315200" cy="420624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	Debugging skill carries over: isolate, inspect, test, verify.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10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write a function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71190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74C"/>
                </a:solidFill>
              </a:rPr>
              <a:t>A beginner-friendly recipe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20040" y="2350009"/>
            <a:ext cx="45262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Start with one working example.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Circle the pieces that change.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Name those pieces as arguments.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Wrap the code in function(...).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Return one object you can inspect.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Test with two small calls.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32120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74C"/>
                </a:solidFill>
              </a:rPr>
              <a:t>1  Working code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888671" y="2172812"/>
            <a:ext cx="4023360" cy="3313569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filter(!is.na(bmi))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n(),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 = mean(bmi),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 = sd(bmi)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49640" y="1682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74C"/>
                </a:solidFill>
              </a:rPr>
              <a:t>2  Function version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82465" y="2172811"/>
            <a:ext cx="4023360" cy="3313539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summarize_variable &lt;- function(data, var)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filter(!is.na({{ var }}))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 = n(),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mean = mean({{ var }}),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sd = sd({{ var }})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5769864"/>
            <a:ext cx="9418320" cy="457200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	Test it: summarize_variable(health, bmi) then summarize_variable(health, systolic_bp)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3667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 anatomy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673351"/>
            <a:ext cx="6519672" cy="4109593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summarize_numeric_by_group &lt;- function(data,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group_col,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value_col,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na_rm = TRUE)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group_by({{ group_col }})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 = n(),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mean = mean({{ value_col }}, na.rm = na_rm),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missing = sum(is.na({{ value_col }})),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.groups = "drop"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33735" y="1711897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74C"/>
                </a:solidFill>
              </a:rPr>
              <a:t>Read it out loud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72310" y="2225205"/>
            <a:ext cx="4389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data: the dataset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group_col: how to split rows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value_col: what to summarize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na_rm: default missing-value behavior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return value: a tibble</a:t>
            </a:r>
            <a:endParaRPr lang="en-US" sz="16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0535046-716D-9AE5-0A46-285250BA8602}"/>
              </a:ext>
            </a:extLst>
          </p:cNvPr>
          <p:cNvSpPr/>
          <p:nvPr/>
        </p:nvSpPr>
        <p:spPr>
          <a:xfrm>
            <a:off x="810602" y="5976944"/>
            <a:ext cx="10299357" cy="615877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	AI checkpoint: ask UM-GPT to make the summary names dynamic to the input variable names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12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2579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 repeated analysis code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Before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652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74C"/>
                </a:solidFill>
              </a:rPr>
              <a:t>After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029968"/>
            <a:ext cx="4846320" cy="2788920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group_by(cohort) |&gt;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n(),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mean_bmi = mean(bmi, na.rm = TRUE),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sd_bmi = sd(bmi, na.rm = TRUE),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.groups = "drop"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28231" y="2139313"/>
            <a:ext cx="5310687" cy="1468839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summarize_numeric_by_group(health, cohort, bmi)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summarize_numeric_by_group(health, smoking_status, systolic_bp)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3749040"/>
            <a:ext cx="4114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Same logic.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Fewer places to make a typo.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Easier to test on a second column.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5349240"/>
            <a:ext cx="6537960" cy="420624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lvl="1"/>
            <a:r>
              <a:rPr lang="en-US" sz="1600" b="1" dirty="0">
                <a:solidFill>
                  <a:srgbClr val="1F2933"/>
                </a:solidFill>
              </a:rPr>
              <a:t>Function test: one simple call, then one different call.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13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3701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mini-task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194560" y="2560320"/>
            <a:ext cx="320040" cy="0"/>
          </a:xfrm>
          <a:prstGeom prst="line">
            <a:avLst/>
          </a:prstGeom>
          <a:noFill/>
          <a:ln w="15240">
            <a:solidFill>
              <a:srgbClr val="5E6A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14800" y="2560320"/>
            <a:ext cx="320040" cy="0"/>
          </a:xfrm>
          <a:prstGeom prst="line">
            <a:avLst/>
          </a:prstGeom>
          <a:noFill/>
          <a:ln w="15240">
            <a:solidFill>
              <a:srgbClr val="5E6A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035040" y="2560320"/>
            <a:ext cx="320040" cy="0"/>
          </a:xfrm>
          <a:prstGeom prst="line">
            <a:avLst/>
          </a:prstGeom>
          <a:noFill/>
          <a:ln w="15240">
            <a:solidFill>
              <a:srgbClr val="5E6A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955280" y="2560320"/>
            <a:ext cx="320040" cy="0"/>
          </a:xfrm>
          <a:prstGeom prst="line">
            <a:avLst/>
          </a:prstGeom>
          <a:noFill/>
          <a:ln w="15240">
            <a:solidFill>
              <a:srgbClr val="5E6A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875520" y="2560320"/>
            <a:ext cx="320040" cy="0"/>
          </a:xfrm>
          <a:prstGeom prst="line">
            <a:avLst/>
          </a:prstGeom>
          <a:noFill/>
          <a:ln w="15240">
            <a:solidFill>
              <a:srgbClr val="5E6A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2148840"/>
            <a:ext cx="16002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74C"/>
                </a:solidFill>
              </a:rPr>
              <a:t>1  Import
</a:t>
            </a:r>
            <a:r>
              <a:rPr lang="en-US" sz="1600" dirty="0">
                <a:solidFill>
                  <a:srgbClr val="1F2933"/>
                </a:solidFill>
              </a:rPr>
              <a:t>read_csv()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14600" y="2148840"/>
            <a:ext cx="1600200" cy="822960"/>
          </a:xfrm>
          <a:prstGeom prst="rect">
            <a:avLst/>
          </a:prstGeom>
          <a:solidFill>
            <a:srgbClr val="F4F6F8"/>
          </a:solidFill>
          <a:ln w="889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74C"/>
                </a:solidFill>
              </a:rPr>
              <a:t>2  Clean
</a:t>
            </a:r>
            <a:r>
              <a:rPr lang="en-US" sz="1600" dirty="0">
                <a:solidFill>
                  <a:srgbClr val="1F2933"/>
                </a:solidFill>
              </a:rPr>
              <a:t>mutate(), filter()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34840" y="2148840"/>
            <a:ext cx="16002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74C"/>
                </a:solidFill>
              </a:rPr>
              <a:t>3  Summarize
</a:t>
            </a:r>
            <a:r>
              <a:rPr lang="en-US" sz="1600" dirty="0">
                <a:solidFill>
                  <a:srgbClr val="1F2933"/>
                </a:solidFill>
              </a:rPr>
              <a:t>function call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55080" y="2148840"/>
            <a:ext cx="1600200" cy="822960"/>
          </a:xfrm>
          <a:prstGeom prst="rect">
            <a:avLst/>
          </a:prstGeom>
          <a:solidFill>
            <a:srgbClr val="F4F6F8"/>
          </a:solidFill>
          <a:ln w="889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74C"/>
                </a:solidFill>
              </a:rPr>
              <a:t>4  Plot
</a:t>
            </a:r>
            <a:r>
              <a:rPr lang="en-US" sz="1600" dirty="0">
                <a:solidFill>
                  <a:srgbClr val="1F2933"/>
                </a:solidFill>
              </a:rPr>
              <a:t>ggplot()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75320" y="2148840"/>
            <a:ext cx="16002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74C"/>
                </a:solidFill>
              </a:rPr>
              <a:t>5  Model
</a:t>
            </a:r>
            <a:r>
              <a:rPr lang="en-US" sz="1600" dirty="0">
                <a:solidFill>
                  <a:srgbClr val="1F2933"/>
                </a:solidFill>
              </a:rPr>
              <a:t>lm()/glm()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195560" y="2148840"/>
            <a:ext cx="1600200" cy="822960"/>
          </a:xfrm>
          <a:prstGeom prst="rect">
            <a:avLst/>
          </a:prstGeom>
          <a:solidFill>
            <a:srgbClr val="F4F6F8"/>
          </a:solidFill>
          <a:ln w="889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74C"/>
                </a:solidFill>
              </a:rPr>
              <a:t>6  Explain
</a:t>
            </a:r>
            <a:r>
              <a:rPr lang="en-US" sz="1600" dirty="0">
                <a:solidFill>
                  <a:srgbClr val="1F2933"/>
                </a:solidFill>
              </a:rPr>
              <a:t>verify + write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3627932"/>
            <a:ext cx="9189720" cy="701853"/>
          </a:xfrm>
          <a:prstGeom prst="rect">
            <a:avLst/>
          </a:prstGeom>
          <a:solidFill>
            <a:srgbClr val="EAF6EA"/>
          </a:solidFill>
          <a:ln w="10160">
            <a:solidFill>
              <a:srgbClr val="7DB77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	Check-in: stop after each step and verify one object. Ask AI for help if 	you get stuck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" y="4736592"/>
            <a:ext cx="80467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high_sbp and diabetes_yes.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Plot BMI vs systolic blood pressure.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Read the model formula before reading coefficients.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14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22579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lm() and glm() calls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5166360" cy="1645920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fit_sbp &lt;- lm(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systolic_bp ~ age + bmi + smoking_status,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= health_day2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5166360" cy="1828800"/>
          </a:xfrm>
          <a:prstGeom prst="rect">
            <a:avLst/>
          </a:prstGeom>
          <a:solidFill>
            <a:srgbClr val="F7F8FA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fit_diabetes &lt;- glm(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diabetes_yes ~ age + bmi + smoking_status,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= health_day2,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family = binomial()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74C"/>
                </a:solidFill>
              </a:rPr>
              <a:t>Students should answer: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37960" y="2212848"/>
            <a:ext cx="44348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is the outcome?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are the predictors?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Which dataset was used?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How many rows entered the model?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What changed from lm() to glm()?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15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1305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documentation, search, and AI responsibly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74C"/>
                </a:solidFill>
              </a:rPr>
              <a:t>Weak prompt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5800" y="2048256"/>
            <a:ext cx="4343400" cy="658368"/>
          </a:xfrm>
          <a:prstGeom prst="rect">
            <a:avLst/>
          </a:prstGeom>
          <a:solidFill>
            <a:srgbClr val="FFF6F6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Fix my R code.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74C"/>
                </a:solidFill>
              </a:rPr>
              <a:t>Better prompt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5799" y="3428999"/>
            <a:ext cx="7852720" cy="1481311"/>
          </a:xfrm>
          <a:prstGeom prst="rect">
            <a:avLst/>
          </a:prstGeom>
          <a:solidFill>
            <a:srgbClr val="F8FAFC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am a beginning R user. This line gives this error.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Please explain the error, name the first object to inspect,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suggest the smallest fix. Do not rewrite   everything.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5349239"/>
            <a:ext cx="9418320" cy="695697"/>
          </a:xfrm>
          <a:prstGeom prst="rect">
            <a:avLst/>
          </a:prstGeom>
          <a:solidFill>
            <a:srgbClr val="FFF6CF"/>
          </a:solidFill>
          <a:ln w="10160">
            <a:solidFill>
              <a:srgbClr val="FFCB05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lvl="1"/>
            <a:r>
              <a:rPr lang="en-US" sz="1600" b="1" dirty="0">
                <a:solidFill>
                  <a:srgbClr val="1F2933"/>
                </a:solidFill>
              </a:rPr>
              <a:t>Do not paste protected data, credentials, or sensitive unpublished data into third-party tools.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5354"/>
            <a:ext cx="201168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2286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0027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DEBUGGING + FUNCTIONS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11228832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691"/>
                </a:solidFill>
              </a:rPr>
              <a:t>16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81381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7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Competency check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1700784"/>
            <a:ext cx="55778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Import data/bootcamp_health.csv from the project root.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the debugging ladder on one broken code example.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Fix one object-name or column-name error.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Fix one type error.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Explain one grouping mistake.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Write and test one small function.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Make one plot and fit one simple lm() call.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Explain how an AI/search suggestion was verified.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12280" y="1700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74C"/>
                </a:solidFill>
              </a:rPr>
              <a:t>Follow-up resources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12280" y="2240279"/>
            <a:ext cx="4736592" cy="2047503"/>
          </a:xfrm>
          <a:prstGeom prst="rect">
            <a:avLst/>
          </a:prstGeom>
          <a:solidFill>
            <a:srgbClr val="F8FAFC"/>
          </a:solidFill>
          <a:ln w="10160">
            <a:solidFill>
              <a:srgbClr val="D9DFE7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references/debugging_ladder.md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references/dplyr_ggplot_reference.md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references/ai_prompt_cards.md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scripts/03_broken_code_lab.R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scripts/04_functions_lab.R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scripts/05_mini_analysis.R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5532120"/>
            <a:ext cx="7934274" cy="512062"/>
          </a:xfrm>
          <a:prstGeom prst="rect">
            <a:avLst/>
          </a:prstGeom>
          <a:solidFill>
            <a:srgbClr val="EAF6EA"/>
          </a:solidFill>
          <a:ln w="10160">
            <a:solidFill>
              <a:srgbClr val="7DB77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lvl="1"/>
            <a:r>
              <a:rPr lang="en-US" sz="1600" b="1" dirty="0">
                <a:solidFill>
                  <a:srgbClr val="1F2933"/>
                </a:solidFill>
              </a:rPr>
              <a:t>Exit question: What is the first thing you will check next time your code fails?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7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4635"/>
            <a:ext cx="2880360" cy="600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163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B05"/>
                </a:solidFill>
              </a:rPr>
              <a:t>Thank you for joining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40080" y="327355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Welcome to Biostatistics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064240" y="64465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FB4C7"/>
                </a:solidFill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2888</Words>
  <Application>Microsoft Macintosh PowerPoint</Application>
  <PresentationFormat>Widescreen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Michigan Department of Biostatistics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Debugging + Functions</dc:title>
  <dc:subject>R Bootcamp 2026 Day 2 debugging and reusable code</dc:subject>
  <dc:creator>UM Biostatistics</dc:creator>
  <cp:lastModifiedBy>Kleinsasser, Mike</cp:lastModifiedBy>
  <cp:revision>27</cp:revision>
  <dcterms:created xsi:type="dcterms:W3CDTF">2026-08-19T17:15:21Z</dcterms:created>
  <dcterms:modified xsi:type="dcterms:W3CDTF">2026-08-20T15:16:54Z</dcterms:modified>
</cp:coreProperties>
</file>