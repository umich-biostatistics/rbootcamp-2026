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60" r:id="rId5"/>
    <p:sldId id="261" r:id="rId6"/>
    <p:sldId id="262" r:id="rId7"/>
    <p:sldId id="264" r:id="rId8"/>
    <p:sldId id="265" r:id="rId9"/>
    <p:sldId id="266" r:id="rId10"/>
    <p:sldId id="267" r:id="rId11"/>
    <p:sldId id="268" r:id="rId12"/>
    <p:sldId id="272" r:id="rId13"/>
    <p:sldId id="273" r:id="rId14"/>
    <p:sldId id="275" r:id="rId15"/>
    <p:sldId id="276" r:id="rId16"/>
    <p:sldId id="277" r:id="rId17"/>
    <p:sldId id="29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9592"/>
    <p:restoredTop sz="94610"/>
  </p:normalViewPr>
  <p:slideViewPr>
    <p:cSldViewPr snapToGrid="0" snapToObjects="1">
      <p:cViewPr varScale="1">
        <p:scale>
          <a:sx n="96" d="100"/>
          <a:sy n="96" d="100"/>
        </p:scale>
        <p:origin x="168" y="1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Low confidence</c:v>
                </c:pt>
              </c:strCache>
            </c:strRef>
          </c:tx>
          <c:spPr>
            <a:solidFill>
              <a:srgbClr val="FFCB05"/>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Debugging</c:v>
                </c:pt>
                <c:pt idx="1">
                  <c:v>Functions</c:v>
                </c:pt>
                <c:pt idx="2">
                  <c:v>Read code</c:v>
                </c:pt>
                <c:pt idx="3">
                  <c:v>Wrangle</c:v>
                </c:pt>
                <c:pt idx="4">
                  <c:v>Plot</c:v>
                </c:pt>
                <c:pt idx="5">
                  <c:v>Models</c:v>
                </c:pt>
                <c:pt idx="6">
                  <c:v>Import</c:v>
                </c:pt>
              </c:strCache>
            </c:strRef>
          </c:cat>
          <c:val>
            <c:numRef>
              <c:f>Sheet1!$B$2:$B$8</c:f>
              <c:numCache>
                <c:formatCode>General</c:formatCode>
                <c:ptCount val="7"/>
                <c:pt idx="0">
                  <c:v>12</c:v>
                </c:pt>
                <c:pt idx="1">
                  <c:v>11</c:v>
                </c:pt>
                <c:pt idx="2">
                  <c:v>8</c:v>
                </c:pt>
                <c:pt idx="3">
                  <c:v>7</c:v>
                </c:pt>
                <c:pt idx="4">
                  <c:v>6</c:v>
                </c:pt>
                <c:pt idx="5">
                  <c:v>6</c:v>
                </c:pt>
                <c:pt idx="6">
                  <c:v>4</c:v>
                </c:pt>
              </c:numCache>
            </c:numRef>
          </c:val>
          <c:extLst>
            <c:ext xmlns:c16="http://schemas.microsoft.com/office/drawing/2014/chart" uri="{C3380CC4-5D6E-409C-BE32-E72D297353CC}">
              <c16:uniqueId val="{00000000-5F5B-1441-8F2C-CEA989C0FE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16"/>
          <c:min val="0"/>
        </c:scaling>
        <c:delete val="0"/>
        <c:axPos val="l"/>
        <c:majorGridlines>
          <c:spPr>
            <a:ln w="12700" cap="flat">
              <a:solidFill>
                <a:srgbClr val="D8E0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8673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2026 bootcamp. Emphasize that AI is not a separate add-on; it appears throughout the learning workflow.
[Sources]
- Provided 2025 PowerPoint: R-Bootcamp-2025.pptx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justify the new workshop structure. The survey summary says the bootcamp should focus on practical problem-solving rather than statistics theory.
[Sources]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Aligns the original 2025 learning goals with the 2026 survey emphasis on practical labs, debugging, functions, and responsible AI.
[Sources]
- Provided 2025 PowerPoint: R-Bootcamp-2025.pptx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 Cloud documentation says users can create a new project from an existing Git repository using New Project from Git Repo. The advanced GitHub docs note that the HTTPS URL is used for GitHub imports and credentials are not persisted across projects.
[Sources]
- https://docs.posit.co/cloud/guide/projects.html
- https://docs.posit.co/cloud/guide/advanced/index.html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generated workshop project. It implements the survey recommendation to provide starter and completed Quarto files, a debugging ladder, function/dplyr/ggplot references, and saved materials.
[Sources]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appears in the generated project files and can be used directly in slides or live coding. The dataset is synthetic and intentionally includes missingness and values to inspect.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safe AI habits before any live prompt. Mention that institutional policies and data classifications still apply.
[Sources]
- https://its.umich.edu/computing/ai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for Day 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2025 reproducibility slides on R scripts, RMarkdown, projects, clear folders, and README files.
[Sources]
- Provided 2025 PowerPoint: R-Bootcamp-2025.pptx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2025 RStudio interface and scripts-versus-console material.
[Sources]
- Provided 2025 PowerPoint: R-Bootcamp-2025.pptx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 comments emphasized reading others’ R code and annotated reference code. This slide sets up those habits.
[Sources]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bridge from import to dplyr. The survey indicated data import was comparatively comfortable but data wrangling was less comfortable.
[Sources]
- Provided document: 2026-survey-summary.docx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2025 dplyr slides that covered filter, select, mutate, arrange, summarize, group_by, and pipes.
[Sources]
- Provided 2025 PowerPoint: R-Bootcamp-2025.pptx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the 2025 ggplot2 overview and grammar of graphics slides.
[Sources]
- Provided 2025 PowerPoint: R-Bootcamp-2025.pptx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Expands the 2025 ggplot2 content with a build-and-check process.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a safe way to use AI for plotting without sharing sensitive raw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ED369-8E6A-8947-AE4F-C69DB72F8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515C2-2410-F7E1-8755-B9D5D6097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A5CFB8-C02F-2CEF-B104-083847B026A5}"/>
              </a:ext>
            </a:extLst>
          </p:cNvPr>
          <p:cNvSpPr>
            <a:spLocks noGrp="1"/>
          </p:cNvSpPr>
          <p:nvPr>
            <p:ph type="body" idx="1"/>
          </p:nvPr>
        </p:nvSpPr>
        <p:spPr/>
        <p:txBody>
          <a:bodyPr/>
          <a:lstStyle/>
          <a:p>
            <a:r>
              <a:rPr lang="en-US" dirty="0"/>
              <a:t>Title slide for the 2026 bootcamp. Emphasize that AI is not a separate add-on; it appears throughout the learning workflow.
[Sources]
- Provided 2025 PowerPoint: R-Bootcamp-2025.pptx
- Provided document: 2026-survey-summary.docx</a:t>
            </a:r>
          </a:p>
        </p:txBody>
      </p:sp>
      <p:sp>
        <p:nvSpPr>
          <p:cNvPr id="4" name="Slide Number Placeholder 3">
            <a:extLst>
              <a:ext uri="{FF2B5EF4-FFF2-40B4-BE49-F238E27FC236}">
                <a16:creationId xmlns:a16="http://schemas.microsoft.com/office/drawing/2014/main" id="{B6557038-B302-85CB-A735-C62C02C4873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22592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74C"/>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777240" y="502920"/>
            <a:ext cx="4389120" cy="914400"/>
          </a:xfrm>
          <a:prstGeom prst="rect">
            <a:avLst/>
          </a:prstGeom>
        </p:spPr>
      </p:pic>
      <p:sp>
        <p:nvSpPr>
          <p:cNvPr id="3" name="Text 0"/>
          <p:cNvSpPr/>
          <p:nvPr/>
        </p:nvSpPr>
        <p:spPr>
          <a:xfrm>
            <a:off x="658368" y="1874520"/>
            <a:ext cx="7863840" cy="658368"/>
          </a:xfrm>
          <a:prstGeom prst="rect">
            <a:avLst/>
          </a:prstGeom>
          <a:noFill/>
          <a:ln/>
        </p:spPr>
        <p:txBody>
          <a:bodyPr wrap="square" lIns="0" tIns="0" rIns="0" bIns="0" rtlCol="0" anchor="ct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Introduction to R</a:t>
            </a:r>
            <a:endParaRPr lang="en-US" sz="3600" dirty="0"/>
          </a:p>
        </p:txBody>
      </p:sp>
      <p:sp>
        <p:nvSpPr>
          <p:cNvPr id="4" name="Text 1"/>
          <p:cNvSpPr/>
          <p:nvPr/>
        </p:nvSpPr>
        <p:spPr>
          <a:xfrm>
            <a:off x="694944" y="2587752"/>
            <a:ext cx="7680960" cy="384048"/>
          </a:xfrm>
          <a:prstGeom prst="rect">
            <a:avLst/>
          </a:prstGeom>
          <a:noFill/>
          <a:ln/>
        </p:spPr>
        <p:txBody>
          <a:bodyPr wrap="square" lIns="0" tIns="0" rIns="0" bIns="0" rtlCol="0" anchor="ctr"/>
          <a:lstStyle/>
          <a:p>
            <a:pPr marL="0" indent="0">
              <a:buNone/>
            </a:pPr>
            <a:r>
              <a:rPr lang="en-US" sz="1800" b="1" dirty="0">
                <a:solidFill>
                  <a:srgbClr val="FFCB05"/>
                </a:solidFill>
              </a:rPr>
              <a:t>2026 </a:t>
            </a:r>
            <a:r>
              <a:rPr lang="en-US" b="1" dirty="0">
                <a:solidFill>
                  <a:srgbClr val="FFCB05"/>
                </a:solidFill>
              </a:rPr>
              <a:t>R </a:t>
            </a:r>
            <a:r>
              <a:rPr lang="en-US" sz="1800" b="1" dirty="0">
                <a:solidFill>
                  <a:srgbClr val="FFCB05"/>
                </a:solidFill>
              </a:rPr>
              <a:t>Bootcamp</a:t>
            </a:r>
            <a:endParaRPr lang="en-US" sz="1800" dirty="0"/>
          </a:p>
        </p:txBody>
      </p:sp>
      <p:sp>
        <p:nvSpPr>
          <p:cNvPr id="5" name="Text 2"/>
          <p:cNvSpPr/>
          <p:nvPr/>
        </p:nvSpPr>
        <p:spPr>
          <a:xfrm>
            <a:off x="713232" y="3218688"/>
            <a:ext cx="7863840" cy="347472"/>
          </a:xfrm>
          <a:prstGeom prst="rect">
            <a:avLst/>
          </a:prstGeom>
          <a:noFill/>
          <a:ln/>
        </p:spPr>
        <p:txBody>
          <a:bodyPr wrap="square" lIns="0" tIns="0" rIns="0" bIns="0" rtlCol="0" anchor="ctr"/>
          <a:lstStyle/>
          <a:p>
            <a:pPr marL="0" indent="0">
              <a:buNone/>
            </a:pPr>
            <a:r>
              <a:rPr lang="en-US" sz="1450" dirty="0">
                <a:solidFill>
                  <a:srgbClr val="DDE7F0"/>
                </a:solidFill>
              </a:rPr>
              <a:t>Incoming graduate students • University of Michigan Department of Biostatistics</a:t>
            </a:r>
            <a:endParaRPr lang="en-US" sz="1450" dirty="0"/>
          </a:p>
        </p:txBody>
      </p:sp>
      <p:sp>
        <p:nvSpPr>
          <p:cNvPr id="6" name="Text 3"/>
          <p:cNvSpPr/>
          <p:nvPr/>
        </p:nvSpPr>
        <p:spPr>
          <a:xfrm>
            <a:off x="713232" y="3749040"/>
            <a:ext cx="7589520" cy="402336"/>
          </a:xfrm>
          <a:prstGeom prst="rect">
            <a:avLst/>
          </a:prstGeom>
          <a:noFill/>
          <a:ln/>
        </p:spPr>
        <p:txBody>
          <a:bodyPr wrap="square" lIns="0" tIns="0" rIns="0" bIns="0" rtlCol="0" anchor="ctr"/>
          <a:lstStyle/>
          <a:p>
            <a:pPr marL="0" indent="0">
              <a:buNone/>
            </a:pPr>
            <a:r>
              <a:rPr lang="en-US" sz="1700" b="1" dirty="0">
                <a:solidFill>
                  <a:srgbClr val="FFFFFF"/>
                </a:solidFill>
              </a:rPr>
              <a:t>R skills + reproducible habits (writing and debugging functions) + AI resources</a:t>
            </a:r>
            <a:endParaRPr lang="en-US" sz="1700" dirty="0"/>
          </a:p>
        </p:txBody>
      </p:sp>
      <p:sp>
        <p:nvSpPr>
          <p:cNvPr id="8" name="Text 5"/>
          <p:cNvSpPr/>
          <p:nvPr/>
        </p:nvSpPr>
        <p:spPr>
          <a:xfrm>
            <a:off x="9281160" y="1188720"/>
            <a:ext cx="1371600" cy="914400"/>
          </a:xfrm>
          <a:prstGeom prst="rect">
            <a:avLst/>
          </a:prstGeom>
          <a:noFill/>
          <a:ln/>
        </p:spPr>
        <p:txBody>
          <a:bodyPr wrap="square" lIns="0" tIns="0" rIns="0" bIns="0" rtlCol="0" anchor="ctr"/>
          <a:lstStyle/>
          <a:p>
            <a:pPr marL="0" indent="0" algn="ctr">
              <a:buNone/>
            </a:pPr>
            <a:r>
              <a:rPr lang="en-US" sz="5600" b="1" dirty="0">
                <a:solidFill>
                  <a:srgbClr val="FFCB05"/>
                </a:solidFill>
              </a:rPr>
              <a:t>R</a:t>
            </a:r>
            <a:endParaRPr lang="en-US" sz="5600" dirty="0"/>
          </a:p>
        </p:txBody>
      </p:sp>
      <p:sp>
        <p:nvSpPr>
          <p:cNvPr id="11" name="Shape 8"/>
          <p:cNvSpPr/>
          <p:nvPr/>
        </p:nvSpPr>
        <p:spPr>
          <a:xfrm>
            <a:off x="8686800" y="868680"/>
            <a:ext cx="2926080" cy="4023360"/>
          </a:xfrm>
          <a:prstGeom prst="arc">
            <a:avLst/>
          </a:prstGeom>
          <a:noFill/>
          <a:ln w="50800">
            <a:solidFill>
              <a:srgbClr val="335C81">
                <a:alpha val="75000"/>
              </a:srgbClr>
            </a:solidFill>
            <a:prstDash val="solid"/>
          </a:ln>
        </p:spPr>
        <p:txBody>
          <a:bodyPr/>
          <a:lstStyle/>
          <a:p>
            <a:endParaRPr lang="en-US"/>
          </a:p>
        </p:txBody>
      </p:sp>
      <p:sp>
        <p:nvSpPr>
          <p:cNvPr id="12" name="Text 9"/>
          <p:cNvSpPr/>
          <p:nvPr/>
        </p:nvSpPr>
        <p:spPr>
          <a:xfrm>
            <a:off x="731520" y="6080760"/>
            <a:ext cx="3840480" cy="274320"/>
          </a:xfrm>
          <a:prstGeom prst="rect">
            <a:avLst/>
          </a:prstGeom>
          <a:noFill/>
          <a:ln/>
        </p:spPr>
        <p:txBody>
          <a:bodyPr wrap="square" lIns="0" tIns="0" rIns="0" bIns="0" rtlCol="0" anchor="ctr"/>
          <a:lstStyle/>
          <a:p>
            <a:pPr marL="0" indent="0">
              <a:buNone/>
            </a:pPr>
            <a:r>
              <a:rPr lang="en-US" sz="1100" dirty="0">
                <a:solidFill>
                  <a:srgbClr val="DDE7F0"/>
                </a:solidFill>
              </a:rPr>
              <a:t>Mike Kleinsasser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WHY CHANGE THE BOOTCAMP?</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a:t>
            </a:r>
            <a:endParaRPr lang="en-US" sz="750" dirty="0"/>
          </a:p>
        </p:txBody>
      </p:sp>
      <p:sp>
        <p:nvSpPr>
          <p:cNvPr id="6" name="Text 3"/>
          <p:cNvSpPr/>
          <p:nvPr/>
        </p:nvSpPr>
        <p:spPr>
          <a:xfrm>
            <a:off x="445169" y="1245749"/>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2026 survey takeaway: more practical R confidence</a:t>
            </a:r>
            <a:endParaRPr lang="en-US" sz="2900" dirty="0"/>
          </a:p>
        </p:txBody>
      </p:sp>
      <p:graphicFrame>
        <p:nvGraphicFramePr>
          <p:cNvPr id="8" name="Chart 0"/>
          <p:cNvGraphicFramePr/>
          <p:nvPr/>
        </p:nvGraphicFramePr>
        <p:xfrm>
          <a:off x="640080" y="2240280"/>
          <a:ext cx="6446520" cy="352044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7571232" y="3195588"/>
            <a:ext cx="384048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Students want
  </a:t>
            </a:r>
            <a:r>
              <a:rPr lang="en-US" sz="1600" dirty="0">
                <a:solidFill>
                  <a:srgbClr val="101820"/>
                </a:solidFill>
                <a:latin typeface="Aptos" pitchFamily="34" charset="0"/>
                <a:ea typeface="Aptos" pitchFamily="34" charset="-122"/>
                <a:cs typeface="Aptos" pitchFamily="34" charset="-120"/>
              </a:rPr>
              <a:t>More guided labs, broken-code practice,   </a:t>
            </a:r>
          </a:p>
          <a:p>
            <a:pPr marL="0" indent="0">
              <a:buNone/>
            </a:pPr>
            <a:r>
              <a:rPr lang="en-US" sz="1600" dirty="0">
                <a:solidFill>
                  <a:srgbClr val="101820"/>
                </a:solidFill>
                <a:latin typeface="Aptos" pitchFamily="34" charset="0"/>
                <a:ea typeface="Aptos" pitchFamily="34" charset="-122"/>
                <a:cs typeface="Aptos" pitchFamily="34" charset="-120"/>
              </a:rPr>
              <a:t>  annotated reference code, and AI practice.</a:t>
            </a:r>
            <a:endParaRPr lang="en-US" sz="1600" dirty="0"/>
          </a:p>
        </p:txBody>
      </p:sp>
      <p:sp>
        <p:nvSpPr>
          <p:cNvPr id="11" name="Text 7"/>
          <p:cNvSpPr/>
          <p:nvPr/>
        </p:nvSpPr>
        <p:spPr>
          <a:xfrm>
            <a:off x="658368" y="5870448"/>
            <a:ext cx="3017520" cy="201168"/>
          </a:xfrm>
          <a:prstGeom prst="rect">
            <a:avLst/>
          </a:prstGeom>
          <a:noFill/>
          <a:ln/>
        </p:spPr>
        <p:txBody>
          <a:bodyPr wrap="square" lIns="0" tIns="0" rIns="0" bIns="0" rtlCol="0" anchor="ctr"/>
          <a:lstStyle/>
          <a:p>
            <a:pPr marL="0" indent="0">
              <a:buNone/>
            </a:pPr>
            <a:r>
              <a:rPr lang="en-US" sz="1050" dirty="0">
                <a:solidFill>
                  <a:srgbClr val="6B7280"/>
                </a:solidFill>
              </a:rPr>
              <a:t>n = 16 respondents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LEARNING GOALS</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2</a:t>
            </a:r>
            <a:endParaRPr lang="en-US" sz="750" dirty="0"/>
          </a:p>
        </p:txBody>
      </p:sp>
      <p:sp>
        <p:nvSpPr>
          <p:cNvPr id="6" name="Text 3"/>
          <p:cNvSpPr/>
          <p:nvPr/>
        </p:nvSpPr>
        <p:spPr>
          <a:xfrm>
            <a:off x="548640" y="122986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By the end, you should be able to…</a:t>
            </a:r>
            <a:endParaRPr lang="en-US" sz="2900" dirty="0"/>
          </a:p>
        </p:txBody>
      </p:sp>
      <p:sp>
        <p:nvSpPr>
          <p:cNvPr id="8" name="Text 5"/>
          <p:cNvSpPr/>
          <p:nvPr/>
        </p:nvSpPr>
        <p:spPr>
          <a:xfrm>
            <a:off x="640080" y="201168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Navigate
  </a:t>
            </a:r>
            <a:r>
              <a:rPr lang="en-US" sz="1600" dirty="0">
                <a:solidFill>
                  <a:srgbClr val="101820"/>
                </a:solidFill>
                <a:latin typeface="Aptos" pitchFamily="34" charset="0"/>
                <a:ea typeface="Aptos" pitchFamily="34" charset="-122"/>
                <a:cs typeface="Aptos" pitchFamily="34" charset="-120"/>
              </a:rPr>
              <a:t>Use RStudio projects, scripts, </a:t>
            </a:r>
          </a:p>
          <a:p>
            <a:pPr marL="0" indent="0">
              <a:buNone/>
            </a:pPr>
            <a:r>
              <a:rPr lang="en-US" sz="1600" dirty="0">
                <a:solidFill>
                  <a:srgbClr val="101820"/>
                </a:solidFill>
                <a:latin typeface="Aptos" pitchFamily="34" charset="0"/>
                <a:ea typeface="Aptos" pitchFamily="34" charset="-122"/>
                <a:cs typeface="Aptos" pitchFamily="34" charset="-120"/>
              </a:rPr>
              <a:t>  Console, files, plots, and help.</a:t>
            </a:r>
            <a:endParaRPr lang="en-US" sz="1600" dirty="0"/>
          </a:p>
        </p:txBody>
      </p:sp>
      <p:sp>
        <p:nvSpPr>
          <p:cNvPr id="9" name="Text 6"/>
          <p:cNvSpPr/>
          <p:nvPr/>
        </p:nvSpPr>
        <p:spPr>
          <a:xfrm>
            <a:off x="4343400" y="201168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Wrangle
  </a:t>
            </a:r>
            <a:r>
              <a:rPr lang="en-US" sz="1600" dirty="0">
                <a:solidFill>
                  <a:srgbClr val="101820"/>
                </a:solidFill>
                <a:latin typeface="Aptos" pitchFamily="34" charset="0"/>
                <a:ea typeface="Aptos" pitchFamily="34" charset="-122"/>
                <a:cs typeface="Aptos" pitchFamily="34" charset="-120"/>
              </a:rPr>
              <a:t>Import, inspect, clean, reshape, </a:t>
            </a:r>
          </a:p>
          <a:p>
            <a:pPr marL="0" indent="0">
              <a:buNone/>
            </a:pPr>
            <a:r>
              <a:rPr lang="en-US" sz="1600" dirty="0">
                <a:solidFill>
                  <a:srgbClr val="101820"/>
                </a:solidFill>
                <a:latin typeface="Aptos" pitchFamily="34" charset="0"/>
                <a:ea typeface="Aptos" pitchFamily="34" charset="-122"/>
                <a:cs typeface="Aptos" pitchFamily="34" charset="-120"/>
              </a:rPr>
              <a:t>  and summarize realistic data.</a:t>
            </a:r>
            <a:endParaRPr lang="en-US" sz="1600" dirty="0"/>
          </a:p>
        </p:txBody>
      </p:sp>
      <p:sp>
        <p:nvSpPr>
          <p:cNvPr id="10" name="Text 7"/>
          <p:cNvSpPr/>
          <p:nvPr/>
        </p:nvSpPr>
        <p:spPr>
          <a:xfrm>
            <a:off x="8046720" y="201168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Visualize
  </a:t>
            </a:r>
            <a:r>
              <a:rPr lang="en-US" sz="1600" dirty="0">
                <a:solidFill>
                  <a:srgbClr val="101820"/>
                </a:solidFill>
                <a:latin typeface="Aptos" pitchFamily="34" charset="0"/>
                <a:ea typeface="Aptos" pitchFamily="34" charset="-122"/>
                <a:cs typeface="Aptos" pitchFamily="34" charset="-120"/>
              </a:rPr>
              <a:t>Build ggplot graphics from data → </a:t>
            </a:r>
          </a:p>
          <a:p>
            <a:pPr marL="0" indent="0">
              <a:buNone/>
            </a:pPr>
            <a:r>
              <a:rPr lang="en-US" sz="1600" dirty="0">
                <a:solidFill>
                  <a:srgbClr val="101820"/>
                </a:solidFill>
                <a:latin typeface="Aptos" pitchFamily="34" charset="0"/>
                <a:ea typeface="Aptos" pitchFamily="34" charset="-122"/>
                <a:cs typeface="Aptos" pitchFamily="34" charset="-120"/>
              </a:rPr>
              <a:t>  mapping → geometry → labels.</a:t>
            </a:r>
            <a:endParaRPr lang="en-US" sz="1600" dirty="0"/>
          </a:p>
        </p:txBody>
      </p:sp>
      <p:sp>
        <p:nvSpPr>
          <p:cNvPr id="11" name="Text 8"/>
          <p:cNvSpPr/>
          <p:nvPr/>
        </p:nvSpPr>
        <p:spPr>
          <a:xfrm>
            <a:off x="640080" y="388620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Debug
  </a:t>
            </a:r>
            <a:r>
              <a:rPr lang="en-US" sz="1600" dirty="0">
                <a:solidFill>
                  <a:srgbClr val="101820"/>
                </a:solidFill>
                <a:latin typeface="Aptos" pitchFamily="34" charset="0"/>
                <a:ea typeface="Aptos" pitchFamily="34" charset="-122"/>
                <a:cs typeface="Aptos" pitchFamily="34" charset="-120"/>
              </a:rPr>
              <a:t>Read errors, inspect objects, isolate </a:t>
            </a:r>
          </a:p>
          <a:p>
            <a:pPr marL="0" indent="0">
              <a:buNone/>
            </a:pPr>
            <a:r>
              <a:rPr lang="en-US" sz="1600" dirty="0">
                <a:solidFill>
                  <a:srgbClr val="101820"/>
                </a:solidFill>
                <a:latin typeface="Aptos" pitchFamily="34" charset="0"/>
                <a:ea typeface="Aptos" pitchFamily="34" charset="-122"/>
                <a:cs typeface="Aptos" pitchFamily="34" charset="-120"/>
              </a:rPr>
              <a:t>  the failing line, and verify fixes.</a:t>
            </a:r>
            <a:endParaRPr lang="en-US" sz="1600" dirty="0"/>
          </a:p>
        </p:txBody>
      </p:sp>
      <p:sp>
        <p:nvSpPr>
          <p:cNvPr id="12" name="Text 9"/>
          <p:cNvSpPr/>
          <p:nvPr/>
        </p:nvSpPr>
        <p:spPr>
          <a:xfrm>
            <a:off x="4343400" y="3886200"/>
            <a:ext cx="3246120" cy="123444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Write functions (with AI)
  </a:t>
            </a:r>
            <a:r>
              <a:rPr lang="en-US" sz="1600" dirty="0">
                <a:solidFill>
                  <a:srgbClr val="101820"/>
                </a:solidFill>
                <a:latin typeface="Aptos" pitchFamily="34" charset="0"/>
                <a:ea typeface="Aptos" pitchFamily="34" charset="-122"/>
                <a:cs typeface="Aptos" pitchFamily="34" charset="-120"/>
              </a:rPr>
              <a:t>Turn repeated code into small, </a:t>
            </a:r>
          </a:p>
          <a:p>
            <a:pPr marL="0" indent="0">
              <a:buNone/>
            </a:pPr>
            <a:r>
              <a:rPr lang="en-US" sz="1600" dirty="0">
                <a:solidFill>
                  <a:srgbClr val="101820"/>
                </a:solidFill>
                <a:latin typeface="Aptos" pitchFamily="34" charset="0"/>
                <a:ea typeface="Aptos" pitchFamily="34" charset="-122"/>
                <a:cs typeface="Aptos" pitchFamily="34" charset="-120"/>
              </a:rPr>
              <a:t>  readable functions.</a:t>
            </a:r>
            <a:endParaRPr lang="en-US" sz="1600" dirty="0"/>
          </a:p>
        </p:txBody>
      </p:sp>
      <p:sp>
        <p:nvSpPr>
          <p:cNvPr id="13" name="Text 10"/>
          <p:cNvSpPr/>
          <p:nvPr/>
        </p:nvSpPr>
        <p:spPr>
          <a:xfrm>
            <a:off x="8046720" y="3886200"/>
            <a:ext cx="3246120" cy="1234440"/>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Use AI well
  </a:t>
            </a:r>
            <a:r>
              <a:rPr lang="en-US" sz="1600" dirty="0">
                <a:solidFill>
                  <a:srgbClr val="101820"/>
                </a:solidFill>
                <a:latin typeface="Aptos" pitchFamily="34" charset="0"/>
                <a:ea typeface="Aptos" pitchFamily="34" charset="-122"/>
                <a:cs typeface="Aptos" pitchFamily="34" charset="-120"/>
              </a:rPr>
              <a:t>Ask focused questions, protect </a:t>
            </a:r>
          </a:p>
          <a:p>
            <a:pPr marL="0" indent="0">
              <a:buNone/>
            </a:pPr>
            <a:r>
              <a:rPr lang="en-US" sz="1600" dirty="0">
                <a:solidFill>
                  <a:srgbClr val="101820"/>
                </a:solidFill>
                <a:latin typeface="Aptos" pitchFamily="34" charset="0"/>
                <a:ea typeface="Aptos" pitchFamily="34" charset="-122"/>
                <a:cs typeface="Aptos" pitchFamily="34" charset="-120"/>
              </a:rPr>
              <a:t>  data, run code, and verify results.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POSIT CLOUD</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4</a:t>
            </a:r>
            <a:endParaRPr lang="en-US" sz="750" dirty="0"/>
          </a:p>
        </p:txBody>
      </p:sp>
      <p:sp>
        <p:nvSpPr>
          <p:cNvPr id="6" name="Text 3"/>
          <p:cNvSpPr/>
          <p:nvPr/>
        </p:nvSpPr>
        <p:spPr>
          <a:xfrm>
            <a:off x="676656" y="120700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Project set-up: GitHub → Posit Cloud</a:t>
            </a:r>
            <a:endParaRPr lang="en-US" sz="2900" dirty="0"/>
          </a:p>
        </p:txBody>
      </p:sp>
      <p:sp>
        <p:nvSpPr>
          <p:cNvPr id="8" name="Text 5"/>
          <p:cNvSpPr/>
          <p:nvPr/>
        </p:nvSpPr>
        <p:spPr>
          <a:xfrm>
            <a:off x="777240" y="3578192"/>
            <a:ext cx="2331720" cy="14173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1. Course repo
  </a:t>
            </a:r>
            <a:r>
              <a:rPr lang="en-US" sz="1600" dirty="0">
                <a:solidFill>
                  <a:srgbClr val="101820"/>
                </a:solidFill>
                <a:latin typeface="Aptos" pitchFamily="34" charset="0"/>
                <a:ea typeface="Aptos" pitchFamily="34" charset="-122"/>
                <a:cs typeface="Aptos" pitchFamily="34" charset="-120"/>
              </a:rPr>
              <a:t>Copy GitHub URL.</a:t>
            </a:r>
            <a:endParaRPr lang="en-US" sz="1600" dirty="0"/>
          </a:p>
        </p:txBody>
      </p:sp>
      <p:sp>
        <p:nvSpPr>
          <p:cNvPr id="9" name="Shape 6"/>
          <p:cNvSpPr/>
          <p:nvPr/>
        </p:nvSpPr>
        <p:spPr>
          <a:xfrm>
            <a:off x="3108960" y="4263992"/>
            <a:ext cx="448056" cy="0"/>
          </a:xfrm>
          <a:prstGeom prst="line">
            <a:avLst/>
          </a:prstGeom>
          <a:noFill/>
          <a:ln w="25400">
            <a:solidFill>
              <a:srgbClr val="00274C"/>
            </a:solidFill>
            <a:prstDash val="solid"/>
            <a:headEnd type="none"/>
            <a:tailEnd type="triangle"/>
          </a:ln>
        </p:spPr>
        <p:txBody>
          <a:bodyPr/>
          <a:lstStyle/>
          <a:p>
            <a:endParaRPr lang="en-US"/>
          </a:p>
        </p:txBody>
      </p:sp>
      <p:sp>
        <p:nvSpPr>
          <p:cNvPr id="10" name="Text 7"/>
          <p:cNvSpPr/>
          <p:nvPr/>
        </p:nvSpPr>
        <p:spPr>
          <a:xfrm>
            <a:off x="3520440" y="3578192"/>
            <a:ext cx="2331720" cy="1417320"/>
          </a:xfrm>
          <a:prstGeom prst="rect">
            <a:avLst/>
          </a:prstGeom>
          <a:solidFill>
            <a:srgbClr val="FFF8DC"/>
          </a:solidFill>
          <a:ln w="12700">
            <a:solidFill>
              <a:srgbClr val="FFCB05"/>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2. Posit Cloud
  </a:t>
            </a:r>
            <a:r>
              <a:rPr lang="en-US" sz="1600" dirty="0">
                <a:solidFill>
                  <a:srgbClr val="101820"/>
                </a:solidFill>
                <a:latin typeface="Aptos" pitchFamily="34" charset="0"/>
                <a:ea typeface="Aptos" pitchFamily="34" charset="-122"/>
                <a:cs typeface="Aptos" pitchFamily="34" charset="-120"/>
              </a:rPr>
              <a:t>New Project → New </a:t>
            </a:r>
          </a:p>
          <a:p>
            <a:pPr marL="0" indent="0">
              <a:buNone/>
            </a:pPr>
            <a:r>
              <a:rPr lang="en-US" sz="1600" dirty="0">
                <a:solidFill>
                  <a:srgbClr val="101820"/>
                </a:solidFill>
                <a:latin typeface="Aptos" pitchFamily="34" charset="0"/>
                <a:ea typeface="Aptos" pitchFamily="34" charset="-122"/>
                <a:cs typeface="Aptos" pitchFamily="34" charset="-120"/>
              </a:rPr>
              <a:t>  Project from Git   </a:t>
            </a:r>
          </a:p>
          <a:p>
            <a:pPr marL="0" indent="0">
              <a:buNone/>
            </a:pPr>
            <a:r>
              <a:rPr lang="en-US" sz="1600" dirty="0">
                <a:solidFill>
                  <a:srgbClr val="101820"/>
                </a:solidFill>
                <a:latin typeface="Aptos" pitchFamily="34" charset="0"/>
                <a:ea typeface="Aptos" pitchFamily="34" charset="-122"/>
                <a:cs typeface="Aptos" pitchFamily="34" charset="-120"/>
              </a:rPr>
              <a:t>  Repository.</a:t>
            </a:r>
            <a:endParaRPr lang="en-US" sz="1600" dirty="0"/>
          </a:p>
        </p:txBody>
      </p:sp>
      <p:sp>
        <p:nvSpPr>
          <p:cNvPr id="11" name="Shape 8"/>
          <p:cNvSpPr/>
          <p:nvPr/>
        </p:nvSpPr>
        <p:spPr>
          <a:xfrm>
            <a:off x="5852160" y="4263992"/>
            <a:ext cx="448056" cy="0"/>
          </a:xfrm>
          <a:prstGeom prst="line">
            <a:avLst/>
          </a:prstGeom>
          <a:noFill/>
          <a:ln w="25400">
            <a:solidFill>
              <a:srgbClr val="00274C"/>
            </a:solidFill>
            <a:prstDash val="solid"/>
            <a:headEnd type="none"/>
            <a:tailEnd type="triangle"/>
          </a:ln>
        </p:spPr>
        <p:txBody>
          <a:bodyPr/>
          <a:lstStyle/>
          <a:p>
            <a:endParaRPr lang="en-US"/>
          </a:p>
        </p:txBody>
      </p:sp>
      <p:sp>
        <p:nvSpPr>
          <p:cNvPr id="12" name="Text 9"/>
          <p:cNvSpPr/>
          <p:nvPr/>
        </p:nvSpPr>
        <p:spPr>
          <a:xfrm>
            <a:off x="6263640" y="3578192"/>
            <a:ext cx="2331720" cy="14173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3. RStudio Project
  </a:t>
            </a:r>
            <a:r>
              <a:rPr lang="en-US" sz="1600" dirty="0">
                <a:solidFill>
                  <a:srgbClr val="101820"/>
                </a:solidFill>
                <a:latin typeface="Aptos" pitchFamily="34" charset="0"/>
                <a:ea typeface="Aptos" pitchFamily="34" charset="-122"/>
                <a:cs typeface="Aptos" pitchFamily="34" charset="-120"/>
              </a:rPr>
              <a:t>Cloud opens the source </a:t>
            </a:r>
          </a:p>
          <a:p>
            <a:pPr marL="0" indent="0">
              <a:buNone/>
            </a:pPr>
            <a:r>
              <a:rPr lang="en-US" sz="1600" dirty="0">
                <a:solidFill>
                  <a:srgbClr val="101820"/>
                </a:solidFill>
                <a:latin typeface="Aptos" pitchFamily="34" charset="0"/>
                <a:ea typeface="Aptos" pitchFamily="34" charset="-122"/>
                <a:cs typeface="Aptos" pitchFamily="34" charset="-120"/>
              </a:rPr>
              <a:t>  project for everyone.</a:t>
            </a:r>
            <a:endParaRPr lang="en-US" sz="1600" dirty="0"/>
          </a:p>
        </p:txBody>
      </p:sp>
      <p:sp>
        <p:nvSpPr>
          <p:cNvPr id="13" name="Shape 10"/>
          <p:cNvSpPr/>
          <p:nvPr/>
        </p:nvSpPr>
        <p:spPr>
          <a:xfrm>
            <a:off x="7480273" y="5012356"/>
            <a:ext cx="424474" cy="334477"/>
          </a:xfrm>
          <a:prstGeom prst="line">
            <a:avLst/>
          </a:prstGeom>
          <a:noFill/>
          <a:ln w="25400">
            <a:solidFill>
              <a:srgbClr val="00274C"/>
            </a:solidFill>
            <a:prstDash val="solid"/>
            <a:headEnd type="none"/>
            <a:tailEnd type="triangle"/>
          </a:ln>
        </p:spPr>
        <p:txBody>
          <a:bodyPr/>
          <a:lstStyle/>
          <a:p>
            <a:endParaRPr lang="en-US"/>
          </a:p>
        </p:txBody>
      </p:sp>
      <p:sp>
        <p:nvSpPr>
          <p:cNvPr id="14" name="Text 11"/>
          <p:cNvSpPr/>
          <p:nvPr/>
        </p:nvSpPr>
        <p:spPr>
          <a:xfrm>
            <a:off x="6600523" y="5346834"/>
            <a:ext cx="3289435" cy="14173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4. Start here
  </a:t>
            </a:r>
            <a:r>
              <a:rPr lang="en-US" sz="1600" dirty="0">
                <a:solidFill>
                  <a:srgbClr val="101820"/>
                </a:solidFill>
                <a:latin typeface="Aptos" pitchFamily="34" charset="0"/>
                <a:ea typeface="Aptos" pitchFamily="34" charset="-122"/>
                <a:cs typeface="Aptos" pitchFamily="34" charset="-120"/>
              </a:rPr>
              <a:t>Open analysis/01_start_here.qmd.</a:t>
            </a:r>
            <a:endParaRPr lang="en-US" sz="1600" dirty="0"/>
          </a:p>
        </p:txBody>
      </p:sp>
      <p:sp>
        <p:nvSpPr>
          <p:cNvPr id="15" name="Text 5">
            <a:extLst>
              <a:ext uri="{FF2B5EF4-FFF2-40B4-BE49-F238E27FC236}">
                <a16:creationId xmlns:a16="http://schemas.microsoft.com/office/drawing/2014/main" id="{A0600D47-7238-2B6E-9EAB-4356113AE4E0}"/>
              </a:ext>
            </a:extLst>
          </p:cNvPr>
          <p:cNvSpPr/>
          <p:nvPr/>
        </p:nvSpPr>
        <p:spPr>
          <a:xfrm>
            <a:off x="1847087" y="2273972"/>
            <a:ext cx="8138161" cy="640072"/>
          </a:xfrm>
          <a:prstGeom prst="rect">
            <a:avLst/>
          </a:prstGeom>
          <a:solidFill>
            <a:srgbClr val="F7FAFE"/>
          </a:solidFill>
          <a:ln w="12700">
            <a:solidFill>
              <a:srgbClr val="D6DEE8"/>
            </a:solidFill>
          </a:ln>
        </p:spPr>
        <p:txBody>
          <a:bodyPr wrap="square" lIns="1524" tIns="1524" rIns="1524" bIns="1524" rtlCol="0" anchor="ctr">
            <a:normAutofit/>
          </a:bodyPr>
          <a:lstStyle/>
          <a:p>
            <a:pPr lvl="1"/>
            <a:r>
              <a:rPr lang="en-US" b="1" dirty="0" err="1">
                <a:solidFill>
                  <a:srgbClr val="00274C"/>
                </a:solidFill>
                <a:latin typeface="Aptos" pitchFamily="34" charset="0"/>
                <a:ea typeface="Aptos" pitchFamily="34" charset="-122"/>
                <a:cs typeface="Aptos" pitchFamily="34" charset="-120"/>
              </a:rPr>
              <a:t>Posit.cloud</a:t>
            </a:r>
            <a:r>
              <a:rPr lang="en-US" b="1" dirty="0">
                <a:solidFill>
                  <a:srgbClr val="00274C"/>
                </a:solidFill>
                <a:latin typeface="Aptos" pitchFamily="34" charset="0"/>
                <a:ea typeface="Aptos" pitchFamily="34" charset="-122"/>
                <a:cs typeface="Aptos" pitchFamily="34" charset="-120"/>
              </a:rPr>
              <a:t> -&gt; https://</a:t>
            </a:r>
            <a:r>
              <a:rPr lang="en-US" b="1" dirty="0" err="1">
                <a:solidFill>
                  <a:srgbClr val="00274C"/>
                </a:solidFill>
                <a:latin typeface="Aptos" pitchFamily="34" charset="0"/>
                <a:ea typeface="Aptos" pitchFamily="34" charset="-122"/>
                <a:cs typeface="Aptos" pitchFamily="34" charset="-120"/>
              </a:rPr>
              <a:t>github.com</a:t>
            </a:r>
            <a:r>
              <a:rPr lang="en-US" b="1" dirty="0">
                <a:solidFill>
                  <a:srgbClr val="00274C"/>
                </a:solidFill>
                <a:latin typeface="Aptos" pitchFamily="34" charset="0"/>
                <a:ea typeface="Aptos" pitchFamily="34" charset="-122"/>
                <a:cs typeface="Aptos" pitchFamily="34" charset="-120"/>
              </a:rPr>
              <a:t>/</a:t>
            </a:r>
            <a:r>
              <a:rPr lang="en-US" b="1" dirty="0" err="1">
                <a:solidFill>
                  <a:srgbClr val="00274C"/>
                </a:solidFill>
                <a:latin typeface="Aptos" pitchFamily="34" charset="0"/>
                <a:ea typeface="Aptos" pitchFamily="34" charset="-122"/>
                <a:cs typeface="Aptos" pitchFamily="34" charset="-120"/>
              </a:rPr>
              <a:t>umich</a:t>
            </a:r>
            <a:r>
              <a:rPr lang="en-US" b="1" dirty="0">
                <a:solidFill>
                  <a:srgbClr val="00274C"/>
                </a:solidFill>
                <a:latin typeface="Aptos" pitchFamily="34" charset="0"/>
                <a:ea typeface="Aptos" pitchFamily="34" charset="-122"/>
                <a:cs typeface="Aptos" pitchFamily="34" charset="-120"/>
              </a:rPr>
              <a:t>-biostatistics/Rbootcamp-2026</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PROJECT</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5</a:t>
            </a:r>
            <a:endParaRPr lang="en-US" sz="750" dirty="0"/>
          </a:p>
        </p:txBody>
      </p:sp>
      <p:sp>
        <p:nvSpPr>
          <p:cNvPr id="6" name="Text 3"/>
          <p:cNvSpPr/>
          <p:nvPr/>
        </p:nvSpPr>
        <p:spPr>
          <a:xfrm>
            <a:off x="676656" y="111556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The </a:t>
            </a:r>
            <a:r>
              <a:rPr lang="en-US" sz="2900" b="1" dirty="0" err="1">
                <a:solidFill>
                  <a:srgbClr val="00274C"/>
                </a:solidFill>
                <a:latin typeface="Aptos Display" pitchFamily="34" charset="0"/>
                <a:ea typeface="Aptos Display" pitchFamily="34" charset="-122"/>
                <a:cs typeface="Aptos Display" pitchFamily="34" charset="-120"/>
              </a:rPr>
              <a:t>RProject</a:t>
            </a:r>
            <a:endParaRPr lang="en-US" sz="2900" dirty="0"/>
          </a:p>
        </p:txBody>
      </p:sp>
      <p:sp>
        <p:nvSpPr>
          <p:cNvPr id="8" name="Text 5"/>
          <p:cNvSpPr/>
          <p:nvPr/>
        </p:nvSpPr>
        <p:spPr>
          <a:xfrm>
            <a:off x="777240" y="1783080"/>
            <a:ext cx="5257800" cy="406908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Project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Rbootcamp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2026.Rproj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analysis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01_start_here.qmd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01_completed_analysis.qmd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data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bootcamp_health.csv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codebook.md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scripts</a:t>
            </a:r>
            <a:r>
              <a:rPr lang="en-US" sz="1400" dirty="0">
                <a:solidFill>
                  <a:srgbClr val="F8F8F2"/>
                </a:solidFill>
                <a:latin typeface="Consolas" pitchFamily="34" charset="0"/>
                <a:ea typeface="Consolas" pitchFamily="34" charset="-122"/>
                <a:cs typeface="Consolas" pitchFamily="34" charset="-120"/>
              </a:rPr>
              <a:t>/</a:t>
            </a:r>
          </a:p>
          <a:p>
            <a:pPr marL="0" indent="0">
              <a:buNone/>
            </a:pPr>
            <a:r>
              <a:rPr lang="en-US" sz="1400" dirty="0">
                <a:solidFill>
                  <a:srgbClr val="F8F8F2"/>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03_broken_code_lab.R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04_functions_lab.R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references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13 </a:t>
            </a:r>
            <a:r>
              <a:rPr lang="en-US" sz="1400" dirty="0">
                <a:solidFill>
                  <a:srgbClr val="FFFFFF"/>
                </a:solidFill>
                <a:latin typeface="Consolas" pitchFamily="34" charset="0"/>
                <a:ea typeface="Consolas" pitchFamily="34" charset="-122"/>
                <a:cs typeface="Consolas" pitchFamily="34" charset="-120"/>
              </a:rPr>
              <a:t>    ai_prompt_cards.md
</a:t>
            </a:r>
            <a:r>
              <a:rPr lang="en-US" sz="1400" dirty="0">
                <a:solidFill>
                  <a:srgbClr val="8292A2"/>
                </a:solidFill>
                <a:latin typeface="Consolas" pitchFamily="34" charset="0"/>
                <a:ea typeface="Consolas" pitchFamily="34" charset="-122"/>
                <a:cs typeface="Consolas" pitchFamily="34" charset="-120"/>
              </a:rPr>
              <a:t>14 </a:t>
            </a:r>
            <a:r>
              <a:rPr lang="en-US" sz="1400" dirty="0">
                <a:solidFill>
                  <a:srgbClr val="FFFFFF"/>
                </a:solidFill>
                <a:latin typeface="Consolas" pitchFamily="34" charset="0"/>
                <a:ea typeface="Consolas" pitchFamily="34" charset="-122"/>
                <a:cs typeface="Consolas" pitchFamily="34" charset="-120"/>
              </a:rPr>
              <a:t>    </a:t>
            </a:r>
            <a:r>
              <a:rPr lang="en-US" sz="1400" dirty="0" err="1">
                <a:solidFill>
                  <a:srgbClr val="FFFFFF"/>
                </a:solidFill>
                <a:latin typeface="Consolas" pitchFamily="34" charset="0"/>
                <a:ea typeface="Consolas" pitchFamily="34" charset="-122"/>
                <a:cs typeface="Consolas" pitchFamily="34" charset="-120"/>
              </a:rPr>
              <a:t>debugging_ladder.md</a:t>
            </a:r>
            <a:endParaRPr lang="en-US" sz="1400" dirty="0">
              <a:solidFill>
                <a:srgbClr val="FFFFFF"/>
              </a:solidFill>
              <a:latin typeface="Consolas" pitchFamily="34" charset="0"/>
              <a:ea typeface="Consolas" pitchFamily="34" charset="-122"/>
              <a:cs typeface="Consolas" pitchFamily="34" charset="-120"/>
            </a:endParaRPr>
          </a:p>
          <a:p>
            <a:pPr marL="0" indent="0">
              <a:buNone/>
            </a:pPr>
            <a:r>
              <a:rPr lang="en-US" sz="1400" dirty="0">
                <a:solidFill>
                  <a:srgbClr val="FFFFFF"/>
                </a:solidFill>
                <a:latin typeface="Consolas" pitchFamily="34" charset="0"/>
                <a:cs typeface="Consolas" pitchFamily="34" charset="-120"/>
              </a:rPr>
              <a:t>…</a:t>
            </a:r>
            <a:endParaRPr lang="en-US" sz="1220" dirty="0"/>
          </a:p>
        </p:txBody>
      </p:sp>
      <p:sp>
        <p:nvSpPr>
          <p:cNvPr id="9" name="Text 6"/>
          <p:cNvSpPr/>
          <p:nvPr/>
        </p:nvSpPr>
        <p:spPr>
          <a:xfrm>
            <a:off x="6446520" y="1828800"/>
            <a:ext cx="4617720" cy="114300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Simulated health dataset
  </a:t>
            </a:r>
            <a:r>
              <a:rPr lang="en-US" sz="1600" dirty="0">
                <a:solidFill>
                  <a:srgbClr val="101820"/>
                </a:solidFill>
                <a:latin typeface="Aptos" pitchFamily="34" charset="0"/>
                <a:ea typeface="Aptos" pitchFamily="34" charset="-122"/>
                <a:cs typeface="Aptos" pitchFamily="34" charset="-120"/>
              </a:rPr>
              <a:t>260 synthetic records with demographics, BMI, </a:t>
            </a:r>
          </a:p>
          <a:p>
            <a:pPr marL="0" indent="0">
              <a:buNone/>
            </a:pPr>
            <a:r>
              <a:rPr lang="en-US" sz="1600" dirty="0">
                <a:solidFill>
                  <a:srgbClr val="101820"/>
                </a:solidFill>
                <a:latin typeface="Aptos" pitchFamily="34" charset="0"/>
                <a:ea typeface="Aptos" pitchFamily="34" charset="-122"/>
                <a:cs typeface="Aptos" pitchFamily="34" charset="-120"/>
              </a:rPr>
              <a:t>  blood pressure, cholesterol, activity, sleep,  </a:t>
            </a:r>
          </a:p>
          <a:p>
            <a:pPr marL="0" indent="0">
              <a:buNone/>
            </a:pPr>
            <a:r>
              <a:rPr lang="en-US" sz="1600" dirty="0">
                <a:solidFill>
                  <a:srgbClr val="101820"/>
                </a:solidFill>
                <a:latin typeface="Aptos" pitchFamily="34" charset="0"/>
                <a:ea typeface="Aptos" pitchFamily="34" charset="-122"/>
                <a:cs typeface="Aptos" pitchFamily="34" charset="-120"/>
              </a:rPr>
              <a:t>  smoking, and diabetes indicators.</a:t>
            </a:r>
            <a:endParaRPr lang="en-US" sz="1600" dirty="0"/>
          </a:p>
        </p:txBody>
      </p:sp>
      <p:sp>
        <p:nvSpPr>
          <p:cNvPr id="10" name="Text 7"/>
          <p:cNvSpPr/>
          <p:nvPr/>
        </p:nvSpPr>
        <p:spPr>
          <a:xfrm>
            <a:off x="6446520" y="3246120"/>
            <a:ext cx="4617720" cy="1143000"/>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Starter + other QMD files
  </a:t>
            </a:r>
            <a:r>
              <a:rPr lang="en-US" sz="1600" dirty="0">
                <a:solidFill>
                  <a:srgbClr val="101820"/>
                </a:solidFill>
                <a:latin typeface="Aptos" pitchFamily="34" charset="0"/>
                <a:ea typeface="Aptos" pitchFamily="34" charset="-122"/>
                <a:cs typeface="Aptos" pitchFamily="34" charset="-120"/>
              </a:rPr>
              <a:t>Work in the starter Quarto file. </a:t>
            </a:r>
            <a:endParaRPr lang="en-US" sz="1600" dirty="0"/>
          </a:p>
        </p:txBody>
      </p:sp>
      <p:sp>
        <p:nvSpPr>
          <p:cNvPr id="11" name="Text 8"/>
          <p:cNvSpPr/>
          <p:nvPr/>
        </p:nvSpPr>
        <p:spPr>
          <a:xfrm>
            <a:off x="6446520" y="4663440"/>
            <a:ext cx="4617720" cy="114300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Labs
  </a:t>
            </a:r>
            <a:r>
              <a:rPr lang="en-US" sz="1600" dirty="0">
                <a:solidFill>
                  <a:srgbClr val="101820"/>
                </a:solidFill>
                <a:latin typeface="Aptos" pitchFamily="34" charset="0"/>
                <a:ea typeface="Aptos" pitchFamily="34" charset="-122"/>
                <a:cs typeface="Aptos" pitchFamily="34" charset="-120"/>
              </a:rPr>
              <a:t>Debugging &amp; functions, read-and-modify tasks, </a:t>
            </a:r>
          </a:p>
          <a:p>
            <a:pPr marL="0" indent="0">
              <a:buNone/>
            </a:pPr>
            <a:r>
              <a:rPr lang="en-US" sz="1600" dirty="0">
                <a:solidFill>
                  <a:srgbClr val="101820"/>
                </a:solidFill>
                <a:latin typeface="Aptos" pitchFamily="34" charset="0"/>
                <a:ea typeface="Aptos" pitchFamily="34" charset="-122"/>
                <a:cs typeface="Aptos" pitchFamily="34" charset="-120"/>
              </a:rPr>
              <a:t>  </a:t>
            </a:r>
            <a:r>
              <a:rPr lang="en-US" sz="1600" dirty="0" err="1">
                <a:solidFill>
                  <a:srgbClr val="101820"/>
                </a:solidFill>
                <a:latin typeface="Aptos" pitchFamily="34" charset="0"/>
                <a:ea typeface="Aptos" pitchFamily="34" charset="-122"/>
                <a:cs typeface="Aptos" pitchFamily="34" charset="-120"/>
              </a:rPr>
              <a:t>ggplot</a:t>
            </a:r>
            <a:r>
              <a:rPr lang="en-US" sz="1600" dirty="0">
                <a:solidFill>
                  <a:srgbClr val="101820"/>
                </a:solidFill>
                <a:latin typeface="Aptos" pitchFamily="34" charset="0"/>
                <a:ea typeface="Aptos" pitchFamily="34" charset="-122"/>
                <a:cs typeface="Aptos" pitchFamily="34" charset="-120"/>
              </a:rPr>
              <a:t> and </a:t>
            </a:r>
            <a:r>
              <a:rPr lang="en-US" sz="1600" dirty="0" err="1">
                <a:solidFill>
                  <a:srgbClr val="101820"/>
                </a:solidFill>
                <a:latin typeface="Aptos" pitchFamily="34" charset="0"/>
                <a:ea typeface="Aptos" pitchFamily="34" charset="-122"/>
                <a:cs typeface="Aptos" pitchFamily="34" charset="-120"/>
              </a:rPr>
              <a:t>dplyr</a:t>
            </a:r>
            <a:r>
              <a:rPr lang="en-US" sz="1600" dirty="0">
                <a:solidFill>
                  <a:srgbClr val="101820"/>
                </a:solidFill>
                <a:latin typeface="Aptos" pitchFamily="34" charset="0"/>
                <a:ea typeface="Aptos" pitchFamily="34" charset="-122"/>
                <a:cs typeface="Aptos" pitchFamily="34" charset="-120"/>
              </a:rPr>
              <a:t> fundamentals.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PROJECT</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6</a:t>
            </a:r>
            <a:endParaRPr lang="en-US" sz="750" dirty="0"/>
          </a:p>
        </p:txBody>
      </p:sp>
      <p:sp>
        <p:nvSpPr>
          <p:cNvPr id="6" name="Text 3"/>
          <p:cNvSpPr/>
          <p:nvPr/>
        </p:nvSpPr>
        <p:spPr>
          <a:xfrm>
            <a:off x="320040" y="1101852"/>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Use the “health” data set through the workshop</a:t>
            </a:r>
            <a:endParaRPr lang="en-US" sz="2900" dirty="0"/>
          </a:p>
        </p:txBody>
      </p:sp>
      <p:sp>
        <p:nvSpPr>
          <p:cNvPr id="8" name="Text 5"/>
          <p:cNvSpPr/>
          <p:nvPr/>
        </p:nvSpPr>
        <p:spPr>
          <a:xfrm>
            <a:off x="163628" y="2171710"/>
            <a:ext cx="6922971" cy="3361613"/>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health_raw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read_csv</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"data/bootcamp_health.csv"</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health_clean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health_raw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mutate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hypertension_flag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systolic_bp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130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diastolic_bp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80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bmi_group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case_when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bmi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25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"Healthy range"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bmi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30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"Overweight"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"Obesity range"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endParaRPr lang="en-US" sz="1240" dirty="0"/>
          </a:p>
        </p:txBody>
      </p:sp>
      <p:sp>
        <p:nvSpPr>
          <p:cNvPr id="9" name="Text 6"/>
          <p:cNvSpPr/>
          <p:nvPr/>
        </p:nvSpPr>
        <p:spPr>
          <a:xfrm>
            <a:off x="7292340" y="2119122"/>
            <a:ext cx="4069080" cy="1417320"/>
          </a:xfrm>
          <a:prstGeom prst="rect">
            <a:avLst/>
          </a:prstGeom>
          <a:solidFill>
            <a:srgbClr val="FFF8DC"/>
          </a:solidFill>
          <a:ln w="15240">
            <a:solidFill>
              <a:srgbClr val="FFCB05"/>
            </a:solidFill>
          </a:ln>
        </p:spPr>
        <p:txBody>
          <a:bodyPr wrap="square" lIns="1778" tIns="1778" rIns="1778" bIns="1778"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AI prompt:
  </a:t>
            </a:r>
            <a:r>
              <a:rPr lang="en-US" sz="1600" dirty="0">
                <a:solidFill>
                  <a:srgbClr val="101820"/>
                </a:solidFill>
                <a:latin typeface="Aptos" pitchFamily="34" charset="0"/>
                <a:ea typeface="Aptos" pitchFamily="34" charset="-122"/>
                <a:cs typeface="Aptos" pitchFamily="34" charset="-120"/>
              </a:rPr>
              <a:t>“Explain this pipeline line by line. What object   </a:t>
            </a:r>
          </a:p>
          <a:p>
            <a:pPr marL="0" indent="0">
              <a:buNone/>
            </a:pPr>
            <a:r>
              <a:rPr lang="en-US" sz="1600" dirty="0">
                <a:solidFill>
                  <a:srgbClr val="101820"/>
                </a:solidFill>
                <a:latin typeface="Aptos" pitchFamily="34" charset="0"/>
                <a:ea typeface="Aptos" pitchFamily="34" charset="-122"/>
                <a:cs typeface="Aptos" pitchFamily="34" charset="-120"/>
              </a:rPr>
              <a:t>  is created, what columns are added, and </a:t>
            </a:r>
          </a:p>
          <a:p>
            <a:pPr marL="0" indent="0">
              <a:buNone/>
            </a:pPr>
            <a:r>
              <a:rPr lang="en-US" sz="1600" dirty="0">
                <a:solidFill>
                  <a:srgbClr val="101820"/>
                </a:solidFill>
                <a:latin typeface="Aptos" pitchFamily="34" charset="0"/>
                <a:ea typeface="Aptos" pitchFamily="34" charset="-122"/>
                <a:cs typeface="Aptos" pitchFamily="34" charset="-120"/>
              </a:rPr>
              <a:t>  what should I check before trusting the   </a:t>
            </a:r>
          </a:p>
          <a:p>
            <a:pPr marL="0" indent="0">
              <a:buNone/>
            </a:pPr>
            <a:r>
              <a:rPr lang="en-US" sz="1600" dirty="0">
                <a:solidFill>
                  <a:srgbClr val="101820"/>
                </a:solidFill>
                <a:latin typeface="Aptos" pitchFamily="34" charset="0"/>
                <a:ea typeface="Aptos" pitchFamily="34" charset="-122"/>
                <a:cs typeface="Aptos" pitchFamily="34" charset="-120"/>
              </a:rPr>
              <a:t>  result?”</a:t>
            </a:r>
            <a:endParaRPr lang="en-US" sz="1600" dirty="0"/>
          </a:p>
        </p:txBody>
      </p:sp>
      <p:sp>
        <p:nvSpPr>
          <p:cNvPr id="10" name="Text 7"/>
          <p:cNvSpPr/>
          <p:nvPr/>
        </p:nvSpPr>
        <p:spPr>
          <a:xfrm>
            <a:off x="7292340" y="3852516"/>
            <a:ext cx="4069080" cy="105156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Test the AI response:
  </a:t>
            </a:r>
            <a:r>
              <a:rPr lang="en-US" sz="1600" dirty="0">
                <a:solidFill>
                  <a:srgbClr val="00274C"/>
                </a:solidFill>
                <a:latin typeface="Aptos" pitchFamily="34" charset="0"/>
                <a:ea typeface="Aptos" pitchFamily="34" charset="-122"/>
                <a:cs typeface="Aptos" pitchFamily="34" charset="-120"/>
              </a:rPr>
              <a:t>R</a:t>
            </a:r>
            <a:r>
              <a:rPr lang="en-US" sz="1600" dirty="0">
                <a:solidFill>
                  <a:srgbClr val="101820"/>
                </a:solidFill>
                <a:latin typeface="Aptos" pitchFamily="34" charset="0"/>
                <a:ea typeface="Aptos" pitchFamily="34" charset="-122"/>
                <a:cs typeface="Aptos" pitchFamily="34" charset="-120"/>
              </a:rPr>
              <a:t>un the same code in Posit Cloud.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RESPONSIBLE AI</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8</a:t>
            </a:r>
            <a:endParaRPr lang="en-US" sz="750" dirty="0"/>
          </a:p>
        </p:txBody>
      </p:sp>
      <p:sp>
        <p:nvSpPr>
          <p:cNvPr id="6" name="Text 3"/>
          <p:cNvSpPr/>
          <p:nvPr/>
        </p:nvSpPr>
        <p:spPr>
          <a:xfrm>
            <a:off x="434340" y="1277272"/>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Guardrails before we use AI with data</a:t>
            </a:r>
            <a:endParaRPr lang="en-US" sz="2900" dirty="0"/>
          </a:p>
        </p:txBody>
      </p:sp>
      <p:sp>
        <p:nvSpPr>
          <p:cNvPr id="8" name="Text 5"/>
          <p:cNvSpPr/>
          <p:nvPr/>
        </p:nvSpPr>
        <p:spPr>
          <a:xfrm>
            <a:off x="731520" y="2057400"/>
            <a:ext cx="5257800" cy="1234440"/>
          </a:xfrm>
          <a:prstGeom prst="rect">
            <a:avLst/>
          </a:prstGeom>
          <a:solidFill>
            <a:srgbClr val="EAF1F8"/>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Use U-M GPT for U-M work
  </a:t>
            </a:r>
            <a:r>
              <a:rPr lang="en-US" sz="1600" dirty="0">
                <a:solidFill>
                  <a:srgbClr val="101820"/>
                </a:solidFill>
                <a:latin typeface="Aptos" pitchFamily="34" charset="0"/>
                <a:ea typeface="Aptos" pitchFamily="34" charset="-122"/>
                <a:cs typeface="Aptos" pitchFamily="34" charset="-120"/>
              </a:rPr>
              <a:t>U-M GPT is available to active U-M faculty, staff, and </a:t>
            </a:r>
          </a:p>
          <a:p>
            <a:pPr marL="0" indent="0">
              <a:buNone/>
            </a:pPr>
            <a:r>
              <a:rPr lang="en-US" sz="1600" dirty="0">
                <a:solidFill>
                  <a:srgbClr val="101820"/>
                </a:solidFill>
                <a:latin typeface="Aptos" pitchFamily="34" charset="0"/>
                <a:ea typeface="Aptos" pitchFamily="34" charset="-122"/>
                <a:cs typeface="Aptos" pitchFamily="34" charset="-120"/>
              </a:rPr>
              <a:t>  students and provides access to hosted and U-M-hosted </a:t>
            </a:r>
          </a:p>
          <a:p>
            <a:pPr marL="0" indent="0">
              <a:buNone/>
            </a:pPr>
            <a:r>
              <a:rPr lang="en-US" sz="1600" dirty="0">
                <a:solidFill>
                  <a:srgbClr val="101820"/>
                </a:solidFill>
                <a:latin typeface="Aptos" pitchFamily="34" charset="0"/>
                <a:ea typeface="Aptos" pitchFamily="34" charset="-122"/>
                <a:cs typeface="Aptos" pitchFamily="34" charset="-120"/>
              </a:rPr>
              <a:t>  models.</a:t>
            </a:r>
            <a:endParaRPr lang="en-US" sz="1600" dirty="0"/>
          </a:p>
        </p:txBody>
      </p:sp>
      <p:sp>
        <p:nvSpPr>
          <p:cNvPr id="9" name="Text 6"/>
          <p:cNvSpPr/>
          <p:nvPr/>
        </p:nvSpPr>
        <p:spPr>
          <a:xfrm>
            <a:off x="6355080" y="2057400"/>
            <a:ext cx="5074920" cy="1234440"/>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Sensitive data requires care
  </a:t>
            </a:r>
            <a:r>
              <a:rPr lang="en-US" sz="1600" dirty="0">
                <a:solidFill>
                  <a:srgbClr val="101820"/>
                </a:solidFill>
                <a:latin typeface="Aptos" pitchFamily="34" charset="0"/>
                <a:ea typeface="Aptos" pitchFamily="34" charset="-122"/>
                <a:cs typeface="Aptos" pitchFamily="34" charset="-120"/>
              </a:rPr>
              <a:t>ITS AI Services are designed with data protection   </a:t>
            </a:r>
          </a:p>
          <a:p>
            <a:pPr marL="0" indent="0">
              <a:buNone/>
            </a:pPr>
            <a:r>
              <a:rPr lang="en-US" sz="1600" dirty="0">
                <a:solidFill>
                  <a:srgbClr val="101820"/>
                </a:solidFill>
                <a:latin typeface="Aptos" pitchFamily="34" charset="0"/>
                <a:ea typeface="Aptos" pitchFamily="34" charset="-122"/>
                <a:cs typeface="Aptos" pitchFamily="34" charset="-120"/>
              </a:rPr>
              <a:t>  safeguards; always check the Sensitive Data Guide </a:t>
            </a:r>
          </a:p>
          <a:p>
            <a:pPr marL="0" indent="0">
              <a:buNone/>
            </a:pPr>
            <a:r>
              <a:rPr lang="en-US" sz="1600" dirty="0">
                <a:solidFill>
                  <a:srgbClr val="101820"/>
                </a:solidFill>
                <a:latin typeface="Aptos" pitchFamily="34" charset="0"/>
                <a:ea typeface="Aptos" pitchFamily="34" charset="-122"/>
                <a:cs typeface="Aptos" pitchFamily="34" charset="-120"/>
              </a:rPr>
              <a:t>  before using PHI or restricted data.</a:t>
            </a:r>
            <a:endParaRPr lang="en-US" sz="1600" dirty="0"/>
          </a:p>
        </p:txBody>
      </p:sp>
      <p:sp>
        <p:nvSpPr>
          <p:cNvPr id="10" name="Text 7"/>
          <p:cNvSpPr/>
          <p:nvPr/>
        </p:nvSpPr>
        <p:spPr>
          <a:xfrm>
            <a:off x="937260" y="4297680"/>
            <a:ext cx="10332720" cy="1325880"/>
          </a:xfrm>
          <a:prstGeom prst="rect">
            <a:avLst/>
          </a:prstGeom>
          <a:noFill/>
          <a:ln/>
        </p:spPr>
        <p:txBody>
          <a:bodyPr wrap="square" lIns="1016" tIns="1016" rIns="1016" bIns="1016" rtlCol="0" anchor="ctr">
            <a:normAutofit/>
          </a:bodyPr>
          <a:lstStyle/>
          <a:p>
            <a:pPr marL="0" indent="0">
              <a:buNone/>
            </a:pPr>
            <a:r>
              <a:rPr lang="en-US" dirty="0">
                <a:solidFill>
                  <a:srgbClr val="101820"/>
                </a:solidFill>
                <a:latin typeface="Aptos" pitchFamily="34" charset="0"/>
                <a:ea typeface="Aptos" pitchFamily="34" charset="-122"/>
                <a:cs typeface="Aptos" pitchFamily="34" charset="-120"/>
              </a:rPr>
              <a:t>• Do not paste raw research data into third-party AI without approval.</a:t>
            </a:r>
            <a:endParaRPr lang="en-US" dirty="0"/>
          </a:p>
          <a:p>
            <a:pPr marL="0" indent="0">
              <a:buNone/>
            </a:pPr>
            <a:r>
              <a:rPr lang="en-US" dirty="0">
                <a:solidFill>
                  <a:srgbClr val="101820"/>
                </a:solidFill>
                <a:latin typeface="Aptos" pitchFamily="34" charset="0"/>
                <a:ea typeface="Aptos" pitchFamily="34" charset="-122"/>
                <a:cs typeface="Aptos" pitchFamily="34" charset="-120"/>
              </a:rPr>
              <a:t>• Use synthetic rows or summaries for debugging prompts.</a:t>
            </a:r>
            <a:endParaRPr lang="en-US" dirty="0"/>
          </a:p>
          <a:p>
            <a:pPr marL="0" indent="0">
              <a:buNone/>
            </a:pPr>
            <a:r>
              <a:rPr lang="en-US" dirty="0">
                <a:solidFill>
                  <a:srgbClr val="101820"/>
                </a:solidFill>
                <a:latin typeface="Aptos" pitchFamily="34" charset="0"/>
                <a:ea typeface="Aptos" pitchFamily="34" charset="-122"/>
                <a:cs typeface="Aptos" pitchFamily="34" charset="-120"/>
              </a:rPr>
              <a:t>• Ask AI for a minimal example rather than a complete answer on private data.</a:t>
            </a:r>
            <a:endParaRPr lang="en-US" dirty="0"/>
          </a:p>
          <a:p>
            <a:pPr marL="0" indent="0">
              <a:buNone/>
            </a:pPr>
            <a:r>
              <a:rPr lang="en-US" dirty="0">
                <a:solidFill>
                  <a:srgbClr val="101820"/>
                </a:solidFill>
                <a:latin typeface="Aptos" pitchFamily="34" charset="0"/>
                <a:ea typeface="Aptos" pitchFamily="34" charset="-122"/>
                <a:cs typeface="Aptos" pitchFamily="34" charset="-120"/>
              </a:rPr>
              <a:t>• Keep human review on model interpretation and final outputs.</a:t>
            </a:r>
            <a:endParaRPr lang="en-US" dirty="0"/>
          </a:p>
        </p:txBody>
      </p:sp>
      <p:sp>
        <p:nvSpPr>
          <p:cNvPr id="11" name="Text 8"/>
          <p:cNvSpPr/>
          <p:nvPr/>
        </p:nvSpPr>
        <p:spPr>
          <a:xfrm>
            <a:off x="1074420" y="3724363"/>
            <a:ext cx="5029200" cy="320040"/>
          </a:xfrm>
          <a:prstGeom prst="rect">
            <a:avLst/>
          </a:prstGeom>
          <a:noFill/>
          <a:ln/>
        </p:spPr>
        <p:txBody>
          <a:bodyPr wrap="square" lIns="0" tIns="0" rIns="0" bIns="0" rtlCol="0" anchor="ctr"/>
          <a:lstStyle/>
          <a:p>
            <a:pPr marL="0" indent="0">
              <a:buNone/>
            </a:pPr>
            <a:r>
              <a:rPr lang="en-US" sz="2400" b="1" dirty="0">
                <a:solidFill>
                  <a:srgbClr val="00274C"/>
                </a:solidFill>
              </a:rPr>
              <a:t>Go to: umgpt.umich.edu</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00274C"/>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676656" y="502920"/>
            <a:ext cx="3950208" cy="822960"/>
          </a:xfrm>
          <a:prstGeom prst="rect">
            <a:avLst/>
          </a:prstGeom>
        </p:spPr>
      </p:pic>
      <p:sp>
        <p:nvSpPr>
          <p:cNvPr id="4" name="Text 1"/>
          <p:cNvSpPr/>
          <p:nvPr/>
        </p:nvSpPr>
        <p:spPr>
          <a:xfrm>
            <a:off x="685800" y="2240280"/>
            <a:ext cx="10881360" cy="1234440"/>
          </a:xfrm>
          <a:prstGeom prst="rect">
            <a:avLst/>
          </a:prstGeom>
          <a:noFill/>
          <a:ln/>
        </p:spPr>
        <p:txBody>
          <a:bodyPr wrap="square" lIns="0" tIns="0" rIns="0" bIns="0" rtlCol="0" anchor="ctr">
            <a:normAutofit/>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Day 1</a:t>
            </a:r>
            <a:endParaRPr lang="en-US" sz="3800" dirty="0"/>
          </a:p>
        </p:txBody>
      </p:sp>
      <p:sp>
        <p:nvSpPr>
          <p:cNvPr id="5" name="Shape 2"/>
          <p:cNvSpPr/>
          <p:nvPr/>
        </p:nvSpPr>
        <p:spPr>
          <a:xfrm>
            <a:off x="713232" y="3858768"/>
            <a:ext cx="4663440" cy="0"/>
          </a:xfrm>
          <a:prstGeom prst="line">
            <a:avLst/>
          </a:prstGeom>
          <a:noFill/>
          <a:ln w="38100">
            <a:solidFill>
              <a:srgbClr val="FFCB05"/>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9</a:t>
            </a:r>
            <a:endParaRPr lang="en-US" sz="750" dirty="0"/>
          </a:p>
        </p:txBody>
      </p:sp>
      <p:sp>
        <p:nvSpPr>
          <p:cNvPr id="6" name="Text 3"/>
          <p:cNvSpPr/>
          <p:nvPr/>
        </p:nvSpPr>
        <p:spPr>
          <a:xfrm>
            <a:off x="350416" y="1175005"/>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Start with a project, not a loose script</a:t>
            </a:r>
            <a:endParaRPr lang="en-US" sz="2900" dirty="0"/>
          </a:p>
        </p:txBody>
      </p:sp>
      <p:sp>
        <p:nvSpPr>
          <p:cNvPr id="9" name="Text 6"/>
          <p:cNvSpPr/>
          <p:nvPr/>
        </p:nvSpPr>
        <p:spPr>
          <a:xfrm>
            <a:off x="5989320" y="1920240"/>
            <a:ext cx="5166360" cy="2788920"/>
          </a:xfrm>
          <a:prstGeom prst="rect">
            <a:avLst/>
          </a:prstGeom>
          <a:noFill/>
          <a:ln/>
        </p:spPr>
        <p:txBody>
          <a:bodyPr wrap="square" lIns="1016" tIns="1016" rIns="1016" bIns="1016" rtlCol="0" anchor="ctr">
            <a:normAutofit/>
          </a:bodyPr>
          <a:lstStyle/>
          <a:p>
            <a:pPr marL="0" indent="0">
              <a:buNone/>
            </a:pPr>
            <a:r>
              <a:rPr lang="en-US" sz="1600" dirty="0">
                <a:solidFill>
                  <a:srgbClr val="101820"/>
                </a:solidFill>
                <a:latin typeface="Aptos" pitchFamily="34" charset="0"/>
                <a:ea typeface="Aptos" pitchFamily="34" charset="-122"/>
                <a:cs typeface="Aptos" pitchFamily="34" charset="-120"/>
              </a:rPr>
              <a:t>• Use an RStudio Project for every analysis.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Never rely on “where your computer happened to be.”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Save scripts as the record of what you did.</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Quarto/R Markdown can combine code, output, and explanation.</a:t>
            </a:r>
            <a:endParaRPr lang="en-US" sz="1600" dirty="0"/>
          </a:p>
        </p:txBody>
      </p:sp>
      <p:sp>
        <p:nvSpPr>
          <p:cNvPr id="11" name="Text 5">
            <a:extLst>
              <a:ext uri="{FF2B5EF4-FFF2-40B4-BE49-F238E27FC236}">
                <a16:creationId xmlns:a16="http://schemas.microsoft.com/office/drawing/2014/main" id="{981F5271-B9A2-899C-C506-0DE6A3464F64}"/>
              </a:ext>
            </a:extLst>
          </p:cNvPr>
          <p:cNvSpPr/>
          <p:nvPr/>
        </p:nvSpPr>
        <p:spPr>
          <a:xfrm>
            <a:off x="510436" y="1920240"/>
            <a:ext cx="5257800" cy="406908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 1 </a:t>
            </a:r>
            <a:r>
              <a:rPr lang="en-US" sz="1400" dirty="0">
                <a:solidFill>
                  <a:srgbClr val="FFFFFF"/>
                </a:solidFill>
                <a:latin typeface="Consolas" pitchFamily="34" charset="0"/>
                <a:ea typeface="Consolas" pitchFamily="34" charset="-122"/>
                <a:cs typeface="Consolas" pitchFamily="34" charset="-120"/>
              </a:rPr>
              <a:t>Project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2 </a:t>
            </a:r>
            <a:r>
              <a:rPr lang="en-US" sz="1400" dirty="0">
                <a:solidFill>
                  <a:srgbClr val="FFFFFF"/>
                </a:solidFill>
                <a:latin typeface="Consolas" pitchFamily="34" charset="0"/>
                <a:ea typeface="Consolas" pitchFamily="34" charset="-122"/>
                <a:cs typeface="Consolas" pitchFamily="34" charset="-120"/>
              </a:rPr>
              <a:t>  Rbootcamp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2026.Rproj
</a:t>
            </a:r>
            <a:r>
              <a:rPr lang="en-US" sz="1400" dirty="0">
                <a:solidFill>
                  <a:srgbClr val="8292A2"/>
                </a:solidFill>
                <a:latin typeface="Consolas" pitchFamily="34" charset="0"/>
                <a:ea typeface="Consolas" pitchFamily="34" charset="-122"/>
                <a:cs typeface="Consolas" pitchFamily="34" charset="-120"/>
              </a:rPr>
              <a:t> 3 </a:t>
            </a:r>
            <a:r>
              <a:rPr lang="en-US" sz="1400" dirty="0">
                <a:solidFill>
                  <a:srgbClr val="FFFFFF"/>
                </a:solidFill>
                <a:latin typeface="Consolas" pitchFamily="34" charset="0"/>
                <a:ea typeface="Consolas" pitchFamily="34" charset="-122"/>
                <a:cs typeface="Consolas" pitchFamily="34" charset="-120"/>
              </a:rPr>
              <a:t>  analysis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4 </a:t>
            </a:r>
            <a:r>
              <a:rPr lang="en-US" sz="1400" dirty="0">
                <a:solidFill>
                  <a:srgbClr val="FFFFFF"/>
                </a:solidFill>
                <a:latin typeface="Consolas" pitchFamily="34" charset="0"/>
                <a:ea typeface="Consolas" pitchFamily="34" charset="-122"/>
                <a:cs typeface="Consolas" pitchFamily="34" charset="-120"/>
              </a:rPr>
              <a:t>    01_start_here.qmd
</a:t>
            </a:r>
            <a:r>
              <a:rPr lang="en-US" sz="1400" dirty="0">
                <a:solidFill>
                  <a:srgbClr val="8292A2"/>
                </a:solidFill>
                <a:latin typeface="Consolas" pitchFamily="34" charset="0"/>
                <a:ea typeface="Consolas" pitchFamily="34" charset="-122"/>
                <a:cs typeface="Consolas" pitchFamily="34" charset="-120"/>
              </a:rPr>
              <a:t> 5 </a:t>
            </a:r>
            <a:r>
              <a:rPr lang="en-US" sz="1400" dirty="0">
                <a:solidFill>
                  <a:srgbClr val="FFFFFF"/>
                </a:solidFill>
                <a:latin typeface="Consolas" pitchFamily="34" charset="0"/>
                <a:ea typeface="Consolas" pitchFamily="34" charset="-122"/>
                <a:cs typeface="Consolas" pitchFamily="34" charset="-120"/>
              </a:rPr>
              <a:t>    01_completed_analysis.qmd
</a:t>
            </a:r>
            <a:r>
              <a:rPr lang="en-US" sz="1400" dirty="0">
                <a:solidFill>
                  <a:srgbClr val="8292A2"/>
                </a:solidFill>
                <a:latin typeface="Consolas" pitchFamily="34" charset="0"/>
                <a:ea typeface="Consolas" pitchFamily="34" charset="-122"/>
                <a:cs typeface="Consolas" pitchFamily="34" charset="-120"/>
              </a:rPr>
              <a:t> 6 </a:t>
            </a:r>
            <a:r>
              <a:rPr lang="en-US" sz="1400" dirty="0">
                <a:solidFill>
                  <a:srgbClr val="FFFFFF"/>
                </a:solidFill>
                <a:latin typeface="Consolas" pitchFamily="34" charset="0"/>
                <a:ea typeface="Consolas" pitchFamily="34" charset="-122"/>
                <a:cs typeface="Consolas" pitchFamily="34" charset="-120"/>
              </a:rPr>
              <a:t>  data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 7 </a:t>
            </a:r>
            <a:r>
              <a:rPr lang="en-US" sz="1400" dirty="0">
                <a:solidFill>
                  <a:srgbClr val="FFFFFF"/>
                </a:solidFill>
                <a:latin typeface="Consolas" pitchFamily="34" charset="0"/>
                <a:ea typeface="Consolas" pitchFamily="34" charset="-122"/>
                <a:cs typeface="Consolas" pitchFamily="34" charset="-120"/>
              </a:rPr>
              <a:t>    bootcamp_health.csv
</a:t>
            </a:r>
            <a:r>
              <a:rPr lang="en-US" sz="1400" dirty="0">
                <a:solidFill>
                  <a:srgbClr val="8292A2"/>
                </a:solidFill>
                <a:latin typeface="Consolas" pitchFamily="34" charset="0"/>
                <a:ea typeface="Consolas" pitchFamily="34" charset="-122"/>
                <a:cs typeface="Consolas" pitchFamily="34" charset="-120"/>
              </a:rPr>
              <a:t> 8 </a:t>
            </a:r>
            <a:r>
              <a:rPr lang="en-US" sz="1400" dirty="0">
                <a:solidFill>
                  <a:srgbClr val="FFFFFF"/>
                </a:solidFill>
                <a:latin typeface="Consolas" pitchFamily="34" charset="0"/>
                <a:ea typeface="Consolas" pitchFamily="34" charset="-122"/>
                <a:cs typeface="Consolas" pitchFamily="34" charset="-120"/>
              </a:rPr>
              <a:t>    codebook.md
</a:t>
            </a:r>
            <a:r>
              <a:rPr lang="en-US" sz="1400" dirty="0">
                <a:solidFill>
                  <a:srgbClr val="8292A2"/>
                </a:solidFill>
                <a:latin typeface="Consolas" pitchFamily="34" charset="0"/>
                <a:ea typeface="Consolas" pitchFamily="34" charset="-122"/>
                <a:cs typeface="Consolas" pitchFamily="34" charset="-120"/>
              </a:rPr>
              <a:t> 9 </a:t>
            </a:r>
            <a:r>
              <a:rPr lang="en-US" sz="1400" dirty="0">
                <a:solidFill>
                  <a:srgbClr val="FFFFFF"/>
                </a:solidFill>
                <a:latin typeface="Consolas" pitchFamily="34" charset="0"/>
                <a:ea typeface="Consolas" pitchFamily="34" charset="-122"/>
                <a:cs typeface="Consolas" pitchFamily="34" charset="-120"/>
              </a:rPr>
              <a:t>  scripts</a:t>
            </a:r>
            <a:r>
              <a:rPr lang="en-US" sz="1400" dirty="0">
                <a:solidFill>
                  <a:srgbClr val="F8F8F2"/>
                </a:solidFill>
                <a:latin typeface="Consolas" pitchFamily="34" charset="0"/>
                <a:ea typeface="Consolas" pitchFamily="34" charset="-122"/>
                <a:cs typeface="Consolas" pitchFamily="34" charset="-120"/>
              </a:rPr>
              <a:t>/</a:t>
            </a:r>
          </a:p>
          <a:p>
            <a:pPr marL="0" indent="0">
              <a:buNone/>
            </a:pPr>
            <a:r>
              <a:rPr lang="en-US" sz="1400" dirty="0">
                <a:solidFill>
                  <a:srgbClr val="F8F8F2"/>
                </a:solidFill>
                <a:latin typeface="Consolas" pitchFamily="34" charset="0"/>
                <a:ea typeface="Consolas" pitchFamily="34" charset="-122"/>
                <a:cs typeface="Consolas" pitchFamily="34" charset="-120"/>
              </a:rPr>
              <a:t>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10 </a:t>
            </a:r>
            <a:r>
              <a:rPr lang="en-US" sz="1400" dirty="0">
                <a:solidFill>
                  <a:srgbClr val="FFFFFF"/>
                </a:solidFill>
                <a:latin typeface="Consolas" pitchFamily="34" charset="0"/>
                <a:ea typeface="Consolas" pitchFamily="34" charset="-122"/>
                <a:cs typeface="Consolas" pitchFamily="34" charset="-120"/>
              </a:rPr>
              <a:t>    03_broken_code_lab.R
</a:t>
            </a:r>
            <a:r>
              <a:rPr lang="en-US" sz="1400" dirty="0">
                <a:solidFill>
                  <a:srgbClr val="8292A2"/>
                </a:solidFill>
                <a:latin typeface="Consolas" pitchFamily="34" charset="0"/>
                <a:ea typeface="Consolas" pitchFamily="34" charset="-122"/>
                <a:cs typeface="Consolas" pitchFamily="34" charset="-120"/>
              </a:rPr>
              <a:t>11 </a:t>
            </a:r>
            <a:r>
              <a:rPr lang="en-US" sz="1400" dirty="0">
                <a:solidFill>
                  <a:srgbClr val="FFFFFF"/>
                </a:solidFill>
                <a:latin typeface="Consolas" pitchFamily="34" charset="0"/>
                <a:ea typeface="Consolas" pitchFamily="34" charset="-122"/>
                <a:cs typeface="Consolas" pitchFamily="34" charset="-120"/>
              </a:rPr>
              <a:t>    04_functions_lab.R
</a:t>
            </a:r>
            <a:r>
              <a:rPr lang="en-US" sz="1400" dirty="0">
                <a:solidFill>
                  <a:srgbClr val="8292A2"/>
                </a:solidFill>
                <a:latin typeface="Consolas" pitchFamily="34" charset="0"/>
                <a:ea typeface="Consolas" pitchFamily="34" charset="-122"/>
                <a:cs typeface="Consolas" pitchFamily="34" charset="-120"/>
              </a:rPr>
              <a:t>12 </a:t>
            </a:r>
            <a:r>
              <a:rPr lang="en-US" sz="1400" dirty="0">
                <a:solidFill>
                  <a:srgbClr val="FFFFFF"/>
                </a:solidFill>
                <a:latin typeface="Consolas" pitchFamily="34" charset="0"/>
                <a:ea typeface="Consolas" pitchFamily="34" charset="-122"/>
                <a:cs typeface="Consolas" pitchFamily="34" charset="-120"/>
              </a:rPr>
              <a:t>  references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13 </a:t>
            </a:r>
            <a:r>
              <a:rPr lang="en-US" sz="1400" dirty="0">
                <a:solidFill>
                  <a:srgbClr val="FFFFFF"/>
                </a:solidFill>
                <a:latin typeface="Consolas" pitchFamily="34" charset="0"/>
                <a:ea typeface="Consolas" pitchFamily="34" charset="-122"/>
                <a:cs typeface="Consolas" pitchFamily="34" charset="-120"/>
              </a:rPr>
              <a:t>    ai_prompt_cards.md
</a:t>
            </a:r>
            <a:r>
              <a:rPr lang="en-US" sz="1400" dirty="0">
                <a:solidFill>
                  <a:srgbClr val="8292A2"/>
                </a:solidFill>
                <a:latin typeface="Consolas" pitchFamily="34" charset="0"/>
                <a:ea typeface="Consolas" pitchFamily="34" charset="-122"/>
                <a:cs typeface="Consolas" pitchFamily="34" charset="-120"/>
              </a:rPr>
              <a:t>14 </a:t>
            </a:r>
            <a:r>
              <a:rPr lang="en-US" sz="1400" dirty="0">
                <a:solidFill>
                  <a:srgbClr val="FFFFFF"/>
                </a:solidFill>
                <a:latin typeface="Consolas" pitchFamily="34" charset="0"/>
                <a:ea typeface="Consolas" pitchFamily="34" charset="-122"/>
                <a:cs typeface="Consolas" pitchFamily="34" charset="-120"/>
              </a:rPr>
              <a:t>    </a:t>
            </a:r>
            <a:r>
              <a:rPr lang="en-US" sz="1400" dirty="0" err="1">
                <a:solidFill>
                  <a:srgbClr val="FFFFFF"/>
                </a:solidFill>
                <a:latin typeface="Consolas" pitchFamily="34" charset="0"/>
                <a:ea typeface="Consolas" pitchFamily="34" charset="-122"/>
                <a:cs typeface="Consolas" pitchFamily="34" charset="-120"/>
              </a:rPr>
              <a:t>debugging_ladder.md</a:t>
            </a:r>
            <a:endParaRPr lang="en-US" sz="1400" dirty="0">
              <a:solidFill>
                <a:srgbClr val="FFFFFF"/>
              </a:solidFill>
              <a:latin typeface="Consolas" pitchFamily="34" charset="0"/>
              <a:ea typeface="Consolas" pitchFamily="34" charset="-122"/>
              <a:cs typeface="Consolas" pitchFamily="34" charset="-120"/>
            </a:endParaRPr>
          </a:p>
          <a:p>
            <a:pPr marL="0" indent="0">
              <a:buNone/>
            </a:pPr>
            <a:r>
              <a:rPr lang="en-US" sz="1400" dirty="0">
                <a:solidFill>
                  <a:srgbClr val="FFFFFF"/>
                </a:solidFill>
                <a:latin typeface="Consolas" pitchFamily="34" charset="0"/>
                <a:cs typeface="Consolas" pitchFamily="34" charset="-120"/>
              </a:rPr>
              <a: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10</a:t>
            </a:r>
            <a:endParaRPr lang="en-US" sz="750" dirty="0"/>
          </a:p>
        </p:txBody>
      </p:sp>
      <p:sp>
        <p:nvSpPr>
          <p:cNvPr id="6" name="Text 3"/>
          <p:cNvSpPr/>
          <p:nvPr/>
        </p:nvSpPr>
        <p:spPr>
          <a:xfrm>
            <a:off x="517358" y="1220724"/>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RStudio: quick tour</a:t>
            </a:r>
            <a:endParaRPr lang="en-US" sz="2900" dirty="0"/>
          </a:p>
        </p:txBody>
      </p:sp>
      <p:sp>
        <p:nvSpPr>
          <p:cNvPr id="8" name="Text 5"/>
          <p:cNvSpPr/>
          <p:nvPr/>
        </p:nvSpPr>
        <p:spPr>
          <a:xfrm>
            <a:off x="731520" y="2011680"/>
            <a:ext cx="2560320" cy="1325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Script
  </a:t>
            </a:r>
            <a:r>
              <a:rPr lang="en-US" sz="1600" dirty="0">
                <a:solidFill>
                  <a:srgbClr val="101820"/>
                </a:solidFill>
                <a:latin typeface="Aptos" pitchFamily="34" charset="0"/>
                <a:ea typeface="Aptos" pitchFamily="34" charset="-122"/>
                <a:cs typeface="Aptos" pitchFamily="34" charset="-120"/>
              </a:rPr>
              <a:t>Long-term code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Save + rerun</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Best for analysis</a:t>
            </a:r>
            <a:endParaRPr lang="en-US" sz="1600" dirty="0"/>
          </a:p>
        </p:txBody>
      </p:sp>
      <p:sp>
        <p:nvSpPr>
          <p:cNvPr id="9" name="Text 6"/>
          <p:cNvSpPr/>
          <p:nvPr/>
        </p:nvSpPr>
        <p:spPr>
          <a:xfrm>
            <a:off x="3566160" y="2011680"/>
            <a:ext cx="2560320" cy="1325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Console
  </a:t>
            </a:r>
            <a:r>
              <a:rPr lang="en-US" sz="1600" dirty="0">
                <a:solidFill>
                  <a:srgbClr val="101820"/>
                </a:solidFill>
                <a:latin typeface="Aptos" pitchFamily="34" charset="0"/>
                <a:ea typeface="Aptos" pitchFamily="34" charset="-122"/>
                <a:cs typeface="Aptos" pitchFamily="34" charset="-120"/>
              </a:rPr>
              <a:t>Experiment</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Test one line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Not a record</a:t>
            </a:r>
            <a:endParaRPr lang="en-US" sz="1600" dirty="0"/>
          </a:p>
        </p:txBody>
      </p:sp>
      <p:sp>
        <p:nvSpPr>
          <p:cNvPr id="10" name="Text 7"/>
          <p:cNvSpPr/>
          <p:nvPr/>
        </p:nvSpPr>
        <p:spPr>
          <a:xfrm>
            <a:off x="6400800" y="2011680"/>
            <a:ext cx="2560320" cy="1325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Environment
  </a:t>
            </a:r>
            <a:r>
              <a:rPr lang="en-US" sz="1600" dirty="0">
                <a:solidFill>
                  <a:srgbClr val="101820"/>
                </a:solidFill>
                <a:latin typeface="Aptos" pitchFamily="34" charset="0"/>
                <a:ea typeface="Aptos" pitchFamily="34" charset="-122"/>
                <a:cs typeface="Aptos" pitchFamily="34" charset="-120"/>
              </a:rPr>
              <a:t>Objects in memory</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Inspect names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Check types</a:t>
            </a:r>
            <a:endParaRPr lang="en-US" sz="1600" dirty="0"/>
          </a:p>
        </p:txBody>
      </p:sp>
      <p:sp>
        <p:nvSpPr>
          <p:cNvPr id="11" name="Text 8"/>
          <p:cNvSpPr/>
          <p:nvPr/>
        </p:nvSpPr>
        <p:spPr>
          <a:xfrm>
            <a:off x="9235440" y="2011680"/>
            <a:ext cx="2240280" cy="1325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Files/Plots/Help
  </a:t>
            </a:r>
            <a:r>
              <a:rPr lang="en-US" sz="1600" dirty="0">
                <a:solidFill>
                  <a:srgbClr val="101820"/>
                </a:solidFill>
                <a:latin typeface="Aptos" pitchFamily="34" charset="0"/>
                <a:ea typeface="Aptos" pitchFamily="34" charset="-122"/>
                <a:cs typeface="Aptos" pitchFamily="34" charset="-120"/>
              </a:rPr>
              <a:t>Find files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See output</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Read docs</a:t>
            </a:r>
            <a:endParaRPr lang="en-US" sz="1600" dirty="0"/>
          </a:p>
        </p:txBody>
      </p:sp>
      <p:sp>
        <p:nvSpPr>
          <p:cNvPr id="12" name="Text 9"/>
          <p:cNvSpPr/>
          <p:nvPr/>
        </p:nvSpPr>
        <p:spPr>
          <a:xfrm>
            <a:off x="731520" y="3913632"/>
            <a:ext cx="6766560" cy="160020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 Script: save work here</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height_cm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c</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160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170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180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height_m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height_cm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100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mean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height_m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 Console: try one quick idea</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?mean</a:t>
            </a:r>
            <a:endParaRPr lang="en-US" sz="1380" dirty="0"/>
          </a:p>
        </p:txBody>
      </p:sp>
      <p:sp>
        <p:nvSpPr>
          <p:cNvPr id="13" name="Text 10"/>
          <p:cNvSpPr/>
          <p:nvPr/>
        </p:nvSpPr>
        <p:spPr>
          <a:xfrm>
            <a:off x="7923998" y="4172070"/>
            <a:ext cx="3429000" cy="1067442"/>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r>
              <a:rPr lang="en-US" sz="1600" b="1" dirty="0">
                <a:solidFill>
                  <a:srgbClr val="00274C"/>
                </a:solidFill>
                <a:latin typeface="Aptos" pitchFamily="34" charset="0"/>
                <a:ea typeface="Aptos" pitchFamily="34" charset="-122"/>
                <a:cs typeface="Aptos" pitchFamily="34" charset="-120"/>
              </a:rPr>
              <a:t>  Goal:
  </a:t>
            </a:r>
            <a:r>
              <a:rPr lang="en-US" sz="1600" dirty="0">
                <a:solidFill>
                  <a:srgbClr val="101820"/>
                </a:solidFill>
                <a:latin typeface="Aptos" pitchFamily="34" charset="0"/>
                <a:ea typeface="Aptos" pitchFamily="34" charset="-122"/>
                <a:cs typeface="Aptos" pitchFamily="34" charset="-120"/>
              </a:rPr>
              <a:t>Open analysis/01_start_here.qmd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11</a:t>
            </a:r>
            <a:endParaRPr lang="en-US" sz="750" dirty="0"/>
          </a:p>
        </p:txBody>
      </p:sp>
      <p:sp>
        <p:nvSpPr>
          <p:cNvPr id="6" name="Text 3"/>
          <p:cNvSpPr/>
          <p:nvPr/>
        </p:nvSpPr>
        <p:spPr>
          <a:xfrm>
            <a:off x="594360" y="120700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Anatomy of R code</a:t>
            </a:r>
            <a:endParaRPr lang="en-US" sz="2900" dirty="0"/>
          </a:p>
        </p:txBody>
      </p:sp>
      <p:sp>
        <p:nvSpPr>
          <p:cNvPr id="8" name="Text 5"/>
          <p:cNvSpPr/>
          <p:nvPr/>
        </p:nvSpPr>
        <p:spPr>
          <a:xfrm>
            <a:off x="731520" y="2011680"/>
            <a:ext cx="5486400" cy="233172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adult_summary </a:t>
            </a:r>
            <a:r>
              <a:rPr lang="en-US" sz="1400" dirty="0">
                <a:solidFill>
                  <a:srgbClr val="F8F8F2"/>
                </a:solidFill>
                <a:latin typeface="Consolas" pitchFamily="34" charset="0"/>
                <a:ea typeface="Consolas" pitchFamily="34" charset="-122"/>
                <a:cs typeface="Consolas" pitchFamily="34" charset="-120"/>
              </a:rPr>
              <a:t>&lt;-</a:t>
            </a:r>
            <a:r>
              <a:rPr lang="en-US" sz="1400" dirty="0">
                <a:solidFill>
                  <a:srgbClr val="FFFFFF"/>
                </a:solidFill>
                <a:latin typeface="Consolas" pitchFamily="34" charset="0"/>
                <a:ea typeface="Consolas" pitchFamily="34" charset="-122"/>
                <a:cs typeface="Consolas" pitchFamily="34" charset="-120"/>
              </a:rPr>
              <a:t> data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filter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18</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is.na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group_by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summarize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mean_bmi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mean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endParaRPr lang="en-US" sz="1480" dirty="0"/>
          </a:p>
        </p:txBody>
      </p:sp>
      <p:sp>
        <p:nvSpPr>
          <p:cNvPr id="9" name="Text 6"/>
          <p:cNvSpPr/>
          <p:nvPr/>
        </p:nvSpPr>
        <p:spPr>
          <a:xfrm>
            <a:off x="6629400" y="1920240"/>
            <a:ext cx="2286000" cy="246888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What to notice
  </a:t>
            </a:r>
            <a:r>
              <a:rPr lang="en-US" sz="1600" dirty="0">
                <a:solidFill>
                  <a:srgbClr val="101820"/>
                </a:solidFill>
                <a:latin typeface="Aptos" pitchFamily="34" charset="0"/>
                <a:ea typeface="Aptos" pitchFamily="34" charset="-122"/>
                <a:cs typeface="Aptos" pitchFamily="34" charset="-120"/>
              </a:rPr>
              <a:t>object name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assignment</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function calls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arguments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pipes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column names</a:t>
            </a:r>
          </a:p>
          <a:p>
            <a:pPr marL="0" indent="0">
              <a:buNone/>
            </a:pPr>
            <a:r>
              <a:rPr lang="en-US" sz="1600" dirty="0">
                <a:solidFill>
                  <a:srgbClr val="101820"/>
                </a:solidFill>
                <a:latin typeface="Aptos" pitchFamily="34" charset="0"/>
                <a:ea typeface="Aptos" pitchFamily="34" charset="-122"/>
                <a:cs typeface="Aptos" pitchFamily="34" charset="-120"/>
              </a:rPr>
              <a:t>  returned value</a:t>
            </a:r>
            <a:endParaRPr lang="en-US" sz="1600" dirty="0"/>
          </a:p>
        </p:txBody>
      </p:sp>
      <p:sp>
        <p:nvSpPr>
          <p:cNvPr id="10" name="Text 7"/>
          <p:cNvSpPr/>
          <p:nvPr/>
        </p:nvSpPr>
        <p:spPr>
          <a:xfrm>
            <a:off x="9281160" y="1920240"/>
            <a:ext cx="2148840" cy="2468880"/>
          </a:xfrm>
          <a:prstGeom prst="rect">
            <a:avLst/>
          </a:prstGeom>
          <a:solidFill>
            <a:srgbClr val="FFF8DC"/>
          </a:solidFill>
          <a:ln w="12700">
            <a:solidFill>
              <a:srgbClr val="FFCB05"/>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Reading strategy
  </a:t>
            </a:r>
            <a:r>
              <a:rPr lang="en-US" sz="1600" dirty="0">
                <a:solidFill>
                  <a:srgbClr val="101820"/>
                </a:solidFill>
                <a:latin typeface="Aptos" pitchFamily="34" charset="0"/>
                <a:ea typeface="Aptos" pitchFamily="34" charset="-122"/>
                <a:cs typeface="Aptos" pitchFamily="34" charset="-120"/>
              </a:rPr>
              <a:t>Read one line at a time.   </a:t>
            </a:r>
          </a:p>
          <a:p>
            <a:pPr marL="0" indent="0">
              <a:buNone/>
            </a:pPr>
            <a:r>
              <a:rPr lang="en-US" sz="1600" dirty="0">
                <a:solidFill>
                  <a:srgbClr val="101820"/>
                </a:solidFill>
                <a:latin typeface="Aptos" pitchFamily="34" charset="0"/>
                <a:ea typeface="Aptos" pitchFamily="34" charset="-122"/>
                <a:cs typeface="Aptos" pitchFamily="34" charset="-120"/>
              </a:rPr>
              <a:t>  Ask: “What object goes   </a:t>
            </a:r>
          </a:p>
          <a:p>
            <a:pPr marL="0" indent="0">
              <a:buNone/>
            </a:pPr>
            <a:r>
              <a:rPr lang="en-US" sz="1600" dirty="0">
                <a:solidFill>
                  <a:srgbClr val="101820"/>
                </a:solidFill>
                <a:latin typeface="Aptos" pitchFamily="34" charset="0"/>
                <a:ea typeface="Aptos" pitchFamily="34" charset="-122"/>
                <a:cs typeface="Aptos" pitchFamily="34" charset="-120"/>
              </a:rPr>
              <a:t>  in? What object comes </a:t>
            </a:r>
          </a:p>
          <a:p>
            <a:pPr marL="0" indent="0">
              <a:buNone/>
            </a:pPr>
            <a:r>
              <a:rPr lang="en-US" sz="1600" dirty="0">
                <a:solidFill>
                  <a:srgbClr val="101820"/>
                </a:solidFill>
                <a:latin typeface="Aptos" pitchFamily="34" charset="0"/>
                <a:ea typeface="Aptos" pitchFamily="34" charset="-122"/>
                <a:cs typeface="Aptos" pitchFamily="34" charset="-120"/>
              </a:rPr>
              <a:t>  out?”</a:t>
            </a:r>
            <a:endParaRPr lang="en-US" sz="1600" dirty="0"/>
          </a:p>
        </p:txBody>
      </p:sp>
      <p:sp>
        <p:nvSpPr>
          <p:cNvPr id="11" name="Text 8"/>
          <p:cNvSpPr/>
          <p:nvPr/>
        </p:nvSpPr>
        <p:spPr>
          <a:xfrm>
            <a:off x="1005840" y="5074920"/>
            <a:ext cx="9784080" cy="777240"/>
          </a:xfrm>
          <a:prstGeom prst="rect">
            <a:avLst/>
          </a:prstGeom>
          <a:solidFill>
            <a:srgbClr val="FFF8DC"/>
          </a:solidFill>
          <a:ln w="15240">
            <a:solidFill>
              <a:srgbClr val="FFCB05"/>
            </a:solidFill>
          </a:ln>
        </p:spPr>
        <p:txBody>
          <a:bodyPr wrap="square" lIns="1778" tIns="1778" rIns="1778" bIns="1778"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AI checkpoint
  </a:t>
            </a:r>
            <a:r>
              <a:rPr lang="en-US" sz="1600" dirty="0">
                <a:solidFill>
                  <a:srgbClr val="101820"/>
                </a:solidFill>
                <a:latin typeface="Aptos" pitchFamily="34" charset="0"/>
                <a:ea typeface="Aptos" pitchFamily="34" charset="-122"/>
                <a:cs typeface="Aptos" pitchFamily="34" charset="-120"/>
              </a:rPr>
              <a:t>“Explain this R pipeline line by line. Identify the input and output after each line.”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15</a:t>
            </a:r>
            <a:endParaRPr lang="en-US" sz="750" dirty="0"/>
          </a:p>
        </p:txBody>
      </p:sp>
      <p:sp>
        <p:nvSpPr>
          <p:cNvPr id="6" name="Text 3"/>
          <p:cNvSpPr/>
          <p:nvPr/>
        </p:nvSpPr>
        <p:spPr>
          <a:xfrm>
            <a:off x="457200" y="1156717"/>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A brief data quality checklist</a:t>
            </a:r>
            <a:endParaRPr lang="en-US" sz="2900" dirty="0"/>
          </a:p>
        </p:txBody>
      </p:sp>
      <p:sp>
        <p:nvSpPr>
          <p:cNvPr id="8" name="Text 5"/>
          <p:cNvSpPr/>
          <p:nvPr/>
        </p:nvSpPr>
        <p:spPr>
          <a:xfrm>
            <a:off x="731520" y="19202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Types
  </a:t>
            </a:r>
            <a:r>
              <a:rPr lang="en-US" sz="1600" dirty="0">
                <a:solidFill>
                  <a:srgbClr val="101820"/>
                </a:solidFill>
                <a:latin typeface="Aptos" pitchFamily="34" charset="0"/>
                <a:ea typeface="Aptos" pitchFamily="34" charset="-122"/>
                <a:cs typeface="Aptos" pitchFamily="34" charset="-120"/>
              </a:rPr>
              <a:t>Are dates, categories, and </a:t>
            </a:r>
          </a:p>
          <a:p>
            <a:pPr marL="0" indent="0">
              <a:buNone/>
            </a:pPr>
            <a:r>
              <a:rPr lang="en-US" sz="1600" dirty="0">
                <a:solidFill>
                  <a:srgbClr val="101820"/>
                </a:solidFill>
                <a:latin typeface="Aptos" pitchFamily="34" charset="0"/>
                <a:ea typeface="Aptos" pitchFamily="34" charset="-122"/>
                <a:cs typeface="Aptos" pitchFamily="34" charset="-120"/>
              </a:rPr>
              <a:t>  numbers stored correctly?</a:t>
            </a:r>
            <a:endParaRPr lang="en-US" sz="1600" dirty="0"/>
          </a:p>
        </p:txBody>
      </p:sp>
      <p:sp>
        <p:nvSpPr>
          <p:cNvPr id="9" name="Text 6"/>
          <p:cNvSpPr/>
          <p:nvPr/>
        </p:nvSpPr>
        <p:spPr>
          <a:xfrm>
            <a:off x="4434840" y="19202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Missingness
  </a:t>
            </a:r>
            <a:r>
              <a:rPr lang="en-US" sz="1600" dirty="0">
                <a:solidFill>
                  <a:srgbClr val="101820"/>
                </a:solidFill>
                <a:latin typeface="Aptos" pitchFamily="34" charset="0"/>
                <a:ea typeface="Aptos" pitchFamily="34" charset="-122"/>
                <a:cs typeface="Aptos" pitchFamily="34" charset="-120"/>
              </a:rPr>
              <a:t>Where are NAs? Are they   </a:t>
            </a:r>
          </a:p>
          <a:p>
            <a:pPr marL="0" indent="0">
              <a:buNone/>
            </a:pPr>
            <a:r>
              <a:rPr lang="en-US" sz="1600" dirty="0">
                <a:solidFill>
                  <a:srgbClr val="101820"/>
                </a:solidFill>
                <a:latin typeface="Aptos" pitchFamily="34" charset="0"/>
                <a:ea typeface="Aptos" pitchFamily="34" charset="-122"/>
                <a:cs typeface="Aptos" pitchFamily="34" charset="-120"/>
              </a:rPr>
              <a:t>  expected?</a:t>
            </a:r>
            <a:endParaRPr lang="en-US" sz="1600" dirty="0"/>
          </a:p>
        </p:txBody>
      </p:sp>
      <p:sp>
        <p:nvSpPr>
          <p:cNvPr id="10" name="Text 7"/>
          <p:cNvSpPr/>
          <p:nvPr/>
        </p:nvSpPr>
        <p:spPr>
          <a:xfrm>
            <a:off x="8138160" y="19202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Ranges
  </a:t>
            </a:r>
            <a:r>
              <a:rPr lang="en-US" sz="1600" dirty="0">
                <a:solidFill>
                  <a:srgbClr val="101820"/>
                </a:solidFill>
                <a:latin typeface="Aptos" pitchFamily="34" charset="0"/>
                <a:ea typeface="Aptos" pitchFamily="34" charset="-122"/>
                <a:cs typeface="Aptos" pitchFamily="34" charset="-120"/>
              </a:rPr>
              <a:t>Are ages, dates, lab values, and </a:t>
            </a:r>
          </a:p>
          <a:p>
            <a:pPr marL="0" indent="0">
              <a:buNone/>
            </a:pPr>
            <a:r>
              <a:rPr lang="en-US" sz="1600" dirty="0">
                <a:solidFill>
                  <a:srgbClr val="101820"/>
                </a:solidFill>
                <a:latin typeface="Aptos" pitchFamily="34" charset="0"/>
                <a:ea typeface="Aptos" pitchFamily="34" charset="-122"/>
                <a:cs typeface="Aptos" pitchFamily="34" charset="-120"/>
              </a:rPr>
              <a:t>  counts plausible?</a:t>
            </a:r>
            <a:endParaRPr lang="en-US" sz="1600" dirty="0"/>
          </a:p>
        </p:txBody>
      </p:sp>
      <p:sp>
        <p:nvSpPr>
          <p:cNvPr id="11" name="Text 8"/>
          <p:cNvSpPr/>
          <p:nvPr/>
        </p:nvSpPr>
        <p:spPr>
          <a:xfrm>
            <a:off x="731520" y="35204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Duplicates
  </a:t>
            </a:r>
            <a:r>
              <a:rPr lang="en-US" sz="1600" dirty="0">
                <a:solidFill>
                  <a:srgbClr val="101820"/>
                </a:solidFill>
                <a:latin typeface="Aptos" pitchFamily="34" charset="0"/>
                <a:ea typeface="Aptos" pitchFamily="34" charset="-122"/>
                <a:cs typeface="Aptos" pitchFamily="34" charset="-120"/>
              </a:rPr>
              <a:t>Are there repeated IDs or rows?</a:t>
            </a:r>
            <a:endParaRPr lang="en-US" sz="1600" dirty="0"/>
          </a:p>
        </p:txBody>
      </p:sp>
      <p:sp>
        <p:nvSpPr>
          <p:cNvPr id="12" name="Text 9"/>
          <p:cNvSpPr/>
          <p:nvPr/>
        </p:nvSpPr>
        <p:spPr>
          <a:xfrm>
            <a:off x="4434840" y="35204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Groups
  </a:t>
            </a:r>
            <a:r>
              <a:rPr lang="en-US" sz="1600" dirty="0">
                <a:solidFill>
                  <a:srgbClr val="101820"/>
                </a:solidFill>
                <a:latin typeface="Aptos" pitchFamily="34" charset="0"/>
                <a:ea typeface="Aptos" pitchFamily="34" charset="-122"/>
                <a:cs typeface="Aptos" pitchFamily="34" charset="-120"/>
              </a:rPr>
              <a:t>Are categories spelled </a:t>
            </a:r>
          </a:p>
          <a:p>
            <a:pPr marL="0" indent="0">
              <a:buNone/>
            </a:pPr>
            <a:r>
              <a:rPr lang="en-US" sz="1600" dirty="0">
                <a:solidFill>
                  <a:srgbClr val="101820"/>
                </a:solidFill>
                <a:latin typeface="Aptos" pitchFamily="34" charset="0"/>
                <a:ea typeface="Aptos" pitchFamily="34" charset="-122"/>
                <a:cs typeface="Aptos" pitchFamily="34" charset="-120"/>
              </a:rPr>
              <a:t>  consistently?</a:t>
            </a:r>
            <a:endParaRPr lang="en-US" sz="1600" dirty="0"/>
          </a:p>
        </p:txBody>
      </p:sp>
      <p:sp>
        <p:nvSpPr>
          <p:cNvPr id="13" name="Text 10"/>
          <p:cNvSpPr/>
          <p:nvPr/>
        </p:nvSpPr>
        <p:spPr>
          <a:xfrm>
            <a:off x="8138160" y="3520440"/>
            <a:ext cx="3154680" cy="114300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Units
  </a:t>
            </a:r>
            <a:r>
              <a:rPr lang="en-US" sz="1600" dirty="0">
                <a:solidFill>
                  <a:srgbClr val="101820"/>
                </a:solidFill>
                <a:latin typeface="Aptos" pitchFamily="34" charset="0"/>
                <a:ea typeface="Aptos" pitchFamily="34" charset="-122"/>
                <a:cs typeface="Aptos" pitchFamily="34" charset="-120"/>
              </a:rPr>
              <a:t>Are variables on the expected </a:t>
            </a:r>
          </a:p>
          <a:p>
            <a:pPr marL="0" indent="0">
              <a:buNone/>
            </a:pPr>
            <a:r>
              <a:rPr lang="en-US" sz="1600" dirty="0">
                <a:solidFill>
                  <a:srgbClr val="101820"/>
                </a:solidFill>
                <a:latin typeface="Aptos" pitchFamily="34" charset="0"/>
                <a:ea typeface="Aptos" pitchFamily="34" charset="-122"/>
                <a:cs typeface="Aptos" pitchFamily="34" charset="-120"/>
              </a:rPr>
              <a:t>  scale?</a:t>
            </a:r>
            <a:endParaRPr lang="en-US" sz="1600" dirty="0"/>
          </a:p>
        </p:txBody>
      </p:sp>
      <p:sp>
        <p:nvSpPr>
          <p:cNvPr id="14" name="Text 11"/>
          <p:cNvSpPr/>
          <p:nvPr/>
        </p:nvSpPr>
        <p:spPr>
          <a:xfrm>
            <a:off x="2377440" y="5074920"/>
            <a:ext cx="7498080" cy="1143000"/>
          </a:xfrm>
          <a:prstGeom prst="rect">
            <a:avLst/>
          </a:prstGeom>
          <a:solidFill>
            <a:srgbClr val="0B1020"/>
          </a:solidFill>
          <a:ln w="12700">
            <a:solidFill>
              <a:srgbClr val="202938"/>
            </a:solidFill>
          </a:ln>
        </p:spPr>
        <p:txBody>
          <a:bodyPr wrap="square" lIns="1524" tIns="1524" rIns="1524" bIns="1524" rtlCol="0" anchor="ctr">
            <a:normAutofit fontScale="92500" lnSpcReduction="20000"/>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health_raw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summarize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missing_age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sum</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is.na</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min_age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min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na.rm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max_age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max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na.rm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endParaRPr lang="en-US" sz="12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16</a:t>
            </a:r>
            <a:endParaRPr lang="en-US" sz="750" dirty="0"/>
          </a:p>
        </p:txBody>
      </p:sp>
      <p:sp>
        <p:nvSpPr>
          <p:cNvPr id="6" name="Text 3"/>
          <p:cNvSpPr/>
          <p:nvPr/>
        </p:nvSpPr>
        <p:spPr>
          <a:xfrm>
            <a:off x="457200" y="1110997"/>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dplyr verbs: one mental model</a:t>
            </a:r>
            <a:endParaRPr lang="en-US" sz="2900" dirty="0"/>
          </a:p>
        </p:txBody>
      </p:sp>
      <p:sp>
        <p:nvSpPr>
          <p:cNvPr id="8" name="Text 5"/>
          <p:cNvSpPr/>
          <p:nvPr/>
        </p:nvSpPr>
        <p:spPr>
          <a:xfrm>
            <a:off x="731520" y="1920240"/>
            <a:ext cx="3154680" cy="9601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filter()
  </a:t>
            </a:r>
            <a:r>
              <a:rPr lang="en-US" sz="1600" dirty="0">
                <a:solidFill>
                  <a:srgbClr val="101820"/>
                </a:solidFill>
                <a:latin typeface="Aptos" pitchFamily="34" charset="0"/>
                <a:ea typeface="Aptos" pitchFamily="34" charset="-122"/>
                <a:cs typeface="Aptos" pitchFamily="34" charset="-120"/>
              </a:rPr>
              <a:t>Which rows?</a:t>
            </a:r>
            <a:endParaRPr lang="en-US" sz="1600" dirty="0"/>
          </a:p>
        </p:txBody>
      </p:sp>
      <p:sp>
        <p:nvSpPr>
          <p:cNvPr id="9" name="Text 6"/>
          <p:cNvSpPr/>
          <p:nvPr/>
        </p:nvSpPr>
        <p:spPr>
          <a:xfrm>
            <a:off x="4434840" y="1920240"/>
            <a:ext cx="3154680" cy="960120"/>
          </a:xfrm>
          <a:prstGeom prst="rect">
            <a:avLst/>
          </a:prstGeom>
          <a:solidFill>
            <a:srgbClr val="FFF8DC"/>
          </a:solidFill>
          <a:ln w="12700">
            <a:solidFill>
              <a:srgbClr val="FFCB05"/>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select()
  </a:t>
            </a:r>
            <a:r>
              <a:rPr lang="en-US" sz="1600" dirty="0">
                <a:solidFill>
                  <a:srgbClr val="101820"/>
                </a:solidFill>
                <a:latin typeface="Aptos" pitchFamily="34" charset="0"/>
                <a:ea typeface="Aptos" pitchFamily="34" charset="-122"/>
                <a:cs typeface="Aptos" pitchFamily="34" charset="-120"/>
              </a:rPr>
              <a:t>Which columns?</a:t>
            </a:r>
            <a:endParaRPr lang="en-US" sz="1600" dirty="0"/>
          </a:p>
        </p:txBody>
      </p:sp>
      <p:sp>
        <p:nvSpPr>
          <p:cNvPr id="10" name="Text 7"/>
          <p:cNvSpPr/>
          <p:nvPr/>
        </p:nvSpPr>
        <p:spPr>
          <a:xfrm>
            <a:off x="8138160" y="1920240"/>
            <a:ext cx="3154680" cy="9601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mutate()
  </a:t>
            </a:r>
            <a:r>
              <a:rPr lang="en-US" sz="1600" dirty="0">
                <a:solidFill>
                  <a:srgbClr val="101820"/>
                </a:solidFill>
                <a:latin typeface="Aptos" pitchFamily="34" charset="0"/>
                <a:ea typeface="Aptos" pitchFamily="34" charset="-122"/>
                <a:cs typeface="Aptos" pitchFamily="34" charset="-120"/>
              </a:rPr>
              <a:t>What new variables?</a:t>
            </a:r>
            <a:endParaRPr lang="en-US" sz="1600" dirty="0"/>
          </a:p>
        </p:txBody>
      </p:sp>
      <p:sp>
        <p:nvSpPr>
          <p:cNvPr id="11" name="Text 8"/>
          <p:cNvSpPr/>
          <p:nvPr/>
        </p:nvSpPr>
        <p:spPr>
          <a:xfrm>
            <a:off x="731520" y="3337560"/>
            <a:ext cx="3154680" cy="960120"/>
          </a:xfrm>
          <a:prstGeom prst="rect">
            <a:avLst/>
          </a:prstGeom>
          <a:solidFill>
            <a:srgbClr val="FFF8DC"/>
          </a:solidFill>
          <a:ln w="12700">
            <a:solidFill>
              <a:srgbClr val="FFCB05"/>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arrange()
  </a:t>
            </a:r>
            <a:r>
              <a:rPr lang="en-US" sz="1600" dirty="0">
                <a:solidFill>
                  <a:srgbClr val="101820"/>
                </a:solidFill>
                <a:latin typeface="Aptos" pitchFamily="34" charset="0"/>
                <a:ea typeface="Aptos" pitchFamily="34" charset="-122"/>
                <a:cs typeface="Aptos" pitchFamily="34" charset="-120"/>
              </a:rPr>
              <a:t>In what order?</a:t>
            </a:r>
            <a:endParaRPr lang="en-US" sz="1600" dirty="0"/>
          </a:p>
        </p:txBody>
      </p:sp>
      <p:sp>
        <p:nvSpPr>
          <p:cNvPr id="12" name="Text 9"/>
          <p:cNvSpPr/>
          <p:nvPr/>
        </p:nvSpPr>
        <p:spPr>
          <a:xfrm>
            <a:off x="4434840" y="3337560"/>
            <a:ext cx="3154680" cy="960120"/>
          </a:xfrm>
          <a:prstGeom prst="rect">
            <a:avLst/>
          </a:prstGeom>
          <a:solidFill>
            <a:srgbClr val="F7FAFE"/>
          </a:solidFill>
          <a:ln w="12700">
            <a:solidFill>
              <a:srgbClr val="D6DEE8"/>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a:t>
            </a:r>
            <a:r>
              <a:rPr lang="en-US" sz="1600" b="1" dirty="0" err="1">
                <a:solidFill>
                  <a:srgbClr val="00274C"/>
                </a:solidFill>
                <a:latin typeface="Aptos" pitchFamily="34" charset="0"/>
                <a:ea typeface="Aptos" pitchFamily="34" charset="-122"/>
                <a:cs typeface="Aptos" pitchFamily="34" charset="-120"/>
              </a:rPr>
              <a:t>group_by</a:t>
            </a:r>
            <a:r>
              <a:rPr lang="en-US" sz="1600" b="1" dirty="0">
                <a:solidFill>
                  <a:srgbClr val="00274C"/>
                </a:solidFill>
                <a:latin typeface="Aptos" pitchFamily="34" charset="0"/>
                <a:ea typeface="Aptos" pitchFamily="34" charset="-122"/>
                <a:cs typeface="Aptos" pitchFamily="34" charset="-120"/>
              </a:rPr>
              <a:t>()
  </a:t>
            </a:r>
            <a:r>
              <a:rPr lang="en-US" sz="1600" dirty="0">
                <a:solidFill>
                  <a:srgbClr val="101820"/>
                </a:solidFill>
                <a:latin typeface="Aptos" pitchFamily="34" charset="0"/>
                <a:ea typeface="Aptos" pitchFamily="34" charset="-122"/>
                <a:cs typeface="Aptos" pitchFamily="34" charset="-120"/>
              </a:rPr>
              <a:t>By which groups?</a:t>
            </a:r>
            <a:endParaRPr lang="en-US" sz="1600" dirty="0"/>
          </a:p>
        </p:txBody>
      </p:sp>
      <p:sp>
        <p:nvSpPr>
          <p:cNvPr id="13" name="Text 10"/>
          <p:cNvSpPr/>
          <p:nvPr/>
        </p:nvSpPr>
        <p:spPr>
          <a:xfrm>
            <a:off x="8138160" y="3337560"/>
            <a:ext cx="3154680" cy="960120"/>
          </a:xfrm>
          <a:prstGeom prst="rect">
            <a:avLst/>
          </a:prstGeom>
          <a:solidFill>
            <a:srgbClr val="FFF8DC"/>
          </a:solidFill>
          <a:ln w="12700">
            <a:solidFill>
              <a:srgbClr val="FFCB05"/>
            </a:solidFill>
          </a:ln>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summarize()
  </a:t>
            </a:r>
            <a:r>
              <a:rPr lang="en-US" sz="1600" dirty="0">
                <a:solidFill>
                  <a:srgbClr val="101820"/>
                </a:solidFill>
                <a:latin typeface="Aptos" pitchFamily="34" charset="0"/>
                <a:ea typeface="Aptos" pitchFamily="34" charset="-122"/>
                <a:cs typeface="Aptos" pitchFamily="34" charset="-120"/>
              </a:rPr>
              <a:t>What summary per group?</a:t>
            </a:r>
            <a:endParaRPr lang="en-US" sz="1600" dirty="0"/>
          </a:p>
        </p:txBody>
      </p:sp>
      <p:sp>
        <p:nvSpPr>
          <p:cNvPr id="14" name="Text 11"/>
          <p:cNvSpPr/>
          <p:nvPr/>
        </p:nvSpPr>
        <p:spPr>
          <a:xfrm>
            <a:off x="1051560" y="4709160"/>
            <a:ext cx="10012680" cy="128016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health_raw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filter</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18</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mutate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bmi_group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if_else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bmi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30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"30+"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"&lt;30"</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group_by</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sex</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bmi_group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|&gt;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summarize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n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mean_sbp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mean</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systolic_bp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na.rm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AE81FF"/>
                </a:solidFill>
                <a:latin typeface="Consolas" pitchFamily="34" charset="0"/>
                <a:ea typeface="Consolas" pitchFamily="34" charset="-122"/>
                <a:cs typeface="Consolas" pitchFamily="34" charset="-120"/>
              </a:rPr>
              <a:t>TRUE</a:t>
            </a:r>
            <a:r>
              <a:rPr lang="en-US" sz="1400" dirty="0">
                <a:solidFill>
                  <a:srgbClr val="F8F8F2"/>
                </a:solidFill>
                <a:latin typeface="Consolas" pitchFamily="34" charset="0"/>
                <a:ea typeface="Consolas" pitchFamily="34" charset="-122"/>
                <a:cs typeface="Consolas" pitchFamily="34" charset="-120"/>
              </a:rPr>
              <a: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18</a:t>
            </a:r>
            <a:endParaRPr lang="en-US" sz="750" dirty="0"/>
          </a:p>
        </p:txBody>
      </p:sp>
      <p:sp>
        <p:nvSpPr>
          <p:cNvPr id="6" name="Text 3"/>
          <p:cNvSpPr/>
          <p:nvPr/>
        </p:nvSpPr>
        <p:spPr>
          <a:xfrm>
            <a:off x="525780" y="118414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ggplot2: the grammar of graphics</a:t>
            </a:r>
            <a:endParaRPr lang="en-US" sz="2900" dirty="0"/>
          </a:p>
        </p:txBody>
      </p:sp>
      <p:sp>
        <p:nvSpPr>
          <p:cNvPr id="8" name="Text 5"/>
          <p:cNvSpPr/>
          <p:nvPr/>
        </p:nvSpPr>
        <p:spPr>
          <a:xfrm>
            <a:off x="914400" y="2011680"/>
            <a:ext cx="1828800" cy="457200"/>
          </a:xfrm>
          <a:prstGeom prst="rect">
            <a:avLst/>
          </a:prstGeom>
          <a:solidFill>
            <a:srgbClr val="EAF1F8"/>
          </a:solidFill>
          <a:ln w="12700">
            <a:solidFill>
              <a:srgbClr val="BBD2E8"/>
            </a:solidFill>
          </a:ln>
        </p:spPr>
        <p:txBody>
          <a:bodyPr wrap="square" lIns="0" tIns="0" rIns="0" bIns="0" rtlCol="0" anchor="ctr"/>
          <a:lstStyle/>
          <a:p>
            <a:pPr marL="0" indent="0" algn="ctr">
              <a:buNone/>
            </a:pPr>
            <a:r>
              <a:rPr lang="en-US" sz="2200" b="1" dirty="0">
                <a:solidFill>
                  <a:srgbClr val="00274C"/>
                </a:solidFill>
              </a:rPr>
              <a:t>data</a:t>
            </a:r>
            <a:endParaRPr lang="en-US" sz="2200" dirty="0"/>
          </a:p>
        </p:txBody>
      </p:sp>
      <p:sp>
        <p:nvSpPr>
          <p:cNvPr id="9" name="Text 6"/>
          <p:cNvSpPr/>
          <p:nvPr/>
        </p:nvSpPr>
        <p:spPr>
          <a:xfrm>
            <a:off x="3429000" y="2011680"/>
            <a:ext cx="1828800" cy="731520"/>
          </a:xfrm>
          <a:prstGeom prst="rect">
            <a:avLst/>
          </a:prstGeom>
          <a:solidFill>
            <a:srgbClr val="EAF1F8"/>
          </a:solidFill>
          <a:ln w="12700">
            <a:solidFill>
              <a:srgbClr val="BBD2E8"/>
            </a:solidFill>
          </a:ln>
        </p:spPr>
        <p:txBody>
          <a:bodyPr wrap="square" lIns="508" tIns="508" rIns="508" bIns="508" rtlCol="0" anchor="ctr"/>
          <a:lstStyle/>
          <a:p>
            <a:pPr marL="0" indent="0" algn="ctr">
              <a:buNone/>
            </a:pPr>
            <a:r>
              <a:rPr lang="en-US" sz="1900" b="1" dirty="0">
                <a:solidFill>
                  <a:srgbClr val="00274C"/>
                </a:solidFill>
              </a:rPr>
              <a:t>mapping</a:t>
            </a:r>
          </a:p>
          <a:p>
            <a:pPr marL="0" indent="0" algn="ctr">
              <a:buNone/>
            </a:pPr>
            <a:r>
              <a:rPr lang="en-US" sz="1900" b="1" dirty="0" err="1">
                <a:solidFill>
                  <a:srgbClr val="00274C"/>
                </a:solidFill>
              </a:rPr>
              <a:t>aes</a:t>
            </a:r>
            <a:r>
              <a:rPr lang="en-US" sz="1900" b="1" dirty="0">
                <a:solidFill>
                  <a:srgbClr val="00274C"/>
                </a:solidFill>
              </a:rPr>
              <a:t>()</a:t>
            </a:r>
            <a:endParaRPr lang="en-US" sz="1900" dirty="0"/>
          </a:p>
        </p:txBody>
      </p:sp>
      <p:sp>
        <p:nvSpPr>
          <p:cNvPr id="10" name="Text 7"/>
          <p:cNvSpPr/>
          <p:nvPr/>
        </p:nvSpPr>
        <p:spPr>
          <a:xfrm>
            <a:off x="5943600" y="2011680"/>
            <a:ext cx="1828800" cy="731520"/>
          </a:xfrm>
          <a:prstGeom prst="rect">
            <a:avLst/>
          </a:prstGeom>
          <a:solidFill>
            <a:srgbClr val="FFF8DC"/>
          </a:solidFill>
          <a:ln w="12700">
            <a:solidFill>
              <a:srgbClr val="FFCB05"/>
            </a:solidFill>
          </a:ln>
        </p:spPr>
        <p:txBody>
          <a:bodyPr wrap="square" lIns="508" tIns="508" rIns="508" bIns="508" rtlCol="0" anchor="ctr"/>
          <a:lstStyle/>
          <a:p>
            <a:pPr marL="0" indent="0" algn="ctr">
              <a:buNone/>
            </a:pPr>
            <a:r>
              <a:rPr lang="en-US" sz="1900" b="1" dirty="0">
                <a:solidFill>
                  <a:srgbClr val="00274C"/>
                </a:solidFill>
              </a:rPr>
              <a:t>geometry</a:t>
            </a:r>
            <a:endParaRPr lang="en-US" sz="1900" dirty="0"/>
          </a:p>
          <a:p>
            <a:pPr marL="0" indent="0" algn="ctr">
              <a:buNone/>
            </a:pPr>
            <a:r>
              <a:rPr lang="en-US" sz="1900" b="1" dirty="0">
                <a:solidFill>
                  <a:srgbClr val="00274C"/>
                </a:solidFill>
              </a:rPr>
              <a:t>geom_*()</a:t>
            </a:r>
            <a:endParaRPr lang="en-US" sz="1900" dirty="0"/>
          </a:p>
        </p:txBody>
      </p:sp>
      <p:sp>
        <p:nvSpPr>
          <p:cNvPr id="11" name="Text 8"/>
          <p:cNvSpPr/>
          <p:nvPr/>
        </p:nvSpPr>
        <p:spPr>
          <a:xfrm>
            <a:off x="8458200" y="2011680"/>
            <a:ext cx="1828800" cy="731520"/>
          </a:xfrm>
          <a:prstGeom prst="rect">
            <a:avLst/>
          </a:prstGeom>
          <a:solidFill>
            <a:srgbClr val="EAF1F8"/>
          </a:solidFill>
          <a:ln w="12700">
            <a:solidFill>
              <a:srgbClr val="BBD2E8"/>
            </a:solidFill>
          </a:ln>
        </p:spPr>
        <p:txBody>
          <a:bodyPr wrap="square" lIns="508" tIns="508" rIns="508" bIns="508" rtlCol="0" anchor="ctr"/>
          <a:lstStyle/>
          <a:p>
            <a:pPr marL="0" indent="0" algn="ctr">
              <a:buNone/>
            </a:pPr>
            <a:r>
              <a:rPr lang="en-US" sz="1900" b="1" dirty="0">
                <a:solidFill>
                  <a:srgbClr val="00274C"/>
                </a:solidFill>
              </a:rPr>
              <a:t>labels</a:t>
            </a:r>
            <a:endParaRPr lang="en-US" sz="1900" dirty="0"/>
          </a:p>
          <a:p>
            <a:pPr marL="0" indent="0" algn="ctr">
              <a:buNone/>
            </a:pPr>
            <a:r>
              <a:rPr lang="en-US" sz="1900" b="1" dirty="0">
                <a:solidFill>
                  <a:srgbClr val="00274C"/>
                </a:solidFill>
              </a:rPr>
              <a:t>themes</a:t>
            </a:r>
            <a:endParaRPr lang="en-US" sz="1900" dirty="0"/>
          </a:p>
        </p:txBody>
      </p:sp>
      <p:sp>
        <p:nvSpPr>
          <p:cNvPr id="12" name="Text 9"/>
          <p:cNvSpPr/>
          <p:nvPr/>
        </p:nvSpPr>
        <p:spPr>
          <a:xfrm>
            <a:off x="2788920" y="2148840"/>
            <a:ext cx="411480" cy="274320"/>
          </a:xfrm>
          <a:prstGeom prst="rect">
            <a:avLst/>
          </a:prstGeom>
          <a:noFill/>
          <a:ln/>
        </p:spPr>
        <p:txBody>
          <a:bodyPr wrap="square" lIns="0" tIns="0" rIns="0" bIns="0" rtlCol="0" anchor="ctr"/>
          <a:lstStyle/>
          <a:p>
            <a:pPr marL="0" indent="0" algn="ctr">
              <a:buNone/>
            </a:pPr>
            <a:r>
              <a:rPr lang="en-US" sz="2400" b="1" dirty="0">
                <a:solidFill>
                  <a:srgbClr val="6B7280"/>
                </a:solidFill>
              </a:rPr>
              <a:t>→</a:t>
            </a:r>
            <a:endParaRPr lang="en-US" sz="2400" dirty="0"/>
          </a:p>
        </p:txBody>
      </p:sp>
      <p:sp>
        <p:nvSpPr>
          <p:cNvPr id="13" name="Text 10"/>
          <p:cNvSpPr/>
          <p:nvPr/>
        </p:nvSpPr>
        <p:spPr>
          <a:xfrm>
            <a:off x="5303520" y="2148840"/>
            <a:ext cx="411480" cy="274320"/>
          </a:xfrm>
          <a:prstGeom prst="rect">
            <a:avLst/>
          </a:prstGeom>
          <a:noFill/>
          <a:ln/>
        </p:spPr>
        <p:txBody>
          <a:bodyPr wrap="square" lIns="0" tIns="0" rIns="0" bIns="0" rtlCol="0" anchor="ctr"/>
          <a:lstStyle/>
          <a:p>
            <a:pPr marL="0" indent="0" algn="ctr">
              <a:buNone/>
            </a:pPr>
            <a:r>
              <a:rPr lang="en-US" sz="2400" b="1" dirty="0">
                <a:solidFill>
                  <a:srgbClr val="6B7280"/>
                </a:solidFill>
              </a:rPr>
              <a:t>→</a:t>
            </a:r>
            <a:endParaRPr lang="en-US" sz="2400" dirty="0"/>
          </a:p>
        </p:txBody>
      </p:sp>
      <p:sp>
        <p:nvSpPr>
          <p:cNvPr id="14" name="Text 11"/>
          <p:cNvSpPr/>
          <p:nvPr/>
        </p:nvSpPr>
        <p:spPr>
          <a:xfrm>
            <a:off x="7818120" y="2148840"/>
            <a:ext cx="411480" cy="274320"/>
          </a:xfrm>
          <a:prstGeom prst="rect">
            <a:avLst/>
          </a:prstGeom>
          <a:noFill/>
          <a:ln/>
        </p:spPr>
        <p:txBody>
          <a:bodyPr wrap="square" lIns="0" tIns="0" rIns="0" bIns="0" rtlCol="0" anchor="ctr"/>
          <a:lstStyle/>
          <a:p>
            <a:pPr marL="0" indent="0" algn="ctr">
              <a:buNone/>
            </a:pPr>
            <a:r>
              <a:rPr lang="en-US" sz="2400" b="1" dirty="0">
                <a:solidFill>
                  <a:srgbClr val="6B7280"/>
                </a:solidFill>
              </a:rPr>
              <a:t>→</a:t>
            </a:r>
            <a:endParaRPr lang="en-US" sz="2400" dirty="0"/>
          </a:p>
        </p:txBody>
      </p:sp>
      <p:sp>
        <p:nvSpPr>
          <p:cNvPr id="15" name="Text 12"/>
          <p:cNvSpPr/>
          <p:nvPr/>
        </p:nvSpPr>
        <p:spPr>
          <a:xfrm>
            <a:off x="1005840" y="3703320"/>
            <a:ext cx="10058400" cy="160020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ggplot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data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patients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x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y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color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treatment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  geom_point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labs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x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y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color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"Treatment"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FFFFF"/>
                </a:solidFill>
                <a:latin typeface="Consolas" pitchFamily="34" charset="0"/>
                <a:ea typeface="Consolas" pitchFamily="34" charset="-122"/>
                <a:cs typeface="Consolas" pitchFamily="34" charset="-120"/>
              </a:rPr>
              <a:t>  theme_minimal</a:t>
            </a:r>
            <a:r>
              <a:rPr lang="en-US" sz="1400" dirty="0">
                <a:solidFill>
                  <a:srgbClr val="F8F8F2"/>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DAY 1</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19</a:t>
            </a:r>
            <a:endParaRPr lang="en-US" sz="750" dirty="0"/>
          </a:p>
        </p:txBody>
      </p:sp>
      <p:sp>
        <p:nvSpPr>
          <p:cNvPr id="6" name="Text 3"/>
          <p:cNvSpPr/>
          <p:nvPr/>
        </p:nvSpPr>
        <p:spPr>
          <a:xfrm>
            <a:off x="433137" y="1133855"/>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Build a plot one layer at a time</a:t>
            </a:r>
            <a:endParaRPr lang="en-US" sz="2900" dirty="0"/>
          </a:p>
        </p:txBody>
      </p:sp>
      <p:sp>
        <p:nvSpPr>
          <p:cNvPr id="8" name="Text 5"/>
          <p:cNvSpPr/>
          <p:nvPr/>
        </p:nvSpPr>
        <p:spPr>
          <a:xfrm>
            <a:off x="774834" y="2334126"/>
            <a:ext cx="4754880" cy="310896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ggplot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patients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age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geom_point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5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color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treatment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6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7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facet_wrap</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site</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8 </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9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labs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title </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"BMI by age and treatment"</a:t>
            </a:r>
            <a:r>
              <a:rPr lang="en-US" sz="1400" dirty="0">
                <a:solidFill>
                  <a:srgbClr val="F8F8F2"/>
                </a:solidFill>
                <a:latin typeface="Consolas" pitchFamily="34" charset="0"/>
                <a:ea typeface="Consolas" pitchFamily="34" charset="-122"/>
                <a:cs typeface="Consolas" pitchFamily="34" charset="-120"/>
              </a:rPr>
              <a:t>)</a:t>
            </a:r>
            <a:endParaRPr lang="en-US" sz="1400" dirty="0"/>
          </a:p>
        </p:txBody>
      </p:sp>
      <p:sp>
        <p:nvSpPr>
          <p:cNvPr id="9" name="Text 6"/>
          <p:cNvSpPr/>
          <p:nvPr/>
        </p:nvSpPr>
        <p:spPr>
          <a:xfrm>
            <a:off x="6094476" y="2656332"/>
            <a:ext cx="4892040" cy="210312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Checkpoint after each layer
  </a:t>
            </a:r>
            <a:r>
              <a:rPr lang="en-US" sz="1600" dirty="0">
                <a:solidFill>
                  <a:srgbClr val="101820"/>
                </a:solidFill>
                <a:latin typeface="Aptos" pitchFamily="34" charset="0"/>
                <a:ea typeface="Aptos" pitchFamily="34" charset="-122"/>
                <a:cs typeface="Aptos" pitchFamily="34" charset="-120"/>
              </a:rPr>
              <a:t>Did the plot render?</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Do the axes make sense?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Did the color/facet split by the intended variable?</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Is the title a claim or a description?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pic>
        <p:nvPicPr>
          <p:cNvPr id="2" name="Image 0" descr="/mnt/data/pptx_extract/ppt/media/image2.png"/>
          <p:cNvPicPr>
            <a:picLocks noChangeAspect="1"/>
          </p:cNvPicPr>
          <p:nvPr/>
        </p:nvPicPr>
        <p:blipFill>
          <a:blip r:embed="rId3"/>
          <a:stretch>
            <a:fillRect/>
          </a:stretch>
        </p:blipFill>
        <p:spPr>
          <a:xfrm>
            <a:off x="322783" y="164592"/>
            <a:ext cx="3423514" cy="713232"/>
          </a:xfrm>
          <a:prstGeom prst="rect">
            <a:avLst/>
          </a:prstGeom>
        </p:spPr>
      </p:pic>
      <p:sp>
        <p:nvSpPr>
          <p:cNvPr id="3" name="Text 0"/>
          <p:cNvSpPr/>
          <p:nvPr/>
        </p:nvSpPr>
        <p:spPr>
          <a:xfrm>
            <a:off x="9326880" y="201168"/>
            <a:ext cx="2331720" cy="274320"/>
          </a:xfrm>
          <a:prstGeom prst="rect">
            <a:avLst/>
          </a:prstGeom>
          <a:noFill/>
          <a:ln/>
        </p:spPr>
        <p:txBody>
          <a:bodyPr wrap="square" lIns="0" tIns="0" rIns="0" bIns="0" rtlCol="0" anchor="ctr"/>
          <a:lstStyle/>
          <a:p>
            <a:pPr marL="0" indent="0" algn="r">
              <a:buNone/>
            </a:pPr>
            <a:r>
              <a:rPr lang="en-US" sz="850" b="1" dirty="0">
                <a:solidFill>
                  <a:srgbClr val="00274C"/>
                </a:solidFill>
                <a:latin typeface="Aptos" pitchFamily="34" charset="0"/>
                <a:ea typeface="Aptos" pitchFamily="34" charset="-122"/>
                <a:cs typeface="Aptos" pitchFamily="34" charset="-120"/>
              </a:rPr>
              <a:t>AI CHECKPOINT</a:t>
            </a:r>
            <a:endParaRPr lang="en-US" sz="850" dirty="0"/>
          </a:p>
        </p:txBody>
      </p:sp>
      <p:sp>
        <p:nvSpPr>
          <p:cNvPr id="4" name="Shape 1"/>
          <p:cNvSpPr/>
          <p:nvPr/>
        </p:nvSpPr>
        <p:spPr>
          <a:xfrm>
            <a:off x="320040" y="950976"/>
            <a:ext cx="11548872" cy="0"/>
          </a:xfrm>
          <a:prstGeom prst="line">
            <a:avLst/>
          </a:prstGeom>
          <a:noFill/>
          <a:ln w="15240">
            <a:solidFill>
              <a:srgbClr val="EAF1F8"/>
            </a:solidFill>
            <a:prstDash val="solid"/>
          </a:ln>
        </p:spPr>
        <p:txBody>
          <a:bodyPr/>
          <a:lstStyle/>
          <a:p>
            <a:endParaRPr lang="en-US"/>
          </a:p>
        </p:txBody>
      </p:sp>
      <p:sp>
        <p:nvSpPr>
          <p:cNvPr id="5" name="Text 2"/>
          <p:cNvSpPr/>
          <p:nvPr/>
        </p:nvSpPr>
        <p:spPr>
          <a:xfrm>
            <a:off x="11521440" y="6464808"/>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20</a:t>
            </a:r>
            <a:endParaRPr lang="en-US" sz="750" dirty="0"/>
          </a:p>
        </p:txBody>
      </p:sp>
      <p:sp>
        <p:nvSpPr>
          <p:cNvPr id="6" name="Text 3"/>
          <p:cNvSpPr/>
          <p:nvPr/>
        </p:nvSpPr>
        <p:spPr>
          <a:xfrm>
            <a:off x="409074" y="1138428"/>
            <a:ext cx="10835640" cy="502920"/>
          </a:xfrm>
          <a:prstGeom prst="rect">
            <a:avLst/>
          </a:prstGeom>
          <a:noFill/>
          <a:ln/>
        </p:spPr>
        <p:txBody>
          <a:bodyPr wrap="square" lIns="0" tIns="0" rIns="0" bIns="0" rtlCol="0" anchor="ctr">
            <a:normAutofit/>
          </a:bodyPr>
          <a:lstStyle/>
          <a:p>
            <a:pPr marL="0" indent="0">
              <a:buNone/>
            </a:pPr>
            <a:r>
              <a:rPr lang="en-US" sz="2900" b="1" dirty="0">
                <a:solidFill>
                  <a:srgbClr val="00274C"/>
                </a:solidFill>
                <a:latin typeface="Aptos Display" pitchFamily="34" charset="0"/>
                <a:ea typeface="Aptos Display" pitchFamily="34" charset="-122"/>
                <a:cs typeface="Aptos Display" pitchFamily="34" charset="-120"/>
              </a:rPr>
              <a:t>Turn a plot idea into ggplot code</a:t>
            </a:r>
            <a:endParaRPr lang="en-US" sz="2900" dirty="0"/>
          </a:p>
        </p:txBody>
      </p:sp>
      <p:sp>
        <p:nvSpPr>
          <p:cNvPr id="8" name="Text 5"/>
          <p:cNvSpPr/>
          <p:nvPr/>
        </p:nvSpPr>
        <p:spPr>
          <a:xfrm>
            <a:off x="812998" y="1933956"/>
            <a:ext cx="5866598" cy="2011680"/>
          </a:xfrm>
          <a:prstGeom prst="rect">
            <a:avLst/>
          </a:prstGeom>
          <a:solidFill>
            <a:srgbClr val="FFF8DC"/>
          </a:solidFill>
          <a:ln w="15240">
            <a:solidFill>
              <a:srgbClr val="FFCB05"/>
            </a:solidFill>
          </a:ln>
        </p:spPr>
        <p:txBody>
          <a:bodyPr wrap="square" lIns="1778" tIns="1778" rIns="1778" bIns="1778"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Prompt:
  </a:t>
            </a:r>
            <a:r>
              <a:rPr lang="en-US" sz="1600" dirty="0">
                <a:solidFill>
                  <a:srgbClr val="101820"/>
                </a:solidFill>
                <a:latin typeface="Aptos" pitchFamily="34" charset="0"/>
                <a:ea typeface="Aptos" pitchFamily="34" charset="-122"/>
                <a:cs typeface="Aptos" pitchFamily="34" charset="-120"/>
              </a:rPr>
              <a:t>“I have a data frame called health with columns age, bmi,   </a:t>
            </a:r>
          </a:p>
          <a:p>
            <a:pPr marL="0" indent="0">
              <a:buNone/>
            </a:pPr>
            <a:r>
              <a:rPr lang="en-US" sz="1600" dirty="0">
                <a:solidFill>
                  <a:srgbClr val="101820"/>
                </a:solidFill>
                <a:latin typeface="Aptos" pitchFamily="34" charset="0"/>
                <a:ea typeface="Aptos" pitchFamily="34" charset="-122"/>
                <a:cs typeface="Aptos" pitchFamily="34" charset="-120"/>
              </a:rPr>
              <a:t>  </a:t>
            </a:r>
            <a:r>
              <a:rPr lang="en-US" sz="1600" dirty="0" err="1">
                <a:solidFill>
                  <a:srgbClr val="101820"/>
                </a:solidFill>
                <a:latin typeface="Aptos" pitchFamily="34" charset="0"/>
                <a:ea typeface="Aptos" pitchFamily="34" charset="-122"/>
                <a:cs typeface="Aptos" pitchFamily="34" charset="-120"/>
              </a:rPr>
              <a:t>smoking_status</a:t>
            </a:r>
            <a:r>
              <a:rPr lang="en-US" sz="1600" dirty="0">
                <a:solidFill>
                  <a:srgbClr val="101820"/>
                </a:solidFill>
                <a:latin typeface="Aptos" pitchFamily="34" charset="0"/>
                <a:ea typeface="Aptos" pitchFamily="34" charset="-122"/>
                <a:cs typeface="Aptos" pitchFamily="34" charset="-120"/>
              </a:rPr>
              <a:t>. I want to compare BMI by age and </a:t>
            </a:r>
          </a:p>
          <a:p>
            <a:pPr marL="0" indent="0">
              <a:buNone/>
            </a:pPr>
            <a:r>
              <a:rPr lang="en-US" sz="1600" dirty="0">
                <a:solidFill>
                  <a:srgbClr val="101820"/>
                </a:solidFill>
                <a:latin typeface="Aptos" pitchFamily="34" charset="0"/>
                <a:ea typeface="Aptos" pitchFamily="34" charset="-122"/>
                <a:cs typeface="Aptos" pitchFamily="34" charset="-120"/>
              </a:rPr>
              <a:t>  </a:t>
            </a:r>
            <a:r>
              <a:rPr lang="en-US" sz="1600" dirty="0" err="1">
                <a:solidFill>
                  <a:srgbClr val="101820"/>
                </a:solidFill>
                <a:latin typeface="Aptos" pitchFamily="34" charset="0"/>
                <a:ea typeface="Aptos" pitchFamily="34" charset="-122"/>
                <a:cs typeface="Aptos" pitchFamily="34" charset="-120"/>
              </a:rPr>
              <a:t>smoking_status</a:t>
            </a:r>
            <a:r>
              <a:rPr lang="en-US" sz="1600" dirty="0">
                <a:solidFill>
                  <a:srgbClr val="101820"/>
                </a:solidFill>
                <a:latin typeface="Aptos" pitchFamily="34" charset="0"/>
                <a:ea typeface="Aptos" pitchFamily="34" charset="-122"/>
                <a:cs typeface="Aptos" pitchFamily="34" charset="-120"/>
              </a:rPr>
              <a:t>. Give me one ggplot2 plot, explain each layer, and </a:t>
            </a:r>
          </a:p>
          <a:p>
            <a:pPr marL="0" indent="0">
              <a:buNone/>
            </a:pPr>
            <a:r>
              <a:rPr lang="en-US" sz="1600" dirty="0">
                <a:solidFill>
                  <a:srgbClr val="101820"/>
                </a:solidFill>
                <a:latin typeface="Aptos" pitchFamily="34" charset="0"/>
                <a:ea typeface="Aptos" pitchFamily="34" charset="-122"/>
                <a:cs typeface="Aptos" pitchFamily="34" charset="-120"/>
              </a:rPr>
              <a:t>  include labels. Do not invent columns.”</a:t>
            </a:r>
            <a:endParaRPr lang="en-US" sz="1600" dirty="0"/>
          </a:p>
        </p:txBody>
      </p:sp>
      <p:sp>
        <p:nvSpPr>
          <p:cNvPr id="9" name="Text 6"/>
          <p:cNvSpPr/>
          <p:nvPr/>
        </p:nvSpPr>
        <p:spPr>
          <a:xfrm>
            <a:off x="6903720" y="2057400"/>
            <a:ext cx="4206240" cy="1737360"/>
          </a:xfrm>
          <a:prstGeom prst="rect">
            <a:avLst/>
          </a:prstGeom>
          <a:solidFill>
            <a:srgbClr val="F7FAFE"/>
          </a:solidFill>
          <a:ln w="12700">
            <a:solidFill>
              <a:srgbClr val="D6DEE8"/>
            </a:solidFill>
          </a:ln>
          <a:effectLst>
            <a:outerShdw blurRad="12700" dist="6350" dir="2700000" algn="bl" rotWithShape="0">
              <a:srgbClr val="000000">
                <a:alpha val="10000"/>
              </a:srgbClr>
            </a:outerShdw>
          </a:effectLst>
        </p:spPr>
        <p:txBody>
          <a:bodyPr wrap="square" lIns="1524" tIns="1524" rIns="1524" bIns="1524" rtlCol="0" anchor="ctr">
            <a:normAutofit/>
          </a:bodyPr>
          <a:lstStyle/>
          <a:p>
            <a:pPr marL="0" indent="0">
              <a:buNone/>
            </a:pPr>
            <a:r>
              <a:rPr lang="en-US" sz="1600" b="1" dirty="0">
                <a:solidFill>
                  <a:srgbClr val="00274C"/>
                </a:solidFill>
                <a:latin typeface="Aptos" pitchFamily="34" charset="0"/>
                <a:ea typeface="Aptos" pitchFamily="34" charset="-122"/>
                <a:cs typeface="Aptos" pitchFamily="34" charset="-120"/>
              </a:rPr>
              <a:t>  Then verify
  </a:t>
            </a:r>
            <a:r>
              <a:rPr lang="en-US" sz="1600" dirty="0">
                <a:solidFill>
                  <a:srgbClr val="101820"/>
                </a:solidFill>
                <a:latin typeface="Aptos" pitchFamily="34" charset="0"/>
                <a:ea typeface="Aptos" pitchFamily="34" charset="-122"/>
                <a:cs typeface="Aptos" pitchFamily="34" charset="-120"/>
              </a:rPr>
              <a:t>Does the code use existing columns?</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Does it handle missing values appropriately?</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Does the plot answer the question?</a:t>
            </a:r>
            <a:endParaRPr lang="en-US" sz="1600" dirty="0"/>
          </a:p>
          <a:p>
            <a:pPr marL="0" indent="0">
              <a:buNone/>
            </a:pPr>
            <a:r>
              <a:rPr lang="en-US" sz="1600" dirty="0">
                <a:solidFill>
                  <a:srgbClr val="101820"/>
                </a:solidFill>
                <a:latin typeface="Aptos" pitchFamily="34" charset="0"/>
                <a:ea typeface="Aptos" pitchFamily="34" charset="-122"/>
                <a:cs typeface="Aptos" pitchFamily="34" charset="-120"/>
              </a:rPr>
              <a:t>  Is the visual readable?</a:t>
            </a:r>
            <a:endParaRPr lang="en-US" sz="1600" dirty="0"/>
          </a:p>
        </p:txBody>
      </p:sp>
      <p:sp>
        <p:nvSpPr>
          <p:cNvPr id="10" name="Text 7"/>
          <p:cNvSpPr/>
          <p:nvPr/>
        </p:nvSpPr>
        <p:spPr>
          <a:xfrm>
            <a:off x="2377440" y="4709160"/>
            <a:ext cx="7132320" cy="914400"/>
          </a:xfrm>
          <a:prstGeom prst="rect">
            <a:avLst/>
          </a:prstGeom>
          <a:solidFill>
            <a:srgbClr val="0B1020"/>
          </a:solidFill>
          <a:ln w="12700">
            <a:solidFill>
              <a:srgbClr val="202938"/>
            </a:solidFill>
          </a:ln>
        </p:spPr>
        <p:txBody>
          <a:bodyPr wrap="square" lIns="1524" tIns="1524" rIns="1524" bIns="1524" rtlCol="0" anchor="ctr">
            <a:normAutofit/>
          </a:bodyPr>
          <a:lstStyle/>
          <a:p>
            <a:pPr marL="0" indent="0">
              <a:buNone/>
            </a:pPr>
            <a:r>
              <a:rPr lang="en-US" sz="1400" dirty="0">
                <a:solidFill>
                  <a:srgbClr val="8292A2"/>
                </a:solidFill>
                <a:latin typeface="Consolas" pitchFamily="34" charset="0"/>
                <a:ea typeface="Consolas" pitchFamily="34" charset="-122"/>
                <a:cs typeface="Consolas" pitchFamily="34" charset="-120"/>
              </a:rPr>
              <a:t>1 </a:t>
            </a:r>
            <a:r>
              <a:rPr lang="en-US" sz="1400" dirty="0">
                <a:solidFill>
                  <a:srgbClr val="FFFFFF"/>
                </a:solidFill>
                <a:latin typeface="Consolas" pitchFamily="34" charset="0"/>
                <a:ea typeface="Consolas" pitchFamily="34" charset="-122"/>
                <a:cs typeface="Consolas" pitchFamily="34" charset="-120"/>
              </a:rPr>
              <a:t>names</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health</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2 </a:t>
            </a:r>
            <a:r>
              <a:rPr lang="en-US" sz="1400" dirty="0">
                <a:solidFill>
                  <a:srgbClr val="FFFFFF"/>
                </a:solidFill>
                <a:latin typeface="Consolas" pitchFamily="34" charset="0"/>
                <a:ea typeface="Consolas" pitchFamily="34" charset="-122"/>
                <a:cs typeface="Consolas" pitchFamily="34" charset="-120"/>
              </a:rPr>
              <a:t>summary</a:t>
            </a:r>
            <a:r>
              <a:rPr lang="en-US" sz="1400" dirty="0">
                <a:solidFill>
                  <a:srgbClr val="F8F8F2"/>
                </a:solidFill>
                <a:latin typeface="Consolas" pitchFamily="34" charset="0"/>
                <a:ea typeface="Consolas" pitchFamily="34" charset="-122"/>
                <a:cs typeface="Consolas" pitchFamily="34" charset="-120"/>
              </a:rPr>
              <a:t>(</a:t>
            </a:r>
            <a:r>
              <a:rPr lang="en-US" sz="1400" dirty="0" err="1">
                <a:solidFill>
                  <a:srgbClr val="FFFFFF"/>
                </a:solidFill>
                <a:latin typeface="Consolas" pitchFamily="34" charset="0"/>
                <a:ea typeface="Consolas" pitchFamily="34" charset="-122"/>
                <a:cs typeface="Consolas" pitchFamily="34" charset="-120"/>
              </a:rPr>
              <a:t>health</a:t>
            </a:r>
            <a:r>
              <a:rPr lang="en-US" sz="1400" dirty="0" err="1">
                <a:solidFill>
                  <a:srgbClr val="F8F8F2"/>
                </a:solidFill>
                <a:latin typeface="Consolas" pitchFamily="34" charset="0"/>
                <a:ea typeface="Consolas" pitchFamily="34" charset="-122"/>
                <a:cs typeface="Consolas" pitchFamily="34" charset="-120"/>
              </a:rPr>
              <a:t>$</a:t>
            </a:r>
            <a:r>
              <a:rPr lang="en-US" sz="1400" dirty="0" err="1">
                <a:solidFill>
                  <a:srgbClr val="FFFFFF"/>
                </a:solidFill>
                <a:latin typeface="Consolas" pitchFamily="34" charset="0"/>
                <a:ea typeface="Consolas" pitchFamily="34" charset="-122"/>
                <a:cs typeface="Consolas" pitchFamily="34" charset="-120"/>
              </a:rPr>
              <a:t>bmi</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3 </a:t>
            </a:r>
            <a:r>
              <a:rPr lang="en-US" sz="1400" dirty="0">
                <a:solidFill>
                  <a:srgbClr val="FFFFFF"/>
                </a:solidFill>
                <a:latin typeface="Consolas" pitchFamily="34" charset="0"/>
                <a:ea typeface="Consolas" pitchFamily="34" charset="-122"/>
                <a:cs typeface="Consolas" pitchFamily="34" charset="-120"/>
              </a:rPr>
              <a:t>count</a:t>
            </a:r>
            <a:r>
              <a:rPr lang="en-US" sz="1400" dirty="0">
                <a:solidFill>
                  <a:srgbClr val="F8F8F2"/>
                </a:solidFill>
                <a:latin typeface="Consolas" pitchFamily="34" charset="0"/>
                <a:ea typeface="Consolas" pitchFamily="34" charset="-122"/>
                <a:cs typeface="Consolas" pitchFamily="34" charset="-120"/>
              </a:rPr>
              <a:t>(</a:t>
            </a:r>
            <a:r>
              <a:rPr lang="en-US" sz="1400" dirty="0">
                <a:solidFill>
                  <a:srgbClr val="FFFFFF"/>
                </a:solidFill>
                <a:latin typeface="Consolas" pitchFamily="34" charset="0"/>
                <a:ea typeface="Consolas" pitchFamily="34" charset="-122"/>
                <a:cs typeface="Consolas" pitchFamily="34" charset="-120"/>
              </a:rPr>
              <a:t>health, </a:t>
            </a:r>
            <a:r>
              <a:rPr lang="en-US" sz="1400" dirty="0" err="1">
                <a:solidFill>
                  <a:srgbClr val="FFFFFF"/>
                </a:solidFill>
                <a:latin typeface="Consolas" pitchFamily="34" charset="0"/>
                <a:ea typeface="Consolas" pitchFamily="34" charset="-122"/>
                <a:cs typeface="Consolas" pitchFamily="34" charset="-120"/>
              </a:rPr>
              <a:t>smoking_status</a:t>
            </a:r>
            <a:r>
              <a:rPr lang="en-US" sz="1400" dirty="0">
                <a:solidFill>
                  <a:srgbClr val="FFFFFF"/>
                </a:solidFill>
                <a:latin typeface="Consolas" pitchFamily="34" charset="0"/>
                <a:ea typeface="Consolas" pitchFamily="34" charset="-122"/>
                <a:cs typeface="Consolas" pitchFamily="34" charset="-120"/>
              </a:rPr>
              <a:t>)
</a:t>
            </a:r>
            <a:r>
              <a:rPr lang="en-US" sz="1400" dirty="0">
                <a:solidFill>
                  <a:srgbClr val="8292A2"/>
                </a:solidFill>
                <a:latin typeface="Consolas" pitchFamily="34" charset="0"/>
                <a:ea typeface="Consolas" pitchFamily="34" charset="-122"/>
                <a:cs typeface="Consolas" pitchFamily="34" charset="-120"/>
              </a:rPr>
              <a:t>4 </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74C"/>
        </a:solidFill>
        <a:effectLst/>
      </p:bgPr>
    </p:bg>
    <p:spTree>
      <p:nvGrpSpPr>
        <p:cNvPr id="1" name="">
          <a:extLst>
            <a:ext uri="{FF2B5EF4-FFF2-40B4-BE49-F238E27FC236}">
              <a16:creationId xmlns:a16="http://schemas.microsoft.com/office/drawing/2014/main" id="{0105DC3F-75F7-DAF7-9466-1E77DF8F1CE5}"/>
            </a:ext>
          </a:extLst>
        </p:cNvPr>
        <p:cNvGrpSpPr/>
        <p:nvPr/>
      </p:nvGrpSpPr>
      <p:grpSpPr>
        <a:xfrm>
          <a:off x="0" y="0"/>
          <a:ext cx="0" cy="0"/>
          <a:chOff x="0" y="0"/>
          <a:chExt cx="0" cy="0"/>
        </a:xfrm>
      </p:grpSpPr>
      <p:pic>
        <p:nvPicPr>
          <p:cNvPr id="2" name="Image 0" descr="/mnt/data/pptx_extract/ppt/media/image2.png">
            <a:extLst>
              <a:ext uri="{FF2B5EF4-FFF2-40B4-BE49-F238E27FC236}">
                <a16:creationId xmlns:a16="http://schemas.microsoft.com/office/drawing/2014/main" id="{63DE3935-61DC-39EB-5D4B-02B37E3E0E71}"/>
              </a:ext>
            </a:extLst>
          </p:cNvPr>
          <p:cNvPicPr>
            <a:picLocks noChangeAspect="1"/>
          </p:cNvPicPr>
          <p:nvPr/>
        </p:nvPicPr>
        <p:blipFill>
          <a:blip r:embed="rId3"/>
          <a:stretch>
            <a:fillRect/>
          </a:stretch>
        </p:blipFill>
        <p:spPr>
          <a:xfrm>
            <a:off x="777240" y="502920"/>
            <a:ext cx="4389120" cy="914400"/>
          </a:xfrm>
          <a:prstGeom prst="rect">
            <a:avLst/>
          </a:prstGeom>
        </p:spPr>
      </p:pic>
      <p:sp>
        <p:nvSpPr>
          <p:cNvPr id="3" name="Text 0">
            <a:extLst>
              <a:ext uri="{FF2B5EF4-FFF2-40B4-BE49-F238E27FC236}">
                <a16:creationId xmlns:a16="http://schemas.microsoft.com/office/drawing/2014/main" id="{0E7D42FC-7B4A-9C66-B6F3-AD70D2AA3703}"/>
              </a:ext>
            </a:extLst>
          </p:cNvPr>
          <p:cNvSpPr/>
          <p:nvPr/>
        </p:nvSpPr>
        <p:spPr>
          <a:xfrm>
            <a:off x="658368" y="1874520"/>
            <a:ext cx="786384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Aptos Display" pitchFamily="34" charset="0"/>
                <a:ea typeface="Aptos Display" pitchFamily="34" charset="-122"/>
                <a:cs typeface="Aptos Display" pitchFamily="34" charset="-120"/>
              </a:rPr>
              <a:t>Introduction to R</a:t>
            </a:r>
            <a:endParaRPr kumimoji="0" lang="en-US" sz="36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1">
            <a:extLst>
              <a:ext uri="{FF2B5EF4-FFF2-40B4-BE49-F238E27FC236}">
                <a16:creationId xmlns:a16="http://schemas.microsoft.com/office/drawing/2014/main" id="{38664212-4AA3-8F11-A3B0-91CE6AF14EDF}"/>
              </a:ext>
            </a:extLst>
          </p:cNvPr>
          <p:cNvSpPr/>
          <p:nvPr/>
        </p:nvSpPr>
        <p:spPr>
          <a:xfrm>
            <a:off x="658368" y="3429000"/>
            <a:ext cx="768096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CB05"/>
                </a:solidFill>
                <a:effectLst/>
                <a:uLnTx/>
                <a:uFillTx/>
                <a:latin typeface="Aptos"/>
                <a:ea typeface="+mn-ea"/>
                <a:cs typeface="+mn-cs"/>
              </a:rPr>
              <a:t>That’s day 1!</a:t>
            </a:r>
            <a:endParaRPr kumimoji="0" lang="en-US" sz="2800" b="0" i="0" u="none" strike="noStrike" kern="1200" cap="none" spc="0" normalizeH="0" baseline="0" noProof="0" dirty="0">
              <a:ln>
                <a:noFill/>
              </a:ln>
              <a:solidFill>
                <a:prstClr val="black"/>
              </a:solidFill>
              <a:effectLst/>
              <a:uLnTx/>
              <a:uFillTx/>
              <a:latin typeface="Aptos"/>
              <a:ea typeface="+mn-ea"/>
              <a:cs typeface="+mn-cs"/>
            </a:endParaRPr>
          </a:p>
        </p:txBody>
      </p:sp>
      <p:sp>
        <p:nvSpPr>
          <p:cNvPr id="8" name="Text 5">
            <a:extLst>
              <a:ext uri="{FF2B5EF4-FFF2-40B4-BE49-F238E27FC236}">
                <a16:creationId xmlns:a16="http://schemas.microsoft.com/office/drawing/2014/main" id="{2E797A01-9F9C-D822-7E92-217C84EC67F4}"/>
              </a:ext>
            </a:extLst>
          </p:cNvPr>
          <p:cNvSpPr/>
          <p:nvPr/>
        </p:nvSpPr>
        <p:spPr>
          <a:xfrm>
            <a:off x="9281160" y="1188720"/>
            <a:ext cx="137160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1200" cap="none" spc="0" normalizeH="0" baseline="0" noProof="0" dirty="0">
                <a:ln>
                  <a:noFill/>
                </a:ln>
                <a:solidFill>
                  <a:srgbClr val="FFCB05"/>
                </a:solidFill>
                <a:effectLst/>
                <a:uLnTx/>
                <a:uFillTx/>
                <a:latin typeface="Aptos"/>
                <a:ea typeface="+mn-ea"/>
                <a:cs typeface="+mn-cs"/>
              </a:rPr>
              <a:t>R</a:t>
            </a:r>
            <a:endParaRPr kumimoji="0" lang="en-US" sz="5600" b="0" i="0" u="none" strike="noStrike" kern="1200" cap="none" spc="0" normalizeH="0" baseline="0" noProof="0" dirty="0">
              <a:ln>
                <a:noFill/>
              </a:ln>
              <a:solidFill>
                <a:prstClr val="black"/>
              </a:solidFill>
              <a:effectLst/>
              <a:uLnTx/>
              <a:uFillTx/>
              <a:latin typeface="Aptos"/>
              <a:ea typeface="+mn-ea"/>
              <a:cs typeface="+mn-cs"/>
            </a:endParaRPr>
          </a:p>
        </p:txBody>
      </p:sp>
      <p:sp>
        <p:nvSpPr>
          <p:cNvPr id="11" name="Shape 8">
            <a:extLst>
              <a:ext uri="{FF2B5EF4-FFF2-40B4-BE49-F238E27FC236}">
                <a16:creationId xmlns:a16="http://schemas.microsoft.com/office/drawing/2014/main" id="{6FC46CDC-B65C-E14E-9C52-E6F3E4FA0BE6}"/>
              </a:ext>
            </a:extLst>
          </p:cNvPr>
          <p:cNvSpPr/>
          <p:nvPr/>
        </p:nvSpPr>
        <p:spPr>
          <a:xfrm>
            <a:off x="8686800" y="868680"/>
            <a:ext cx="2926080" cy="4023360"/>
          </a:xfrm>
          <a:prstGeom prst="arc">
            <a:avLst/>
          </a:prstGeom>
          <a:noFill/>
          <a:ln w="50800">
            <a:solidFill>
              <a:srgbClr val="335C81">
                <a:alpha val="7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a:ea typeface="+mn-ea"/>
              <a:cs typeface="+mn-cs"/>
            </a:endParaRPr>
          </a:p>
        </p:txBody>
      </p:sp>
      <p:sp>
        <p:nvSpPr>
          <p:cNvPr id="12" name="Text 9">
            <a:extLst>
              <a:ext uri="{FF2B5EF4-FFF2-40B4-BE49-F238E27FC236}">
                <a16:creationId xmlns:a16="http://schemas.microsoft.com/office/drawing/2014/main" id="{65972FCE-3740-76DC-DFB9-EE34ACC76974}"/>
              </a:ext>
            </a:extLst>
          </p:cNvPr>
          <p:cNvSpPr/>
          <p:nvPr/>
        </p:nvSpPr>
        <p:spPr>
          <a:xfrm>
            <a:off x="731520" y="6080760"/>
            <a:ext cx="38404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DE7F0"/>
                </a:solidFill>
                <a:effectLst/>
                <a:uLnTx/>
                <a:uFillTx/>
                <a:latin typeface="Aptos"/>
                <a:ea typeface="+mn-ea"/>
                <a:cs typeface="+mn-cs"/>
              </a:rPr>
              <a:t>Mike Kleinsasser</a:t>
            </a:r>
            <a:endParaRPr kumimoji="0" lang="en-US" sz="11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3706867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TotalTime>
  <Words>2417</Words>
  <Application>Microsoft Macintosh PowerPoint</Application>
  <PresentationFormat>Widescreen</PresentationFormat>
  <Paragraphs>214</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UM-Biostat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Biostatistics Introduction to R Bootcamp 2026 - Project Integrated</dc:title>
  <dc:subject>Introduction to R Bootcamp 2026 with AI and Posit Cloud Project</dc:subject>
  <dc:creator>University of Michigan Biostatistics</dc:creator>
  <cp:lastModifiedBy>Kleinsasser, Mike</cp:lastModifiedBy>
  <cp:revision>77</cp:revision>
  <dcterms:created xsi:type="dcterms:W3CDTF">2026-08-18T17:48:07Z</dcterms:created>
  <dcterms:modified xsi:type="dcterms:W3CDTF">2026-08-21T19:44:30Z</dcterms:modified>
</cp:coreProperties>
</file>